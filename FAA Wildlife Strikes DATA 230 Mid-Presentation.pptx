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(about 10 min total): cover 0:15, dataset 1:00, why 0:30, cleaning 1:30, EDA 6 x 0:35 = 3:30, conclusions 0:30, dashboard 1:00, ML 0:45, thank you 0:15. Read the main question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size, features. Say it in your own words. Dashboard uses all 356,920 cleaned reports (6.24% damaging); the modeling set keeps only the 230,828 strikes whose damage was assessed (9.6% damaging).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Rubric: large, messy, multi-feature, requires cleaning, well justified.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rationale, not code. Train before 2022 (170,857 rows), test 2022 onward (59,971 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Challenge to stress: the label itself. 126,157 strikes were labeled no damage with no assessment.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Challenge: the model could learn that missing aircraft details mean no damage. Fixing the label removed most of that shortcut.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Reporting drift is why we use a time-based split.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Frequency is not danger. Approach has the most damaging strikes in total (7,683). Unknown phase (40%) excluded from chart.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Common is not dangerous. Risk tiers help wildlife managers prioritize.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Hit often is not the same as damaged often: lights are damaged 64% of the time but are only 1% of hits. Struck flags say where the bird hit, not whether damage resulted; damaged flags are dropped as leakage.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Altitude profile with speed by band.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Strongest single driver. Supports Cramers V ranking in the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Rubric: GPU EDA (RAPIDS cuDF) explained when appropriate. Confirm exactly what was run on GPU before presenting, and do not quote speedup numbers unless verified.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Justify each choice with an EDA slide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Tableau dashboard here. One member presents, about 1 minute. Interpret the findings; do not explain software operations.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minutes of Q&amp;A. Be ready on: why classification, why a time-based split, the 6.24% vs 9.6% damage rate, why unassessed rows were removed, and what the dashboard shows.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2E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069330"/>
            <a:ext cx="10566400" cy="384175"/>
          </a:xfrm>
          <a:prstGeom prst="rect">
            <a:avLst/>
          </a:prstGeom>
          <a:noFill/>
          <a:ln/>
        </p:spPr>
        <p:txBody>
          <a:bodyPr wrap="square" lIns="0" tIns="0" rIns="0" bIns="0" rtlCol="0" anchor="t"/>
          <a:lstStyle>
            <a:lvl1pPr algn="l" indent="0" marL="0">
              <a:lnSpc>
                <a:spcPct val="115000"/>
              </a:lnSpc>
              <a:buNone/>
              <a:defRPr lang="en-US" sz="2647" dirty="0">
                <a:solidFill>
                  <a:srgbClr val="0F1B33"/>
                </a:solidFill>
                <a:latin typeface="Source Serif 4" pitchFamily="34" charset="0"/>
                <a:ea typeface="Source Serif 4" pitchFamily="34" charset="-122"/>
                <a:cs typeface="Source Serif 4" pitchFamily="34" charset="-120"/>
              </a:defRPr>
            </a:lvl1pPr>
          </a:lstStyle>
          <a:p>
            <a:pPr algn="l" indent="0" marL="0">
              <a:lnSpc>
                <a:spcPct val="115000"/>
              </a:lnSpc>
              <a:buNone/>
            </a:pPr>
            <a:endParaRPr lang="en-US" sz="2647" dirty="0"/>
          </a:p>
        </p:txBody>
      </p:sp>
      <p:sp>
        <p:nvSpPr>
          <p:cNvPr id="3" name="Text Placeholder 2"/>
          <p:cNvSpPr/>
          <p:nvPr>
            <p:ph idx="101" type="body"/>
          </p:nvPr>
        </p:nvSpPr>
        <p:spPr>
          <a:xfrm>
            <a:off x="812800" y="1758305"/>
            <a:ext cx="10566400" cy="4286895"/>
          </a:xfrm>
          <a:prstGeom prst="rect">
            <a:avLst/>
          </a:prstGeom>
          <a:noFill/>
          <a:ln/>
        </p:spPr>
        <p:txBody>
          <a:bodyPr wrap="square" lIns="0" tIns="0" rIns="0" bIns="0" rtlCol="0" anchor="t"/>
          <a:lstStyle>
            <a:lvl1pPr algn="l" indent="0" marL="0">
              <a:lnSpc>
                <a:spcPct val="140000"/>
              </a:lnSpc>
              <a:buNone/>
              <a:defRPr lang="en-US" sz="1600" dirty="0">
                <a:solidFill>
                  <a:srgbClr val="0F1B33"/>
                </a:solidFill>
                <a:latin typeface="Helvetica Neue" pitchFamily="34" charset="0"/>
                <a:ea typeface="Helvetica Neue" pitchFamily="34" charset="-122"/>
                <a:cs typeface="Helvetica Neue"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2E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069330"/>
            <a:ext cx="10566400" cy="384175"/>
          </a:xfrm>
          <a:prstGeom prst="rect">
            <a:avLst/>
          </a:prstGeom>
          <a:noFill/>
          <a:ln/>
        </p:spPr>
        <p:txBody>
          <a:bodyPr wrap="square" lIns="0" tIns="0" rIns="0" bIns="0" rtlCol="0" anchor="t"/>
          <a:lstStyle>
            <a:lvl1pPr algn="l" indent="0" marL="0">
              <a:lnSpc>
                <a:spcPct val="115000"/>
              </a:lnSpc>
              <a:buNone/>
              <a:defRPr lang="en-US" sz="2647" dirty="0">
                <a:solidFill>
                  <a:srgbClr val="0F1B33"/>
                </a:solidFill>
                <a:latin typeface="Source Serif 4" pitchFamily="34" charset="0"/>
                <a:ea typeface="Source Serif 4" pitchFamily="34" charset="-122"/>
                <a:cs typeface="Source Serif 4" pitchFamily="34" charset="-120"/>
              </a:defRPr>
            </a:lvl1pPr>
          </a:lstStyle>
          <a:p>
            <a:pPr algn="l" indent="0" marL="0">
              <a:lnSpc>
                <a:spcPct val="115000"/>
              </a:lnSpc>
              <a:buNone/>
            </a:pPr>
            <a:endParaRPr lang="en-US" sz="2647" dirty="0"/>
          </a:p>
        </p:txBody>
      </p:sp>
      <p:sp>
        <p:nvSpPr>
          <p:cNvPr id="3" name="Text Placeholder 2"/>
          <p:cNvSpPr/>
          <p:nvPr>
            <p:ph idx="101" type="body"/>
          </p:nvPr>
        </p:nvSpPr>
        <p:spPr>
          <a:xfrm>
            <a:off x="812800" y="1758305"/>
            <a:ext cx="10566400" cy="4286895"/>
          </a:xfrm>
          <a:prstGeom prst="rect">
            <a:avLst/>
          </a:prstGeom>
          <a:noFill/>
          <a:ln/>
        </p:spPr>
        <p:txBody>
          <a:bodyPr wrap="square" lIns="0" tIns="0" rIns="0" bIns="0" rtlCol="0" anchor="t"/>
          <a:lstStyle>
            <a:lvl1pPr algn="l" indent="0" marL="0">
              <a:lnSpc>
                <a:spcPct val="140000"/>
              </a:lnSpc>
              <a:buNone/>
              <a:defRPr lang="en-US" sz="1600" dirty="0">
                <a:solidFill>
                  <a:srgbClr val="0F1B33"/>
                </a:solidFill>
                <a:latin typeface="Helvetica Neue" pitchFamily="34" charset="0"/>
                <a:ea typeface="Helvetica Neue" pitchFamily="34" charset="-122"/>
                <a:cs typeface="Helvetica Neue"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33"/>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E8892B"/>
                </a:solidFill>
                <a:latin typeface="Helvetica Neue" pitchFamily="34" charset="0"/>
                <a:ea typeface="Helvetica Neue" pitchFamily="34" charset="-122"/>
                <a:cs typeface="Helvetica Neue" pitchFamily="34" charset="-120"/>
              </a:rPr>
              <a:t>DATA 230 · GROUP PROJECT · MID-PRESENTATION</a:t>
            </a:r>
            <a:endParaRPr lang="en-US" sz="1300" dirty="0"/>
          </a:p>
        </p:txBody>
      </p:sp>
      <p:sp>
        <p:nvSpPr>
          <p:cNvPr id="3" name="Text 1"/>
          <p:cNvSpPr/>
          <p:nvPr>
            <p:ph type="title"/>
          </p:nvPr>
        </p:nvSpPr>
        <p:spPr>
          <a:xfrm>
            <a:off x="812800" y="1272530"/>
            <a:ext cx="10883392" cy="1412180"/>
          </a:xfrm>
          <a:prstGeom prst="rect">
            <a:avLst/>
          </a:prstGeom>
          <a:noFill/>
          <a:ln/>
        </p:spPr>
        <p:txBody>
          <a:bodyPr wrap="square" lIns="0" tIns="0" rIns="0" bIns="0" rtlCol="0" anchor="t">
            <a:normAutofit/>
          </a:bodyPr>
          <a:lstStyle/>
          <a:p>
            <a:pPr algn="l" indent="0" marL="0">
              <a:lnSpc>
                <a:spcPts val="5460"/>
              </a:lnSpc>
              <a:buNone/>
            </a:pPr>
            <a:r>
              <a:rPr lang="en-US" sz="5200" b="1" i="0" dirty="0">
                <a:solidFill>
                  <a:srgbClr val="F5F2EA"/>
                </a:solidFill>
                <a:latin typeface="Source Serif 4" pitchFamily="18" charset="0"/>
                <a:ea typeface="Source Serif 4" pitchFamily="18" charset="-122"/>
                <a:cs typeface="Source Serif 4" pitchFamily="18" charset="-120"/>
              </a:rPr>
              <a:t>What makes a wildlife strike damaging?</a:t>
            </a:r>
            <a:endParaRPr lang="en-US" sz="5200" dirty="0"/>
          </a:p>
        </p:txBody>
      </p:sp>
      <p:sp>
        <p:nvSpPr>
          <p:cNvPr id="4" name="Text 2"/>
          <p:cNvSpPr/>
          <p:nvPr/>
        </p:nvSpPr>
        <p:spPr>
          <a:xfrm>
            <a:off x="812800" y="2887911"/>
            <a:ext cx="10883392" cy="676870"/>
          </a:xfrm>
          <a:prstGeom prst="rect">
            <a:avLst/>
          </a:prstGeom>
          <a:noFill/>
          <a:ln/>
        </p:spPr>
        <p:txBody>
          <a:bodyPr wrap="square" lIns="0" tIns="0" rIns="0" bIns="0" rtlCol="0" anchor="t">
            <a:normAutofit/>
          </a:bodyPr>
          <a:lstStyle/>
          <a:p>
            <a:pPr algn="l" indent="0" marL="0">
              <a:lnSpc>
                <a:spcPts val="2565"/>
              </a:lnSpc>
              <a:buNone/>
            </a:pPr>
            <a:r>
              <a:rPr lang="en-US" sz="1900" dirty="0">
                <a:solidFill>
                  <a:srgbClr val="C3CDE0"/>
                </a:solidFill>
                <a:latin typeface="Helvetica Neue" pitchFamily="34" charset="0"/>
                <a:ea typeface="Helvetica Neue" pitchFamily="34" charset="-122"/>
                <a:cs typeface="Helvetica Neue" pitchFamily="34" charset="-120"/>
              </a:rPr>
              <a:t>When, where, and with which animals is the risk highest? FAA Wildlife Strike Database, 1990 to 2026</a:t>
            </a:r>
            <a:endParaRPr lang="en-US" sz="1900" dirty="0"/>
          </a:p>
        </p:txBody>
      </p:sp>
      <p:sp>
        <p:nvSpPr>
          <p:cNvPr id="5" name="Text 3"/>
          <p:cNvSpPr/>
          <p:nvPr/>
        </p:nvSpPr>
        <p:spPr>
          <a:xfrm>
            <a:off x="812800" y="3767981"/>
            <a:ext cx="10883392"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2A66B"/>
                </a:solidFill>
                <a:latin typeface="Helvetica Neue" pitchFamily="34" charset="0"/>
                <a:ea typeface="Helvetica Neue" pitchFamily="34" charset="-122"/>
                <a:cs typeface="Helvetica Neue" pitchFamily="34" charset="-120"/>
              </a:rPr>
              <a:t>Sneha · Shaili · Sanjana · Shubhi</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B33"/>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E8892B"/>
                </a:solidFill>
                <a:latin typeface="Helvetica Neue" pitchFamily="34" charset="0"/>
                <a:ea typeface="Helvetica Neue" pitchFamily="34" charset="-122"/>
                <a:cs typeface="Helvetica Neue" pitchFamily="34" charset="-120"/>
              </a:rPr>
              <a:t>1 · DATASET</a:t>
            </a:r>
            <a:endParaRPr lang="en-US" sz="1300" dirty="0"/>
          </a:p>
        </p:txBody>
      </p:sp>
      <p:sp>
        <p:nvSpPr>
          <p:cNvPr id="3" name="Text 1"/>
          <p:cNvSpPr/>
          <p:nvPr>
            <p:ph type="title"/>
          </p:nvPr>
        </p:nvSpPr>
        <p:spPr>
          <a:xfrm>
            <a:off x="812800" y="127253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F5F2EA"/>
                </a:solidFill>
                <a:latin typeface="Source Serif 4" pitchFamily="18" charset="0"/>
                <a:ea typeface="Source Serif 4" pitchFamily="18" charset="-122"/>
                <a:cs typeface="Source Serif 4" pitchFamily="18" charset="-120"/>
              </a:rPr>
              <a:t>A public FAA database of voluntary strike reports</a:t>
            </a:r>
            <a:endParaRPr lang="en-US" sz="3000" dirty="0"/>
          </a:p>
        </p:txBody>
      </p:sp>
      <p:sp>
        <p:nvSpPr>
          <p:cNvPr id="4" name="Shape 2"/>
          <p:cNvSpPr/>
          <p:nvPr/>
        </p:nvSpPr>
        <p:spPr>
          <a:xfrm>
            <a:off x="812800" y="1932930"/>
            <a:ext cx="3352800" cy="0"/>
          </a:xfrm>
          <a:prstGeom prst="line">
            <a:avLst/>
          </a:prstGeom>
          <a:noFill/>
          <a:ln w="25400">
            <a:solidFill>
              <a:srgbClr val="E8892B"/>
            </a:solidFill>
            <a:prstDash val="solid"/>
          </a:ln>
        </p:spPr>
      </p:sp>
      <p:sp>
        <p:nvSpPr>
          <p:cNvPr id="5" name="Text 3"/>
          <p:cNvSpPr/>
          <p:nvPr/>
        </p:nvSpPr>
        <p:spPr>
          <a:xfrm>
            <a:off x="812800" y="2072630"/>
            <a:ext cx="3453384"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F5F2EA"/>
                </a:solidFill>
                <a:latin typeface="Source Serif 4" pitchFamily="18" charset="0"/>
                <a:ea typeface="Source Serif 4" pitchFamily="18" charset="-122"/>
                <a:cs typeface="Source Serif 4" pitchFamily="18" charset="-120"/>
              </a:rPr>
              <a:t>356,972</a:t>
            </a:r>
            <a:endParaRPr lang="en-US" sz="4800" dirty="0"/>
          </a:p>
        </p:txBody>
      </p:sp>
      <p:sp>
        <p:nvSpPr>
          <p:cNvPr id="6" name="Text 4"/>
          <p:cNvSpPr/>
          <p:nvPr/>
        </p:nvSpPr>
        <p:spPr>
          <a:xfrm>
            <a:off x="812800" y="2720330"/>
            <a:ext cx="345338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3CDE0"/>
                </a:solidFill>
                <a:latin typeface="Helvetica Neue" pitchFamily="34" charset="0"/>
                <a:ea typeface="Helvetica Neue" pitchFamily="34" charset="-122"/>
                <a:cs typeface="Helvetica Neue" pitchFamily="34" charset="-120"/>
              </a:rPr>
              <a:t>strike reports, 1990 to mid-2026</a:t>
            </a:r>
            <a:endParaRPr lang="en-US" sz="1400" dirty="0"/>
          </a:p>
        </p:txBody>
      </p:sp>
      <p:sp>
        <p:nvSpPr>
          <p:cNvPr id="7" name="Shape 5"/>
          <p:cNvSpPr/>
          <p:nvPr/>
        </p:nvSpPr>
        <p:spPr>
          <a:xfrm>
            <a:off x="4419600" y="1932930"/>
            <a:ext cx="3352800" cy="0"/>
          </a:xfrm>
          <a:prstGeom prst="line">
            <a:avLst/>
          </a:prstGeom>
          <a:noFill/>
          <a:ln w="25400">
            <a:solidFill>
              <a:srgbClr val="E8892B"/>
            </a:solidFill>
            <a:prstDash val="solid"/>
          </a:ln>
        </p:spPr>
      </p:sp>
      <p:sp>
        <p:nvSpPr>
          <p:cNvPr id="8" name="Text 6"/>
          <p:cNvSpPr/>
          <p:nvPr/>
        </p:nvSpPr>
        <p:spPr>
          <a:xfrm>
            <a:off x="4419600" y="2072630"/>
            <a:ext cx="3453384"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F5F2EA"/>
                </a:solidFill>
                <a:latin typeface="Source Serif 4" pitchFamily="18" charset="0"/>
                <a:ea typeface="Source Serif 4" pitchFamily="18" charset="-122"/>
                <a:cs typeface="Source Serif 4" pitchFamily="18" charset="-120"/>
              </a:rPr>
              <a:t>103</a:t>
            </a:r>
            <a:endParaRPr lang="en-US" sz="4800" dirty="0"/>
          </a:p>
        </p:txBody>
      </p:sp>
      <p:sp>
        <p:nvSpPr>
          <p:cNvPr id="9" name="Text 7"/>
          <p:cNvSpPr/>
          <p:nvPr/>
        </p:nvSpPr>
        <p:spPr>
          <a:xfrm>
            <a:off x="4419600" y="2720330"/>
            <a:ext cx="345338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3CDE0"/>
                </a:solidFill>
                <a:latin typeface="Helvetica Neue" pitchFamily="34" charset="0"/>
                <a:ea typeface="Helvetica Neue" pitchFamily="34" charset="-122"/>
                <a:cs typeface="Helvetica Neue" pitchFamily="34" charset="-120"/>
              </a:rPr>
              <a:t>raw columns</a:t>
            </a:r>
            <a:endParaRPr lang="en-US" sz="1400" dirty="0"/>
          </a:p>
        </p:txBody>
      </p:sp>
      <p:sp>
        <p:nvSpPr>
          <p:cNvPr id="10" name="Shape 8"/>
          <p:cNvSpPr/>
          <p:nvPr/>
        </p:nvSpPr>
        <p:spPr>
          <a:xfrm>
            <a:off x="8026400" y="1932930"/>
            <a:ext cx="3352800" cy="0"/>
          </a:xfrm>
          <a:prstGeom prst="line">
            <a:avLst/>
          </a:prstGeom>
          <a:noFill/>
          <a:ln w="25400">
            <a:solidFill>
              <a:srgbClr val="E8892B"/>
            </a:solidFill>
            <a:prstDash val="solid"/>
          </a:ln>
        </p:spPr>
      </p:sp>
      <p:sp>
        <p:nvSpPr>
          <p:cNvPr id="11" name="Text 9"/>
          <p:cNvSpPr/>
          <p:nvPr/>
        </p:nvSpPr>
        <p:spPr>
          <a:xfrm>
            <a:off x="8026400" y="2072630"/>
            <a:ext cx="3453384"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F5F2EA"/>
                </a:solidFill>
                <a:latin typeface="Source Serif 4" pitchFamily="18" charset="0"/>
                <a:ea typeface="Source Serif 4" pitchFamily="18" charset="-122"/>
                <a:cs typeface="Source Serif 4" pitchFamily="18" charset="-120"/>
              </a:rPr>
              <a:t>6.24%</a:t>
            </a:r>
            <a:endParaRPr lang="en-US" sz="4800" dirty="0"/>
          </a:p>
        </p:txBody>
      </p:sp>
      <p:sp>
        <p:nvSpPr>
          <p:cNvPr id="12" name="Text 10"/>
          <p:cNvSpPr/>
          <p:nvPr/>
        </p:nvSpPr>
        <p:spPr>
          <a:xfrm>
            <a:off x="8026400" y="2720330"/>
            <a:ext cx="345338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3CDE0"/>
                </a:solidFill>
                <a:latin typeface="Helvetica Neue" pitchFamily="34" charset="0"/>
                <a:ea typeface="Helvetica Neue" pitchFamily="34" charset="-122"/>
                <a:cs typeface="Helvetica Neue" pitchFamily="34" charset="-120"/>
              </a:rPr>
              <a:t>of reports are damaging</a:t>
            </a:r>
            <a:endParaRPr lang="en-US" sz="1400" dirty="0"/>
          </a:p>
        </p:txBody>
      </p:sp>
      <p:sp>
        <p:nvSpPr>
          <p:cNvPr id="13" name="Text 11"/>
          <p:cNvSpPr/>
          <p:nvPr/>
        </p:nvSpPr>
        <p:spPr>
          <a:xfrm>
            <a:off x="812800" y="3197820"/>
            <a:ext cx="1088339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C3CDE0"/>
                </a:solidFill>
                <a:latin typeface="Helvetica Neue" pitchFamily="34" charset="0"/>
                <a:ea typeface="Helvetica Neue" pitchFamily="34" charset="-122"/>
                <a:cs typeface="Helvetica Neue" pitchFamily="34" charset="-120"/>
              </a:rPr>
              <a:t>Source: wildlife.faa.gov, reported by pilots, airports, tower staff and operators. Features: date and time, airport and state, aircraft and engine, flight phase, height, speed, species, animal size, parts struck and damaged, repair costs.</a:t>
            </a:r>
            <a:endParaRPr lang="en-US" sz="1500" dirty="0"/>
          </a:p>
        </p:txBody>
      </p:sp>
      <p:sp>
        <p:nvSpPr>
          <p:cNvPr id="14" name="Text 1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0C8"/>
                </a:solidFill>
                <a:latin typeface="Helvetica Neue" pitchFamily="34" charset="0"/>
                <a:ea typeface="Helvetica Neue" pitchFamily="34" charset="-122"/>
                <a:cs typeface="Helvetica Neue" pitchFamily="34" charset="-120"/>
              </a:rPr>
              <a:t>Source: FAA National Wildlife Strike Database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2EA"/>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E8892B"/>
                </a:solidFill>
                <a:latin typeface="Helvetica Neue" pitchFamily="34" charset="0"/>
                <a:ea typeface="Helvetica Neue" pitchFamily="34" charset="-122"/>
                <a:cs typeface="Helvetica Neue" pitchFamily="34" charset="-120"/>
              </a:rPr>
              <a:t>1 · WHY THIS DATASET</a:t>
            </a:r>
            <a:endParaRPr lang="en-US" sz="1300" dirty="0"/>
          </a:p>
        </p:txBody>
      </p:sp>
      <p:sp>
        <p:nvSpPr>
          <p:cNvPr id="3" name="Text 1"/>
          <p:cNvSpPr/>
          <p:nvPr>
            <p:ph type="title"/>
          </p:nvPr>
        </p:nvSpPr>
        <p:spPr>
          <a:xfrm>
            <a:off x="812800" y="1272530"/>
            <a:ext cx="10883392" cy="8636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0F1B33"/>
                </a:solidFill>
                <a:latin typeface="Source Serif 4" pitchFamily="18" charset="0"/>
                <a:ea typeface="Source Serif 4" pitchFamily="18" charset="-122"/>
                <a:cs typeface="Source Serif 4" pitchFamily="18" charset="-120"/>
              </a:rPr>
              <a:t>A real safety question, and complex enough to need real work</a:t>
            </a:r>
            <a:endParaRPr lang="en-US" sz="3000" dirty="0"/>
          </a:p>
        </p:txBody>
      </p:sp>
      <p:sp>
        <p:nvSpPr>
          <p:cNvPr id="4" name="Shape 2"/>
          <p:cNvSpPr/>
          <p:nvPr/>
        </p:nvSpPr>
        <p:spPr>
          <a:xfrm>
            <a:off x="815975" y="2342505"/>
            <a:ext cx="3414167" cy="1758851"/>
          </a:xfrm>
          <a:prstGeom prst="roundRect">
            <a:avLst>
              <a:gd name="adj" fmla="val 5596"/>
            </a:avLst>
          </a:prstGeom>
          <a:solidFill>
            <a:srgbClr val="FFFFFF"/>
          </a:solidFill>
          <a:ln w="6350">
            <a:solidFill>
              <a:srgbClr val="DCD6C8"/>
            </a:solidFill>
            <a:prstDash val="solid"/>
          </a:ln>
        </p:spPr>
      </p:sp>
      <p:sp>
        <p:nvSpPr>
          <p:cNvPr id="5" name="Text 3"/>
          <p:cNvSpPr/>
          <p:nvPr/>
        </p:nvSpPr>
        <p:spPr>
          <a:xfrm>
            <a:off x="1047750" y="2574280"/>
            <a:ext cx="3039135"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F7A8C"/>
                </a:solidFill>
                <a:latin typeface="Helvetica Neue" pitchFamily="34" charset="0"/>
                <a:ea typeface="Helvetica Neue" pitchFamily="34" charset="-122"/>
                <a:cs typeface="Helvetica Neue" pitchFamily="34" charset="-120"/>
              </a:rPr>
              <a:t>Relevant</a:t>
            </a:r>
            <a:endParaRPr lang="en-US" sz="1700" dirty="0"/>
          </a:p>
        </p:txBody>
      </p:sp>
      <p:sp>
        <p:nvSpPr>
          <p:cNvPr id="6" name="Text 4"/>
          <p:cNvSpPr/>
          <p:nvPr/>
        </p:nvSpPr>
        <p:spPr>
          <a:xfrm>
            <a:off x="1047750" y="2909540"/>
            <a:ext cx="3039135" cy="985441"/>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0F1B33"/>
                </a:solidFill>
                <a:latin typeface="Helvetica Neue" pitchFamily="34" charset="0"/>
                <a:ea typeface="Helvetica Neue" pitchFamily="34" charset="-122"/>
                <a:cs typeface="Helvetica Neue" pitchFamily="34" charset="-120"/>
              </a:rPr>
              <a:t>Clear outcome: did the strike damage the aircraft? Findings show airports where, when and for which species to focus wildlife control.</a:t>
            </a:r>
            <a:endParaRPr lang="en-US" sz="1400" dirty="0"/>
          </a:p>
        </p:txBody>
      </p:sp>
      <p:sp>
        <p:nvSpPr>
          <p:cNvPr id="7" name="Shape 5"/>
          <p:cNvSpPr/>
          <p:nvPr/>
        </p:nvSpPr>
        <p:spPr>
          <a:xfrm>
            <a:off x="4388892" y="2342505"/>
            <a:ext cx="3414216" cy="1758851"/>
          </a:xfrm>
          <a:prstGeom prst="roundRect">
            <a:avLst>
              <a:gd name="adj" fmla="val 5596"/>
            </a:avLst>
          </a:prstGeom>
          <a:solidFill>
            <a:srgbClr val="FFFFFF"/>
          </a:solidFill>
          <a:ln w="6350">
            <a:solidFill>
              <a:srgbClr val="DCD6C8"/>
            </a:solidFill>
            <a:prstDash val="solid"/>
          </a:ln>
        </p:spPr>
      </p:sp>
      <p:sp>
        <p:nvSpPr>
          <p:cNvPr id="8" name="Text 6"/>
          <p:cNvSpPr/>
          <p:nvPr/>
        </p:nvSpPr>
        <p:spPr>
          <a:xfrm>
            <a:off x="4620667" y="2574280"/>
            <a:ext cx="3039186"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F7A8C"/>
                </a:solidFill>
                <a:latin typeface="Helvetica Neue" pitchFamily="34" charset="0"/>
                <a:ea typeface="Helvetica Neue" pitchFamily="34" charset="-122"/>
                <a:cs typeface="Helvetica Neue" pitchFamily="34" charset="-120"/>
              </a:rPr>
              <a:t>Messy</a:t>
            </a:r>
            <a:endParaRPr lang="en-US" sz="1700" dirty="0"/>
          </a:p>
        </p:txBody>
      </p:sp>
      <p:sp>
        <p:nvSpPr>
          <p:cNvPr id="9" name="Text 7"/>
          <p:cNvSpPr/>
          <p:nvPr/>
        </p:nvSpPr>
        <p:spPr>
          <a:xfrm>
            <a:off x="4620667" y="2909540"/>
            <a:ext cx="3039186" cy="985441"/>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0F1B33"/>
                </a:solidFill>
                <a:latin typeface="Helvetica Neue" pitchFamily="34" charset="0"/>
                <a:ea typeface="Helvetica Neue" pitchFamily="34" charset="-122"/>
                <a:cs typeface="Helvetica Neue" pitchFamily="34" charset="-120"/>
              </a:rPr>
              <a:t>605,691 hidden placeholder values such as UNKNOWN. 18 columns over 90% missing, 4 completely empty.</a:t>
            </a:r>
            <a:endParaRPr lang="en-US" sz="1400" dirty="0"/>
          </a:p>
        </p:txBody>
      </p:sp>
      <p:sp>
        <p:nvSpPr>
          <p:cNvPr id="10" name="Shape 8"/>
          <p:cNvSpPr/>
          <p:nvPr/>
        </p:nvSpPr>
        <p:spPr>
          <a:xfrm>
            <a:off x="7961858" y="2342505"/>
            <a:ext cx="3414167" cy="1758851"/>
          </a:xfrm>
          <a:prstGeom prst="roundRect">
            <a:avLst>
              <a:gd name="adj" fmla="val 5596"/>
            </a:avLst>
          </a:prstGeom>
          <a:solidFill>
            <a:srgbClr val="FFFFFF"/>
          </a:solidFill>
          <a:ln w="6350">
            <a:solidFill>
              <a:srgbClr val="DCD6C8"/>
            </a:solidFill>
            <a:prstDash val="solid"/>
          </a:ln>
        </p:spPr>
      </p:sp>
      <p:sp>
        <p:nvSpPr>
          <p:cNvPr id="11" name="Text 9"/>
          <p:cNvSpPr/>
          <p:nvPr/>
        </p:nvSpPr>
        <p:spPr>
          <a:xfrm>
            <a:off x="8193633" y="2574280"/>
            <a:ext cx="3039135"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F7A8C"/>
                </a:solidFill>
                <a:latin typeface="Helvetica Neue" pitchFamily="34" charset="0"/>
                <a:ea typeface="Helvetica Neue" pitchFamily="34" charset="-122"/>
                <a:cs typeface="Helvetica Neue" pitchFamily="34" charset="-120"/>
              </a:rPr>
              <a:t>Rich</a:t>
            </a:r>
            <a:endParaRPr lang="en-US" sz="1700" dirty="0"/>
          </a:p>
        </p:txBody>
      </p:sp>
      <p:sp>
        <p:nvSpPr>
          <p:cNvPr id="12" name="Text 10"/>
          <p:cNvSpPr/>
          <p:nvPr/>
        </p:nvSpPr>
        <p:spPr>
          <a:xfrm>
            <a:off x="8193633" y="2909540"/>
            <a:ext cx="3039135" cy="985441"/>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0F1B33"/>
                </a:solidFill>
                <a:latin typeface="Helvetica Neue" pitchFamily="34" charset="0"/>
                <a:ea typeface="Helvetica Neue" pitchFamily="34" charset="-122"/>
                <a:cs typeface="Helvetica Neue" pitchFamily="34" charset="-120"/>
              </a:rPr>
              <a:t>103 columns of categories, numbers, dates, flags and free text, over 36 years, with strong class imbalance and drift.</a:t>
            </a:r>
            <a:endParaRPr lang="en-US" sz="1400" dirty="0"/>
          </a:p>
        </p:txBody>
      </p:sp>
      <p:sp>
        <p:nvSpPr>
          <p:cNvPr id="13" name="Text 1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372"/>
                </a:solidFill>
                <a:latin typeface="Helvetica Neue" pitchFamily="34" charset="0"/>
                <a:ea typeface="Helvetica Neue" pitchFamily="34" charset="-122"/>
                <a:cs typeface="Helvetica Neue" pitchFamily="34" charset="-120"/>
              </a:rPr>
              <a:t>Dataset motivation</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2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1229"/>
          </a:xfrm>
          <a:prstGeom prst="rect">
            <a:avLst/>
          </a:prstGeom>
          <a:noFill/>
          <a:ln/>
        </p:spPr>
        <p:txBody>
          <a:bodyPr wrap="square" lIns="0" tIns="0" rIns="0" bIns="0" rtlCol="0" anchor="t">
            <a:normAutofit/>
          </a:bodyPr>
          <a:lstStyle/>
          <a:p>
            <a:pPr algn="l" indent="0" marL="0">
              <a:lnSpc>
                <a:spcPts val="1621"/>
              </a:lnSpc>
              <a:buNone/>
            </a:pPr>
            <a:r>
              <a:rPr lang="en-US" sz="1158" b="1" spc="100" kern="0" dirty="0">
                <a:solidFill>
                  <a:srgbClr val="E8892B"/>
                </a:solidFill>
                <a:latin typeface="Helvetica Neue" pitchFamily="34" charset="0"/>
                <a:ea typeface="Helvetica Neue" pitchFamily="34" charset="-122"/>
                <a:cs typeface="Helvetica Neue" pitchFamily="34" charset="-120"/>
              </a:rPr>
              <a:t>2 · DATA CLEANING</a:t>
            </a:r>
            <a:endParaRPr lang="en-US" sz="1158" dirty="0"/>
          </a:p>
        </p:txBody>
      </p:sp>
      <p:sp>
        <p:nvSpPr>
          <p:cNvPr id="3" name="Text 1"/>
          <p:cNvSpPr/>
          <p:nvPr>
            <p:ph type="title"/>
          </p:nvPr>
        </p:nvSpPr>
        <p:spPr>
          <a:xfrm>
            <a:off x="812800" y="1247229"/>
            <a:ext cx="11379200" cy="772120"/>
          </a:xfrm>
          <a:prstGeom prst="rect">
            <a:avLst/>
          </a:prstGeom>
          <a:noFill/>
          <a:ln/>
        </p:spPr>
        <p:txBody>
          <a:bodyPr wrap="square" lIns="0" tIns="0" rIns="0" bIns="0" rtlCol="0" anchor="t">
            <a:normAutofit/>
          </a:bodyPr>
          <a:lstStyle/>
          <a:p>
            <a:pPr algn="l" indent="0" marL="0">
              <a:lnSpc>
                <a:spcPts val="3073"/>
              </a:lnSpc>
              <a:buNone/>
            </a:pPr>
            <a:r>
              <a:rPr lang="en-US" sz="2794" b="1" i="0" dirty="0">
                <a:solidFill>
                  <a:srgbClr val="0F1B33"/>
                </a:solidFill>
                <a:latin typeface="Source Serif 4" pitchFamily="18" charset="0"/>
                <a:ea typeface="Source Serif 4" pitchFamily="18" charset="-122"/>
                <a:cs typeface="Source Serif 4" pitchFamily="18" charset="-120"/>
              </a:rPr>
              <a:t>Thirteen steps turned 103 raw columns into 51 model features</a:t>
            </a:r>
            <a:endParaRPr lang="en-US" sz="2794"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235250"/>
          <a:ext cx="10553700" cy="3606750"/>
        </p:xfrm>
        <a:graphic>
          <a:graphicData uri="http://schemas.openxmlformats.org/drawingml/2006/table">
            <a:tbl>
              <a:tblPr/>
              <a:tblGrid>
                <a:gridCol w="3517900"/>
                <a:gridCol w="3517900"/>
                <a:gridCol w="3517900"/>
              </a:tblGrid>
              <a:tr h="332680">
                <a:tc>
                  <a:txBody>
                    <a:bodyPr/>
                    <a:lstStyle/>
                    <a:p>
                      <a:pPr indent="0" marL="0">
                        <a:lnSpc>
                          <a:spcPts val="1677"/>
                        </a:lnSpc>
                        <a:buNone/>
                      </a:pPr>
                      <a:r>
                        <a:rPr lang="en-US" sz="1198" b="1" dirty="0">
                          <a:solidFill>
                            <a:srgbClr val="0F1B33"/>
                          </a:solidFill>
                          <a:latin typeface="Helvetica Neue" pitchFamily="34" charset="0"/>
                          <a:ea typeface="Helvetica Neue" pitchFamily="34" charset="-122"/>
                          <a:cs typeface="Helvetica Neue" pitchFamily="34" charset="-120"/>
                        </a:rPr>
                        <a:t>Issue</a:t>
                      </a:r>
                      <a:endParaRPr lang="en-US" sz="1198" dirty="0">
                        <a:latin typeface="Helvetica Neue" charset="0"/>
                        <a:ea typeface="Helvetica Neue" charset="0"/>
                        <a:cs typeface="Helvetica Neue" charset="0"/>
                      </a:endParaRPr>
                    </a:p>
                  </a:txBody>
                  <a:tcPr marL="53257" marR="53257" marT="53257" marB="53257" anchor="t">
                    <a:lnL w="12700" cap="flat" cmpd="sng" algn="ctr">
                      <a:solidFill>
                        <a:srgbClr val="C4C1BB"/>
                      </a:solidFill>
                      <a:prstDash val="solid"/>
                      <a:round/>
                      <a:headEnd type="none" w="med" len="med"/>
                      <a:tailEnd type="none" w="med" len="med"/>
                    </a:lnL>
                    <a:lnR w="12700" cap="flat" cmpd="sng" algn="ctr">
                      <a:solidFill>
                        <a:srgbClr val="B5B3AD"/>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B5B3AD"/>
                      </a:solidFill>
                      <a:prstDash val="solid"/>
                      <a:round/>
                      <a:headEnd type="none" w="med" len="med"/>
                      <a:tailEnd type="none" w="med" len="med"/>
                    </a:lnB>
                    <a:solidFill>
                      <a:srgbClr val="E3E0D9"/>
                    </a:solidFill>
                  </a:tcPr>
                </a:tc>
                <a:tc>
                  <a:txBody>
                    <a:bodyPr/>
                    <a:lstStyle/>
                    <a:p>
                      <a:pPr indent="0" marL="0">
                        <a:lnSpc>
                          <a:spcPts val="1677"/>
                        </a:lnSpc>
                        <a:buNone/>
                      </a:pPr>
                      <a:r>
                        <a:rPr lang="en-US" sz="1198" b="1" dirty="0">
                          <a:solidFill>
                            <a:srgbClr val="0F1B33"/>
                          </a:solidFill>
                          <a:latin typeface="Helvetica Neue" pitchFamily="34" charset="0"/>
                          <a:ea typeface="Helvetica Neue" pitchFamily="34" charset="-122"/>
                          <a:cs typeface="Helvetica Neue" pitchFamily="34" charset="-120"/>
                        </a:rPr>
                        <a:t>Evidence</a:t>
                      </a:r>
                      <a:endParaRPr lang="en-US" sz="1198" dirty="0">
                        <a:latin typeface="Helvetica Neue" charset="0"/>
                        <a:ea typeface="Helvetica Neue" charset="0"/>
                        <a:cs typeface="Helvetica Neue" charset="0"/>
                      </a:endParaRPr>
                    </a:p>
                  </a:txBody>
                  <a:tcPr marL="53257" marR="53257" marT="53257" marB="53257" anchor="t">
                    <a:lnL w="12700" cap="flat" cmpd="sng" algn="ctr">
                      <a:solidFill>
                        <a:srgbClr val="B5B3AD"/>
                      </a:solidFill>
                      <a:prstDash val="solid"/>
                      <a:round/>
                      <a:headEnd type="none" w="med" len="med"/>
                      <a:tailEnd type="none" w="med" len="med"/>
                    </a:lnL>
                    <a:lnR w="12700" cap="flat" cmpd="sng" algn="ctr">
                      <a:solidFill>
                        <a:srgbClr val="B5B3AD"/>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B5B3AD"/>
                      </a:solidFill>
                      <a:prstDash val="solid"/>
                      <a:round/>
                      <a:headEnd type="none" w="med" len="med"/>
                      <a:tailEnd type="none" w="med" len="med"/>
                    </a:lnB>
                    <a:solidFill>
                      <a:srgbClr val="E3E0D9"/>
                    </a:solidFill>
                  </a:tcPr>
                </a:tc>
                <a:tc>
                  <a:txBody>
                    <a:bodyPr/>
                    <a:lstStyle/>
                    <a:p>
                      <a:pPr indent="0" marL="0">
                        <a:lnSpc>
                          <a:spcPts val="1677"/>
                        </a:lnSpc>
                        <a:buNone/>
                      </a:pPr>
                      <a:r>
                        <a:rPr lang="en-US" sz="1198" b="1" dirty="0">
                          <a:solidFill>
                            <a:srgbClr val="0F1B33"/>
                          </a:solidFill>
                          <a:latin typeface="Helvetica Neue" pitchFamily="34" charset="0"/>
                          <a:ea typeface="Helvetica Neue" pitchFamily="34" charset="-122"/>
                          <a:cs typeface="Helvetica Neue" pitchFamily="34" charset="-120"/>
                        </a:rPr>
                        <a:t>Action</a:t>
                      </a:r>
                      <a:endParaRPr lang="en-US" sz="1198" dirty="0">
                        <a:latin typeface="Helvetica Neue" charset="0"/>
                        <a:ea typeface="Helvetica Neue" charset="0"/>
                        <a:cs typeface="Helvetica Neue" charset="0"/>
                      </a:endParaRPr>
                    </a:p>
                  </a:txBody>
                  <a:tcPr marL="53257" marR="53257" marT="53257" marB="53257" anchor="t">
                    <a:lnL w="12700" cap="flat" cmpd="sng" algn="ctr">
                      <a:solidFill>
                        <a:srgbClr val="B5B3AD"/>
                      </a:solidFill>
                      <a:prstDash val="solid"/>
                      <a:round/>
                      <a:headEnd type="none" w="med" len="med"/>
                      <a:tailEnd type="none" w="med" len="med"/>
                    </a:lnL>
                    <a:lnR w="12700" cap="flat" cmpd="sng" algn="ctr">
                      <a:solidFill>
                        <a:srgbClr val="B5B3AD"/>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B5B3AD"/>
                      </a:solidFill>
                      <a:prstDash val="solid"/>
                      <a:round/>
                      <a:headEnd type="none" w="med" len="med"/>
                      <a:tailEnd type="none" w="med" len="med"/>
                    </a:lnB>
                    <a:solidFill>
                      <a:srgbClr val="E3E0D9"/>
                    </a:solidFill>
                  </a:tcPr>
                </a:tc>
              </a:tr>
              <a:tr h="545654">
                <a:tc>
                  <a:txBody>
                    <a:bodyPr/>
                    <a:lstStyle/>
                    <a:p>
                      <a:pPr indent="0" marL="0">
                        <a:lnSpc>
                          <a:spcPts val="1677"/>
                        </a:lnSpc>
                        <a:buNone/>
                      </a:pPr>
                      <a:r>
                        <a:rPr lang="en-US" sz="1198" dirty="0">
                          <a:solidFill>
                            <a:srgbClr val="0F1B33"/>
                          </a:solidFill>
                          <a:latin typeface="Helvetica Neue" pitchFamily="34" charset="0"/>
                          <a:ea typeface="Helvetica Neue" pitchFamily="34" charset="-122"/>
                          <a:cs typeface="Helvetica Neue" pitchFamily="34" charset="-120"/>
                        </a:rPr>
                        <a:t>Missing values</a:t>
                      </a:r>
                      <a:endParaRPr lang="en-US" sz="1198" dirty="0">
                        <a:latin typeface="Helvetica Neue" charset="0"/>
                        <a:ea typeface="Helvetica Neue" charset="0"/>
                        <a:cs typeface="Helvetica Neue" charset="0"/>
                      </a:endParaRPr>
                    </a:p>
                  </a:txBody>
                  <a:tcPr marL="53257" marR="53257" marT="53257" marB="53257"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B5B3AD"/>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indent="0" marL="0">
                        <a:lnSpc>
                          <a:spcPts val="1677"/>
                        </a:lnSpc>
                        <a:buNone/>
                      </a:pPr>
                      <a:r>
                        <a:rPr lang="en-US" sz="1198" dirty="0">
                          <a:solidFill>
                            <a:srgbClr val="0F1B33"/>
                          </a:solidFill>
                          <a:latin typeface="Helvetica Neue" pitchFamily="34" charset="0"/>
                          <a:ea typeface="Helvetica Neue" pitchFamily="34" charset="-122"/>
                          <a:cs typeface="Helvetica Neue" pitchFamily="34" charset="-120"/>
                        </a:rPr>
                        <a:t>605,691 hidden placeholders (UNKNOWN, N/A)</a:t>
                      </a:r>
                      <a:endParaRPr lang="en-US" sz="1198" dirty="0">
                        <a:latin typeface="Helvetica Neue" charset="0"/>
                        <a:ea typeface="Helvetica Neue" charset="0"/>
                        <a:cs typeface="Helvetica Neue" charset="0"/>
                      </a:endParaRPr>
                    </a:p>
                  </a:txBody>
                  <a:tcPr marL="53257" marR="53257" marT="53257" marB="53257"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B5B3AD"/>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indent="0" marL="0">
                        <a:lnSpc>
                          <a:spcPts val="1677"/>
                        </a:lnSpc>
                        <a:buNone/>
                      </a:pPr>
                      <a:r>
                        <a:rPr lang="en-US" sz="1198" dirty="0">
                          <a:solidFill>
                            <a:srgbClr val="0F1B33"/>
                          </a:solidFill>
                          <a:latin typeface="Helvetica Neue" pitchFamily="34" charset="0"/>
                          <a:ea typeface="Helvetica Neue" pitchFamily="34" charset="-122"/>
                          <a:cs typeface="Helvetica Neue" pitchFamily="34" charset="-120"/>
                        </a:rPr>
                        <a:t>Converted to missing, then "Unknown"; missing flags for height, speed, distance</a:t>
                      </a:r>
                      <a:endParaRPr lang="en-US" sz="1198" dirty="0">
                        <a:latin typeface="Helvetica Neue" charset="0"/>
                        <a:ea typeface="Helvetica Neue" charset="0"/>
                        <a:cs typeface="Helvetica Neue" charset="0"/>
                      </a:endParaRPr>
                    </a:p>
                  </a:txBody>
                  <a:tcPr marL="53257" marR="53257" marT="53257" marB="53257"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B5B3AD"/>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r>
              <a:tr h="545654">
                <a:tc>
                  <a:txBody>
                    <a:bodyPr/>
                    <a:lstStyle/>
                    <a:p>
                      <a:pPr indent="0" marL="0">
                        <a:lnSpc>
                          <a:spcPts val="1677"/>
                        </a:lnSpc>
                        <a:buNone/>
                      </a:pPr>
                      <a:r>
                        <a:rPr lang="en-US" sz="1198" dirty="0">
                          <a:solidFill>
                            <a:srgbClr val="0F1B33"/>
                          </a:solidFill>
                          <a:latin typeface="Helvetica Neue" pitchFamily="34" charset="0"/>
                          <a:ea typeface="Helvetica Neue" pitchFamily="34" charset="-122"/>
                          <a:cs typeface="Helvetica Neue" pitchFamily="34" charset="-120"/>
                        </a:rPr>
                        <a:t>Unassessed target</a:t>
                      </a:r>
                      <a:endParaRPr lang="en-US" sz="1198" dirty="0">
                        <a:latin typeface="Helvetica Neue" charset="0"/>
                        <a:ea typeface="Helvetica Neue" charset="0"/>
                        <a:cs typeface="Helvetica Neue" charset="0"/>
                      </a:endParaRPr>
                    </a:p>
                  </a:txBody>
                  <a:tcPr marL="53257" marR="53257" marT="53257" marB="53257"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indent="0" marL="0">
                        <a:lnSpc>
                          <a:spcPts val="1677"/>
                        </a:lnSpc>
                        <a:buNone/>
                      </a:pPr>
                      <a:r>
                        <a:rPr lang="en-US" sz="1198" dirty="0">
                          <a:solidFill>
                            <a:srgbClr val="0F1B33"/>
                          </a:solidFill>
                          <a:latin typeface="Helvetica Neue" pitchFamily="34" charset="0"/>
                          <a:ea typeface="Helvetica Neue" pitchFamily="34" charset="-122"/>
                          <a:cs typeface="Helvetica Neue" pitchFamily="34" charset="-120"/>
                        </a:rPr>
                        <a:t>126,157 strikes labeled no damage but never assessed</a:t>
                      </a:r>
                      <a:endParaRPr lang="en-US" sz="1198" dirty="0">
                        <a:latin typeface="Helvetica Neue" charset="0"/>
                        <a:ea typeface="Helvetica Neue" charset="0"/>
                        <a:cs typeface="Helvetica Neue" charset="0"/>
                      </a:endParaRPr>
                    </a:p>
                  </a:txBody>
                  <a:tcPr marL="53257" marR="53257" marT="53257" marB="53257"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indent="0" marL="0">
                        <a:lnSpc>
                          <a:spcPts val="1677"/>
                        </a:lnSpc>
                        <a:buNone/>
                      </a:pPr>
                      <a:r>
                        <a:rPr lang="en-US" sz="1198" dirty="0">
                          <a:solidFill>
                            <a:srgbClr val="0F1B33"/>
                          </a:solidFill>
                          <a:latin typeface="Helvetica Neue" pitchFamily="34" charset="0"/>
                          <a:ea typeface="Helvetica Neue" pitchFamily="34" charset="-122"/>
                          <a:cs typeface="Helvetica Neue" pitchFamily="34" charset="-120"/>
                        </a:rPr>
                        <a:t>Removed from modeling data</a:t>
                      </a:r>
                      <a:endParaRPr lang="en-US" sz="1198" dirty="0">
                        <a:latin typeface="Helvetica Neue" charset="0"/>
                        <a:ea typeface="Helvetica Neue" charset="0"/>
                        <a:cs typeface="Helvetica Neue" charset="0"/>
                      </a:endParaRPr>
                    </a:p>
                  </a:txBody>
                  <a:tcPr marL="53257" marR="53257" marT="53257" marB="53257"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r>
              <a:tr h="545654">
                <a:tc>
                  <a:txBody>
                    <a:bodyPr/>
                    <a:lstStyle/>
                    <a:p>
                      <a:pPr indent="0" marL="0">
                        <a:lnSpc>
                          <a:spcPts val="1677"/>
                        </a:lnSpc>
                        <a:buNone/>
                      </a:pPr>
                      <a:r>
                        <a:rPr lang="en-US" sz="1198" dirty="0">
                          <a:solidFill>
                            <a:srgbClr val="0F1B33"/>
                          </a:solidFill>
                          <a:latin typeface="Helvetica Neue" pitchFamily="34" charset="0"/>
                          <a:ea typeface="Helvetica Neue" pitchFamily="34" charset="-122"/>
                          <a:cs typeface="Helvetica Neue" pitchFamily="34" charset="-120"/>
                        </a:rPr>
                        <a:t>Leakage</a:t>
                      </a:r>
                      <a:endParaRPr lang="en-US" sz="1198" dirty="0">
                        <a:latin typeface="Helvetica Neue" charset="0"/>
                        <a:ea typeface="Helvetica Neue" charset="0"/>
                        <a:cs typeface="Helvetica Neue" charset="0"/>
                      </a:endParaRPr>
                    </a:p>
                  </a:txBody>
                  <a:tcPr marL="53257" marR="53257" marT="53257" marB="53257"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indent="0" marL="0">
                        <a:lnSpc>
                          <a:spcPts val="1677"/>
                        </a:lnSpc>
                        <a:buNone/>
                      </a:pPr>
                      <a:r>
                        <a:rPr lang="en-US" sz="1198" dirty="0">
                          <a:solidFill>
                            <a:srgbClr val="0F1B33"/>
                          </a:solidFill>
                          <a:latin typeface="Helvetica Neue" pitchFamily="34" charset="0"/>
                          <a:ea typeface="Helvetica Neue" pitchFamily="34" charset="-122"/>
                          <a:cs typeface="Helvetica Neue" pitchFamily="34" charset="-120"/>
                        </a:rPr>
                        <a:t>28+ columns known only after damage (costs, damaged parts)</a:t>
                      </a:r>
                      <a:endParaRPr lang="en-US" sz="1198" dirty="0">
                        <a:latin typeface="Helvetica Neue" charset="0"/>
                        <a:ea typeface="Helvetica Neue" charset="0"/>
                        <a:cs typeface="Helvetica Neue" charset="0"/>
                      </a:endParaRPr>
                    </a:p>
                  </a:txBody>
                  <a:tcPr marL="53257" marR="53257" marT="53257" marB="53257"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indent="0" marL="0">
                        <a:lnSpc>
                          <a:spcPts val="1677"/>
                        </a:lnSpc>
                        <a:buNone/>
                      </a:pPr>
                      <a:r>
                        <a:rPr lang="en-US" sz="1198" dirty="0">
                          <a:solidFill>
                            <a:srgbClr val="0F1B33"/>
                          </a:solidFill>
                          <a:latin typeface="Helvetica Neue" pitchFamily="34" charset="0"/>
                          <a:ea typeface="Helvetica Neue" pitchFamily="34" charset="-122"/>
                          <a:cs typeface="Helvetica Neue" pitchFamily="34" charset="-120"/>
                        </a:rPr>
                        <a:t>Excluded from the model</a:t>
                      </a:r>
                      <a:endParaRPr lang="en-US" sz="1198" dirty="0">
                        <a:latin typeface="Helvetica Neue" charset="0"/>
                        <a:ea typeface="Helvetica Neue" charset="0"/>
                        <a:cs typeface="Helvetica Neue" charset="0"/>
                      </a:endParaRPr>
                    </a:p>
                  </a:txBody>
                  <a:tcPr marL="53257" marR="53257" marT="53257" marB="53257"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r>
              <a:tr h="545703">
                <a:tc>
                  <a:txBody>
                    <a:bodyPr/>
                    <a:lstStyle/>
                    <a:p>
                      <a:pPr indent="0" marL="0">
                        <a:lnSpc>
                          <a:spcPts val="1677"/>
                        </a:lnSpc>
                        <a:buNone/>
                      </a:pPr>
                      <a:r>
                        <a:rPr lang="en-US" sz="1198" dirty="0">
                          <a:solidFill>
                            <a:srgbClr val="0F1B33"/>
                          </a:solidFill>
                          <a:latin typeface="Helvetica Neue" pitchFamily="34" charset="0"/>
                          <a:ea typeface="Helvetica Neue" pitchFamily="34" charset="-122"/>
                          <a:cs typeface="Helvetica Neue" pitchFamily="34" charset="-120"/>
                        </a:rPr>
                        <a:t>Outliers</a:t>
                      </a:r>
                      <a:endParaRPr lang="en-US" sz="1198" dirty="0">
                        <a:latin typeface="Helvetica Neue" charset="0"/>
                        <a:ea typeface="Helvetica Neue" charset="0"/>
                        <a:cs typeface="Helvetica Neue" charset="0"/>
                      </a:endParaRPr>
                    </a:p>
                  </a:txBody>
                  <a:tcPr marL="53257" marR="53257" marT="53257" marB="53257"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indent="0" marL="0">
                        <a:lnSpc>
                          <a:spcPts val="1677"/>
                        </a:lnSpc>
                        <a:buNone/>
                      </a:pPr>
                      <a:r>
                        <a:rPr lang="en-US" sz="1198" dirty="0">
                          <a:solidFill>
                            <a:srgbClr val="0F1B33"/>
                          </a:solidFill>
                          <a:latin typeface="Helvetica Neue" pitchFamily="34" charset="0"/>
                          <a:ea typeface="Helvetica Neue" pitchFamily="34" charset="-122"/>
                          <a:cs typeface="Helvetica Neue" pitchFamily="34" charset="-120"/>
                        </a:rPr>
                        <a:t>Repair costs up to $60M; heights up to 31,000 ft</a:t>
                      </a:r>
                      <a:endParaRPr lang="en-US" sz="1198" dirty="0">
                        <a:latin typeface="Helvetica Neue" charset="0"/>
                        <a:ea typeface="Helvetica Neue" charset="0"/>
                        <a:cs typeface="Helvetica Neue" charset="0"/>
                      </a:endParaRPr>
                    </a:p>
                  </a:txBody>
                  <a:tcPr marL="53257" marR="53257" marT="53257" marB="53257"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indent="0" marL="0">
                        <a:lnSpc>
                          <a:spcPts val="1677"/>
                        </a:lnSpc>
                        <a:buNone/>
                      </a:pPr>
                      <a:r>
                        <a:rPr lang="en-US" sz="1198" dirty="0">
                          <a:solidFill>
                            <a:srgbClr val="0F1B33"/>
                          </a:solidFill>
                          <a:latin typeface="Helvetica Neue" pitchFamily="34" charset="0"/>
                          <a:ea typeface="Helvetica Neue" pitchFamily="34" charset="-122"/>
                          <a:cs typeface="Helvetica Neue" pitchFamily="34" charset="-120"/>
                        </a:rPr>
                        <a:t>Kept real values; log costs; cap flight values at 99th percentile</a:t>
                      </a:r>
                      <a:endParaRPr lang="en-US" sz="1198" dirty="0">
                        <a:latin typeface="Helvetica Neue" charset="0"/>
                        <a:ea typeface="Helvetica Neue" charset="0"/>
                        <a:cs typeface="Helvetica Neue" charset="0"/>
                      </a:endParaRPr>
                    </a:p>
                  </a:txBody>
                  <a:tcPr marL="53257" marR="53257" marT="53257" marB="53257"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r>
              <a:tr h="545703">
                <a:tc>
                  <a:txBody>
                    <a:bodyPr/>
                    <a:lstStyle/>
                    <a:p>
                      <a:pPr indent="0" marL="0">
                        <a:lnSpc>
                          <a:spcPts val="1677"/>
                        </a:lnSpc>
                        <a:buNone/>
                      </a:pPr>
                      <a:r>
                        <a:rPr lang="en-US" sz="1198" dirty="0">
                          <a:solidFill>
                            <a:srgbClr val="0F1B33"/>
                          </a:solidFill>
                          <a:latin typeface="Helvetica Neue" pitchFamily="34" charset="0"/>
                          <a:ea typeface="Helvetica Neue" pitchFamily="34" charset="-122"/>
                          <a:cs typeface="Helvetica Neue" pitchFamily="34" charset="-120"/>
                        </a:rPr>
                        <a:t>Errors and duplicates</a:t>
                      </a:r>
                      <a:endParaRPr lang="en-US" sz="1198" dirty="0">
                        <a:latin typeface="Helvetica Neue" charset="0"/>
                        <a:ea typeface="Helvetica Neue" charset="0"/>
                        <a:cs typeface="Helvetica Neue" charset="0"/>
                      </a:endParaRPr>
                    </a:p>
                  </a:txBody>
                  <a:tcPr marL="53257" marR="53257" marT="53257" marB="53257"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indent="0" marL="0">
                        <a:lnSpc>
                          <a:spcPts val="1677"/>
                        </a:lnSpc>
                        <a:buNone/>
                      </a:pPr>
                      <a:r>
                        <a:rPr lang="en-US" sz="1198" dirty="0">
                          <a:solidFill>
                            <a:srgbClr val="0F1B33"/>
                          </a:solidFill>
                          <a:latin typeface="Helvetica Neue" pitchFamily="34" charset="0"/>
                          <a:ea typeface="Helvetica Neue" pitchFamily="34" charset="-122"/>
                          <a:cs typeface="Helvetica Neue" pitchFamily="34" charset="-120"/>
                        </a:rPr>
                        <a:t>88 duplicates, 23 impossible heights, 12 date conflicts</a:t>
                      </a:r>
                      <a:endParaRPr lang="en-US" sz="1198" dirty="0">
                        <a:latin typeface="Helvetica Neue" charset="0"/>
                        <a:ea typeface="Helvetica Neue" charset="0"/>
                        <a:cs typeface="Helvetica Neue" charset="0"/>
                      </a:endParaRPr>
                    </a:p>
                  </a:txBody>
                  <a:tcPr marL="53257" marR="53257" marT="53257" marB="53257"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indent="0" marL="0">
                        <a:lnSpc>
                          <a:spcPts val="1677"/>
                        </a:lnSpc>
                        <a:buNone/>
                      </a:pPr>
                      <a:r>
                        <a:rPr lang="en-US" sz="1198" dirty="0">
                          <a:solidFill>
                            <a:srgbClr val="0F1B33"/>
                          </a:solidFill>
                          <a:latin typeface="Helvetica Neue" pitchFamily="34" charset="0"/>
                          <a:ea typeface="Helvetica Neue" pitchFamily="34" charset="-122"/>
                          <a:cs typeface="Helvetica Neue" pitchFamily="34" charset="-120"/>
                        </a:rPr>
                        <a:t>Removed, set to missing, or logged</a:t>
                      </a:r>
                      <a:endParaRPr lang="en-US" sz="1198" dirty="0">
                        <a:latin typeface="Helvetica Neue" charset="0"/>
                        <a:ea typeface="Helvetica Neue" charset="0"/>
                        <a:cs typeface="Helvetica Neue" charset="0"/>
                      </a:endParaRPr>
                    </a:p>
                  </a:txBody>
                  <a:tcPr marL="53257" marR="53257" marT="53257" marB="53257"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r>
              <a:tr h="545703">
                <a:tc>
                  <a:txBody>
                    <a:bodyPr/>
                    <a:lstStyle/>
                    <a:p>
                      <a:pPr indent="0" marL="0">
                        <a:lnSpc>
                          <a:spcPts val="1677"/>
                        </a:lnSpc>
                        <a:buNone/>
                      </a:pPr>
                      <a:r>
                        <a:rPr lang="en-US" sz="1198" dirty="0">
                          <a:solidFill>
                            <a:srgbClr val="0F1B33"/>
                          </a:solidFill>
                          <a:latin typeface="Helvetica Neue" pitchFamily="34" charset="0"/>
                          <a:ea typeface="Helvetica Neue" pitchFamily="34" charset="-122"/>
                          <a:cs typeface="Helvetica Neue" pitchFamily="34" charset="-120"/>
                        </a:rPr>
                        <a:t>Transformations</a:t>
                      </a:r>
                      <a:endParaRPr lang="en-US" sz="1198" dirty="0">
                        <a:latin typeface="Helvetica Neue" charset="0"/>
                        <a:ea typeface="Helvetica Neue" charset="0"/>
                        <a:cs typeface="Helvetica Neue" charset="0"/>
                      </a:endParaRPr>
                    </a:p>
                  </a:txBody>
                  <a:tcPr marL="53257" marR="53257" marT="53257" marB="53257"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indent="0" marL="0">
                        <a:lnSpc>
                          <a:spcPts val="1677"/>
                        </a:lnSpc>
                        <a:buNone/>
                      </a:pPr>
                      <a:r>
                        <a:rPr lang="en-US" sz="1198" dirty="0">
                          <a:solidFill>
                            <a:srgbClr val="0F1B33"/>
                          </a:solidFill>
                          <a:latin typeface="Helvetica Neue" pitchFamily="34" charset="0"/>
                          <a:ea typeface="Helvetica Neue" pitchFamily="34" charset="-122"/>
                          <a:cs typeface="Helvetica Neue" pitchFamily="34" charset="-120"/>
                        </a:rPr>
                        <a:t>Text ranges, dates, engine codes</a:t>
                      </a:r>
                      <a:endParaRPr lang="en-US" sz="1198" dirty="0">
                        <a:latin typeface="Helvetica Neue" charset="0"/>
                        <a:ea typeface="Helvetica Neue" charset="0"/>
                        <a:cs typeface="Helvetica Neue" charset="0"/>
                      </a:endParaRPr>
                    </a:p>
                  </a:txBody>
                  <a:tcPr marL="53257" marR="53257" marT="53257" marB="53257"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indent="0" marL="0">
                        <a:lnSpc>
                          <a:spcPts val="1677"/>
                        </a:lnSpc>
                        <a:buNone/>
                      </a:pPr>
                      <a:r>
                        <a:rPr lang="en-US" sz="1198" dirty="0">
                          <a:solidFill>
                            <a:srgbClr val="0F1B33"/>
                          </a:solidFill>
                          <a:latin typeface="Helvetica Neue" pitchFamily="34" charset="0"/>
                          <a:ea typeface="Helvetica Neue" pitchFamily="34" charset="-122"/>
                          <a:cs typeface="Helvetica Neue" pitchFamily="34" charset="-120"/>
                        </a:rPr>
                        <a:t>Ordinal sizes, year, month, season, hour, category codes</a:t>
                      </a:r>
                      <a:endParaRPr lang="en-US" sz="1198" dirty="0">
                        <a:latin typeface="Helvetica Neue" charset="0"/>
                        <a:ea typeface="Helvetica Neue" charset="0"/>
                        <a:cs typeface="Helvetica Neue" charset="0"/>
                      </a:endParaRPr>
                    </a:p>
                  </a:txBody>
                  <a:tcPr marL="53257" marR="53257" marT="53257" marB="53257"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372"/>
                </a:solidFill>
                <a:latin typeface="Helvetica Neue" pitchFamily="34" charset="0"/>
                <a:ea typeface="Helvetica Neue" pitchFamily="34" charset="-122"/>
                <a:cs typeface="Helvetica Neue" pitchFamily="34" charset="-120"/>
              </a:rPr>
              <a:t>Cleaning pipeline: 356,972 raw rows to 230,828 modeling rows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2EA"/>
        </a:solidFill>
      </p:bgPr>
    </p:bg>
    <p:spTree>
      <p:nvGrpSpPr>
        <p:cNvPr id="1" name=""/>
        <p:cNvGrpSpPr/>
        <p:nvPr/>
      </p:nvGrpSpPr>
      <p:grpSpPr>
        <a:xfrm>
          <a:off x="0" y="0"/>
          <a:ext cx="0" cy="0"/>
          <a:chOff x="0" y="0"/>
          <a:chExt cx="0" cy="0"/>
        </a:xfrm>
      </p:grpSpPr>
      <p:sp>
        <p:nvSpPr>
          <p:cNvPr id="2" name="Text 0"/>
          <p:cNvSpPr/>
          <p:nvPr/>
        </p:nvSpPr>
        <p:spPr>
          <a:xfrm>
            <a:off x="812800" y="812800"/>
            <a:ext cx="10883392" cy="249039"/>
          </a:xfrm>
          <a:prstGeom prst="rect">
            <a:avLst/>
          </a:prstGeom>
          <a:noFill/>
          <a:ln/>
        </p:spPr>
        <p:txBody>
          <a:bodyPr wrap="square" lIns="0" tIns="0" rIns="0" bIns="0" rtlCol="0" anchor="t">
            <a:normAutofit/>
          </a:bodyPr>
          <a:lstStyle/>
          <a:p>
            <a:pPr algn="l" indent="0" marL="0">
              <a:lnSpc>
                <a:spcPts val="1774"/>
              </a:lnSpc>
              <a:buNone/>
            </a:pPr>
            <a:r>
              <a:rPr lang="en-US" sz="1268" b="1" spc="100" kern="0" dirty="0">
                <a:solidFill>
                  <a:srgbClr val="E8892B"/>
                </a:solidFill>
                <a:latin typeface="Helvetica Neue" pitchFamily="34" charset="0"/>
                <a:ea typeface="Helvetica Neue" pitchFamily="34" charset="-122"/>
                <a:cs typeface="Helvetica Neue" pitchFamily="34" charset="-120"/>
              </a:rPr>
              <a:t>2 · DATA CLEANING · CHALLENGES</a:t>
            </a:r>
            <a:endParaRPr lang="en-US" sz="1268" dirty="0"/>
          </a:p>
        </p:txBody>
      </p:sp>
      <p:sp>
        <p:nvSpPr>
          <p:cNvPr id="3" name="Text 1"/>
          <p:cNvSpPr/>
          <p:nvPr>
            <p:ph type="title"/>
          </p:nvPr>
        </p:nvSpPr>
        <p:spPr>
          <a:xfrm>
            <a:off x="812800" y="1265039"/>
            <a:ext cx="10883392" cy="836563"/>
          </a:xfrm>
          <a:prstGeom prst="rect">
            <a:avLst/>
          </a:prstGeom>
          <a:noFill/>
          <a:ln/>
        </p:spPr>
        <p:txBody>
          <a:bodyPr wrap="square" lIns="0" tIns="0" rIns="0" bIns="0" rtlCol="0" anchor="t">
            <a:normAutofit/>
          </a:bodyPr>
          <a:lstStyle/>
          <a:p>
            <a:pPr algn="l" indent="0" marL="0">
              <a:lnSpc>
                <a:spcPts val="3207"/>
              </a:lnSpc>
              <a:buNone/>
            </a:pPr>
            <a:r>
              <a:rPr lang="en-US" sz="2916" b="1" i="0" dirty="0">
                <a:solidFill>
                  <a:srgbClr val="0F1B33"/>
                </a:solidFill>
                <a:latin typeface="Source Serif 4" pitchFamily="18" charset="0"/>
                <a:ea typeface="Source Serif 4" pitchFamily="18" charset="-122"/>
                <a:cs typeface="Source Serif 4" pitchFamily="18" charset="-120"/>
              </a:rPr>
              <a:t>Hidden missing data and unchecked labels were the biggest problems</a:t>
            </a:r>
            <a:endParaRPr lang="en-US" sz="2916" dirty="0"/>
          </a:p>
        </p:txBody>
      </p:sp>
      <p:sp>
        <p:nvSpPr>
          <p:cNvPr id="4" name="Shape 2"/>
          <p:cNvSpPr/>
          <p:nvPr/>
        </p:nvSpPr>
        <p:spPr>
          <a:xfrm>
            <a:off x="812800" y="2304802"/>
            <a:ext cx="5207000" cy="2133600"/>
          </a:xfrm>
          <a:prstGeom prst="roundRect">
            <a:avLst>
              <a:gd name="adj" fmla="val 3571"/>
            </a:avLst>
          </a:prstGeom>
          <a:solidFill>
            <a:srgbClr val="FFFFFF"/>
          </a:solidFill>
          <a:ln/>
        </p:spPr>
      </p:sp>
      <p:pic>
        <p:nvPicPr>
          <p:cNvPr id="5" name="Image 0" descr="Tableau view c0">    </p:cNvPr>
          <p:cNvPicPr>
            <a:picLocks noChangeAspect="1"/>
          </p:cNvPicPr>
          <p:nvPr/>
        </p:nvPicPr>
        <p:blipFill>
          <a:blip r:embed="rId1"/>
          <a:srcRect l="-313" r="-313" t="0" b="0"/>
          <a:stretch/>
        </p:blipFill>
        <p:spPr>
          <a:xfrm>
            <a:off x="819150" y="2311152"/>
            <a:ext cx="5194300" cy="2120900"/>
          </a:xfrm>
          <a:prstGeom prst="roundRect">
            <a:avLst>
              <a:gd name="adj" fmla="val 3293"/>
            </a:avLst>
          </a:prstGeom>
        </p:spPr>
      </p:pic>
      <p:sp>
        <p:nvSpPr>
          <p:cNvPr id="6" name="Shape 3"/>
          <p:cNvSpPr/>
          <p:nvPr/>
        </p:nvSpPr>
        <p:spPr>
          <a:xfrm>
            <a:off x="815975" y="2307977"/>
            <a:ext cx="5200650" cy="2127250"/>
          </a:xfrm>
          <a:prstGeom prst="roundRect">
            <a:avLst>
              <a:gd name="adj" fmla="val 3433"/>
            </a:avLst>
          </a:prstGeom>
          <a:noFill/>
          <a:ln w="6350">
            <a:solidFill>
              <a:srgbClr val="DCD6C8"/>
            </a:solidFill>
            <a:prstDash val="solid"/>
          </a:ln>
        </p:spPr>
      </p:sp>
      <p:sp>
        <p:nvSpPr>
          <p:cNvPr id="7" name="Shape 4"/>
          <p:cNvSpPr/>
          <p:nvPr/>
        </p:nvSpPr>
        <p:spPr>
          <a:xfrm>
            <a:off x="6172200" y="2304802"/>
            <a:ext cx="5207000" cy="1803400"/>
          </a:xfrm>
          <a:prstGeom prst="roundRect">
            <a:avLst>
              <a:gd name="adj" fmla="val 4225"/>
            </a:avLst>
          </a:prstGeom>
          <a:solidFill>
            <a:srgbClr val="FFFFFF"/>
          </a:solidFill>
          <a:ln/>
        </p:spPr>
      </p:sp>
      <p:pic>
        <p:nvPicPr>
          <p:cNvPr id="8" name="Image 1" descr="Tableau view c1">    </p:cNvPr>
          <p:cNvPicPr>
            <a:picLocks noChangeAspect="1"/>
          </p:cNvPicPr>
          <p:nvPr/>
        </p:nvPicPr>
        <p:blipFill>
          <a:blip r:embed="rId2"/>
          <a:srcRect l="-237" r="-237" t="0" b="0"/>
          <a:stretch/>
        </p:blipFill>
        <p:spPr>
          <a:xfrm>
            <a:off x="6178550" y="2311152"/>
            <a:ext cx="5194300" cy="1790700"/>
          </a:xfrm>
          <a:prstGeom prst="roundRect">
            <a:avLst>
              <a:gd name="adj" fmla="val 3901"/>
            </a:avLst>
          </a:prstGeom>
        </p:spPr>
      </p:pic>
      <p:sp>
        <p:nvSpPr>
          <p:cNvPr id="9" name="Shape 5"/>
          <p:cNvSpPr/>
          <p:nvPr/>
        </p:nvSpPr>
        <p:spPr>
          <a:xfrm>
            <a:off x="6175375" y="2307977"/>
            <a:ext cx="5200650" cy="1797050"/>
          </a:xfrm>
          <a:prstGeom prst="roundRect">
            <a:avLst>
              <a:gd name="adj" fmla="val 4064"/>
            </a:avLst>
          </a:prstGeom>
          <a:noFill/>
          <a:ln w="6350">
            <a:solidFill>
              <a:srgbClr val="DCD6C8"/>
            </a:solidFill>
            <a:prstDash val="solid"/>
          </a:ln>
        </p:spPr>
      </p:sp>
      <p:sp>
        <p:nvSpPr>
          <p:cNvPr id="10" name="Shape 6"/>
          <p:cNvSpPr/>
          <p:nvPr/>
        </p:nvSpPr>
        <p:spPr>
          <a:xfrm>
            <a:off x="815975" y="4601418"/>
            <a:ext cx="5200650" cy="1237407"/>
          </a:xfrm>
          <a:prstGeom prst="roundRect">
            <a:avLst>
              <a:gd name="adj" fmla="val 7954"/>
            </a:avLst>
          </a:prstGeom>
          <a:solidFill>
            <a:srgbClr val="FFFFFF"/>
          </a:solidFill>
          <a:ln w="6350">
            <a:solidFill>
              <a:srgbClr val="DCD6C8"/>
            </a:solidFill>
            <a:prstDash val="solid"/>
          </a:ln>
        </p:spPr>
      </p:sp>
      <p:sp>
        <p:nvSpPr>
          <p:cNvPr id="11" name="Text 7"/>
          <p:cNvSpPr/>
          <p:nvPr/>
        </p:nvSpPr>
        <p:spPr>
          <a:xfrm>
            <a:off x="1047750" y="4833193"/>
            <a:ext cx="4879213" cy="269925"/>
          </a:xfrm>
          <a:prstGeom prst="rect">
            <a:avLst/>
          </a:prstGeom>
          <a:noFill/>
          <a:ln/>
        </p:spPr>
        <p:txBody>
          <a:bodyPr wrap="square" lIns="0" tIns="0" rIns="0" bIns="0" rtlCol="0" anchor="t">
            <a:normAutofit/>
          </a:bodyPr>
          <a:lstStyle/>
          <a:p>
            <a:pPr algn="l" indent="0" marL="0">
              <a:lnSpc>
                <a:spcPts val="1970"/>
              </a:lnSpc>
              <a:buNone/>
            </a:pPr>
            <a:r>
              <a:rPr lang="en-US" sz="1642" b="1" dirty="0">
                <a:solidFill>
                  <a:srgbClr val="1F7A8C"/>
                </a:solidFill>
                <a:latin typeface="Helvetica Neue" pitchFamily="34" charset="0"/>
                <a:ea typeface="Helvetica Neue" pitchFamily="34" charset="-122"/>
                <a:cs typeface="Helvetica Neue" pitchFamily="34" charset="-120"/>
              </a:rPr>
              <a:t>UNKNOWN looked like data</a:t>
            </a:r>
            <a:endParaRPr lang="en-US" sz="1642" dirty="0"/>
          </a:p>
        </p:txBody>
      </p:sp>
      <p:sp>
        <p:nvSpPr>
          <p:cNvPr id="12" name="Text 8"/>
          <p:cNvSpPr/>
          <p:nvPr/>
        </p:nvSpPr>
        <p:spPr>
          <a:xfrm>
            <a:off x="1047750" y="5153918"/>
            <a:ext cx="4879213" cy="478532"/>
          </a:xfrm>
          <a:prstGeom prst="rect">
            <a:avLst/>
          </a:prstGeom>
          <a:noFill/>
          <a:ln/>
        </p:spPr>
        <p:txBody>
          <a:bodyPr wrap="square" lIns="0" tIns="0" rIns="0" bIns="0" rtlCol="0" anchor="t">
            <a:normAutofit/>
          </a:bodyPr>
          <a:lstStyle/>
          <a:p>
            <a:pPr algn="l" indent="0" marL="0">
              <a:lnSpc>
                <a:spcPts val="1784"/>
              </a:lnSpc>
              <a:buNone/>
            </a:pPr>
            <a:r>
              <a:rPr lang="en-US" sz="1321" dirty="0">
                <a:solidFill>
                  <a:srgbClr val="0F1B33"/>
                </a:solidFill>
                <a:latin typeface="Helvetica Neue" pitchFamily="34" charset="0"/>
                <a:ea typeface="Helvetica Neue" pitchFamily="34" charset="-122"/>
                <a:cs typeface="Helvetica Neue" pitchFamily="34" charset="-120"/>
              </a:rPr>
              <a:t>WARNED looked 63% complete but was mostly placeholder text.</a:t>
            </a:r>
            <a:endParaRPr lang="en-US" sz="1321" dirty="0"/>
          </a:p>
        </p:txBody>
      </p:sp>
      <p:sp>
        <p:nvSpPr>
          <p:cNvPr id="13" name="Shape 9"/>
          <p:cNvSpPr/>
          <p:nvPr/>
        </p:nvSpPr>
        <p:spPr>
          <a:xfrm>
            <a:off x="6175375" y="4601418"/>
            <a:ext cx="5200650" cy="1237407"/>
          </a:xfrm>
          <a:prstGeom prst="roundRect">
            <a:avLst>
              <a:gd name="adj" fmla="val 7954"/>
            </a:avLst>
          </a:prstGeom>
          <a:solidFill>
            <a:srgbClr val="FFFFFF"/>
          </a:solidFill>
          <a:ln w="6350">
            <a:solidFill>
              <a:srgbClr val="DCD6C8"/>
            </a:solidFill>
            <a:prstDash val="solid"/>
          </a:ln>
        </p:spPr>
      </p:sp>
      <p:sp>
        <p:nvSpPr>
          <p:cNvPr id="14" name="Text 10"/>
          <p:cNvSpPr/>
          <p:nvPr/>
        </p:nvSpPr>
        <p:spPr>
          <a:xfrm>
            <a:off x="6407150" y="4833193"/>
            <a:ext cx="4879213" cy="269925"/>
          </a:xfrm>
          <a:prstGeom prst="rect">
            <a:avLst/>
          </a:prstGeom>
          <a:noFill/>
          <a:ln/>
        </p:spPr>
        <p:txBody>
          <a:bodyPr wrap="square" lIns="0" tIns="0" rIns="0" bIns="0" rtlCol="0" anchor="t">
            <a:normAutofit/>
          </a:bodyPr>
          <a:lstStyle/>
          <a:p>
            <a:pPr algn="l" indent="0" marL="0">
              <a:lnSpc>
                <a:spcPts val="1970"/>
              </a:lnSpc>
              <a:buNone/>
            </a:pPr>
            <a:r>
              <a:rPr lang="en-US" sz="1642" b="1" dirty="0">
                <a:solidFill>
                  <a:srgbClr val="1F7A8C"/>
                </a:solidFill>
                <a:latin typeface="Helvetica Neue" pitchFamily="34" charset="0"/>
                <a:ea typeface="Helvetica Neue" pitchFamily="34" charset="-122"/>
                <a:cs typeface="Helvetica Neue" pitchFamily="34" charset="-120"/>
              </a:rPr>
              <a:t>Unchecked "no damage"</a:t>
            </a:r>
            <a:endParaRPr lang="en-US" sz="1642" dirty="0"/>
          </a:p>
        </p:txBody>
      </p:sp>
      <p:sp>
        <p:nvSpPr>
          <p:cNvPr id="15" name="Text 11"/>
          <p:cNvSpPr/>
          <p:nvPr/>
        </p:nvSpPr>
        <p:spPr>
          <a:xfrm>
            <a:off x="6407150" y="5153918"/>
            <a:ext cx="4879213" cy="478532"/>
          </a:xfrm>
          <a:prstGeom prst="rect">
            <a:avLst/>
          </a:prstGeom>
          <a:noFill/>
          <a:ln/>
        </p:spPr>
        <p:txBody>
          <a:bodyPr wrap="square" lIns="0" tIns="0" rIns="0" bIns="0" rtlCol="0" anchor="t">
            <a:normAutofit/>
          </a:bodyPr>
          <a:lstStyle/>
          <a:p>
            <a:pPr algn="l" indent="0" marL="0">
              <a:lnSpc>
                <a:spcPts val="1784"/>
              </a:lnSpc>
              <a:buNone/>
            </a:pPr>
            <a:r>
              <a:rPr lang="en-US" sz="1321" dirty="0">
                <a:solidFill>
                  <a:srgbClr val="0F1B33"/>
                </a:solidFill>
                <a:latin typeface="Helvetica Neue" pitchFamily="34" charset="0"/>
                <a:ea typeface="Helvetica Neue" pitchFamily="34" charset="-122"/>
                <a:cs typeface="Helvetica Neue" pitchFamily="34" charset="-120"/>
              </a:rPr>
              <a:t>38% of no-damage rows were never assessed. Removing them moved the damage rate from 6.2% to 9.6%.</a:t>
            </a:r>
            <a:endParaRPr lang="en-US" sz="1321" dirty="0"/>
          </a:p>
        </p:txBody>
      </p:sp>
      <p:sp>
        <p:nvSpPr>
          <p:cNvPr id="16" name="Text 1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372"/>
                </a:solidFill>
                <a:latin typeface="Helvetica Neue" pitchFamily="34" charset="0"/>
                <a:ea typeface="Helvetica Neue" pitchFamily="34" charset="-122"/>
                <a:cs typeface="Helvetica Neue" pitchFamily="34" charset="-120"/>
              </a:rPr>
              <a:t>Cleaning visuals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2EA"/>
        </a:solidFill>
      </p:bgPr>
    </p:bg>
    <p:spTree>
      <p:nvGrpSpPr>
        <p:cNvPr id="1" name=""/>
        <p:cNvGrpSpPr/>
        <p:nvPr/>
      </p:nvGrpSpPr>
      <p:grpSpPr>
        <a:xfrm>
          <a:off x="0" y="0"/>
          <a:ext cx="0" cy="0"/>
          <a:chOff x="0" y="0"/>
          <a:chExt cx="0" cy="0"/>
        </a:xfrm>
      </p:grpSpPr>
      <p:sp>
        <p:nvSpPr>
          <p:cNvPr id="2" name="Text 0"/>
          <p:cNvSpPr/>
          <p:nvPr/>
        </p:nvSpPr>
        <p:spPr>
          <a:xfrm>
            <a:off x="812800" y="60960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E8892B"/>
                </a:solidFill>
                <a:latin typeface="Helvetica Neue" pitchFamily="34" charset="0"/>
                <a:ea typeface="Helvetica Neue" pitchFamily="34" charset="-122"/>
                <a:cs typeface="Helvetica Neue" pitchFamily="34" charset="-120"/>
              </a:rPr>
              <a:t>2 · DATA CLEANING · OUTLIERS AND SHORTCUTS</a:t>
            </a:r>
            <a:endParaRPr lang="en-US" sz="1300" dirty="0"/>
          </a:p>
        </p:txBody>
      </p:sp>
      <p:sp>
        <p:nvSpPr>
          <p:cNvPr id="3" name="Text 1"/>
          <p:cNvSpPr/>
          <p:nvPr>
            <p:ph type="title"/>
          </p:nvPr>
        </p:nvSpPr>
        <p:spPr>
          <a:xfrm>
            <a:off x="812800" y="1043930"/>
            <a:ext cx="10883392" cy="807641"/>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0F1B33"/>
                </a:solidFill>
                <a:latin typeface="Source Serif 4" pitchFamily="18" charset="0"/>
                <a:ea typeface="Source Serif 4" pitchFamily="18" charset="-122"/>
                <a:cs typeface="Source Serif 4" pitchFamily="18" charset="-120"/>
              </a:rPr>
              <a:t>Extreme costs were kept, and missing data turned out to be a shortcut</a:t>
            </a:r>
            <a:endParaRPr lang="en-US" sz="2800" dirty="0"/>
          </a:p>
        </p:txBody>
      </p:sp>
      <p:sp>
        <p:nvSpPr>
          <p:cNvPr id="4" name="Shape 2"/>
          <p:cNvSpPr/>
          <p:nvPr/>
        </p:nvSpPr>
        <p:spPr>
          <a:xfrm>
            <a:off x="812800" y="2029371"/>
            <a:ext cx="5200650" cy="1879600"/>
          </a:xfrm>
          <a:prstGeom prst="roundRect">
            <a:avLst>
              <a:gd name="adj" fmla="val 4054"/>
            </a:avLst>
          </a:prstGeom>
          <a:solidFill>
            <a:srgbClr val="FFFFFF"/>
          </a:solidFill>
          <a:ln/>
        </p:spPr>
      </p:sp>
      <p:pic>
        <p:nvPicPr>
          <p:cNvPr id="5" name="Image 0" descr="Repair costs raw and log scale">    </p:cNvPr>
          <p:cNvPicPr>
            <a:picLocks noChangeAspect="1"/>
          </p:cNvPicPr>
          <p:nvPr/>
        </p:nvPicPr>
        <p:blipFill>
          <a:blip r:embed="rId1"/>
          <a:srcRect l="-278" r="-278" t="0" b="0"/>
          <a:stretch/>
        </p:blipFill>
        <p:spPr>
          <a:xfrm>
            <a:off x="819150" y="2035721"/>
            <a:ext cx="5187950" cy="1866900"/>
          </a:xfrm>
          <a:prstGeom prst="roundRect">
            <a:avLst>
              <a:gd name="adj" fmla="val 3741"/>
            </a:avLst>
          </a:prstGeom>
        </p:spPr>
      </p:pic>
      <p:sp>
        <p:nvSpPr>
          <p:cNvPr id="6" name="Shape 3"/>
          <p:cNvSpPr/>
          <p:nvPr/>
        </p:nvSpPr>
        <p:spPr>
          <a:xfrm>
            <a:off x="815975" y="2032546"/>
            <a:ext cx="5194300" cy="1873250"/>
          </a:xfrm>
          <a:prstGeom prst="roundRect">
            <a:avLst>
              <a:gd name="adj" fmla="val 3898"/>
            </a:avLst>
          </a:prstGeom>
          <a:noFill/>
          <a:ln w="6350">
            <a:solidFill>
              <a:srgbClr val="DCD6C8"/>
            </a:solidFill>
            <a:prstDash val="solid"/>
          </a:ln>
        </p:spPr>
      </p:sp>
      <p:sp>
        <p:nvSpPr>
          <p:cNvPr id="7" name="Shape 4"/>
          <p:cNvSpPr/>
          <p:nvPr/>
        </p:nvSpPr>
        <p:spPr>
          <a:xfrm>
            <a:off x="6165850" y="2029371"/>
            <a:ext cx="5207000" cy="1943100"/>
          </a:xfrm>
          <a:prstGeom prst="roundRect">
            <a:avLst>
              <a:gd name="adj" fmla="val 3922"/>
            </a:avLst>
          </a:prstGeom>
          <a:solidFill>
            <a:srgbClr val="FFFFFF"/>
          </a:solidFill>
          <a:ln/>
        </p:spPr>
      </p:sp>
      <p:pic>
        <p:nvPicPr>
          <p:cNvPr id="8" name="Image 1" descr="Missing information versus damage rate">    </p:cNvPr>
          <p:cNvPicPr>
            <a:picLocks noChangeAspect="1"/>
          </p:cNvPicPr>
          <p:nvPr/>
        </p:nvPicPr>
        <p:blipFill>
          <a:blip r:embed="rId2"/>
          <a:srcRect l="-209" r="-209" t="0" b="0"/>
          <a:stretch/>
        </p:blipFill>
        <p:spPr>
          <a:xfrm>
            <a:off x="6172200" y="2035721"/>
            <a:ext cx="5194300" cy="1930400"/>
          </a:xfrm>
          <a:prstGeom prst="roundRect">
            <a:avLst>
              <a:gd name="adj" fmla="val 3618"/>
            </a:avLst>
          </a:prstGeom>
        </p:spPr>
      </p:pic>
      <p:sp>
        <p:nvSpPr>
          <p:cNvPr id="9" name="Shape 5"/>
          <p:cNvSpPr/>
          <p:nvPr/>
        </p:nvSpPr>
        <p:spPr>
          <a:xfrm>
            <a:off x="6169025" y="2032546"/>
            <a:ext cx="5200650" cy="1936750"/>
          </a:xfrm>
          <a:prstGeom prst="roundRect">
            <a:avLst>
              <a:gd name="adj" fmla="val 3770"/>
            </a:avLst>
          </a:prstGeom>
          <a:noFill/>
          <a:ln w="6350">
            <a:solidFill>
              <a:srgbClr val="DCD6C8"/>
            </a:solidFill>
            <a:prstDash val="solid"/>
          </a:ln>
        </p:spPr>
      </p:sp>
      <p:sp>
        <p:nvSpPr>
          <p:cNvPr id="10" name="Shape 6"/>
          <p:cNvSpPr/>
          <p:nvPr/>
        </p:nvSpPr>
        <p:spPr>
          <a:xfrm>
            <a:off x="815975" y="4178846"/>
            <a:ext cx="5200650" cy="1278830"/>
          </a:xfrm>
          <a:prstGeom prst="roundRect">
            <a:avLst>
              <a:gd name="adj" fmla="val 7696"/>
            </a:avLst>
          </a:prstGeom>
          <a:solidFill>
            <a:srgbClr val="FFFFFF"/>
          </a:solidFill>
          <a:ln w="6350">
            <a:solidFill>
              <a:srgbClr val="DCD6C8"/>
            </a:solidFill>
            <a:prstDash val="solid"/>
          </a:ln>
        </p:spPr>
      </p:sp>
      <p:sp>
        <p:nvSpPr>
          <p:cNvPr id="11" name="Text 7"/>
          <p:cNvSpPr/>
          <p:nvPr/>
        </p:nvSpPr>
        <p:spPr>
          <a:xfrm>
            <a:off x="1047750" y="4410621"/>
            <a:ext cx="4879213"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F7A8C"/>
                </a:solidFill>
                <a:latin typeface="Helvetica Neue" pitchFamily="34" charset="0"/>
                <a:ea typeface="Helvetica Neue" pitchFamily="34" charset="-122"/>
                <a:cs typeface="Helvetica Neue" pitchFamily="34" charset="-120"/>
              </a:rPr>
              <a:t>Real outliers</a:t>
            </a:r>
            <a:endParaRPr lang="en-US" sz="1700" dirty="0"/>
          </a:p>
        </p:txBody>
      </p:sp>
      <p:sp>
        <p:nvSpPr>
          <p:cNvPr id="12" name="Text 8"/>
          <p:cNvSpPr/>
          <p:nvPr/>
        </p:nvSpPr>
        <p:spPr>
          <a:xfrm>
            <a:off x="1047750" y="4745881"/>
            <a:ext cx="4879213"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0F1B33"/>
                </a:solidFill>
                <a:latin typeface="Helvetica Neue" pitchFamily="34" charset="0"/>
                <a:ea typeface="Helvetica Neue" pitchFamily="34" charset="-122"/>
                <a:cs typeface="Helvetica Neue" pitchFamily="34" charset="-120"/>
              </a:rPr>
              <a:t>Repair costs span 7 orders of magnitude (median $18,434, max $60M). We kept them and added a log version.</a:t>
            </a:r>
            <a:endParaRPr lang="en-US" sz="1400" dirty="0"/>
          </a:p>
        </p:txBody>
      </p:sp>
      <p:sp>
        <p:nvSpPr>
          <p:cNvPr id="13" name="Shape 9"/>
          <p:cNvSpPr/>
          <p:nvPr/>
        </p:nvSpPr>
        <p:spPr>
          <a:xfrm>
            <a:off x="6175375" y="4178846"/>
            <a:ext cx="5200650" cy="1278830"/>
          </a:xfrm>
          <a:prstGeom prst="roundRect">
            <a:avLst>
              <a:gd name="adj" fmla="val 7696"/>
            </a:avLst>
          </a:prstGeom>
          <a:solidFill>
            <a:srgbClr val="FFFFFF"/>
          </a:solidFill>
          <a:ln w="6350">
            <a:solidFill>
              <a:srgbClr val="DCD6C8"/>
            </a:solidFill>
            <a:prstDash val="solid"/>
          </a:ln>
        </p:spPr>
      </p:sp>
      <p:sp>
        <p:nvSpPr>
          <p:cNvPr id="14" name="Text 10"/>
          <p:cNvSpPr/>
          <p:nvPr/>
        </p:nvSpPr>
        <p:spPr>
          <a:xfrm>
            <a:off x="6407150" y="4410621"/>
            <a:ext cx="4879213"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F7A8C"/>
                </a:solidFill>
                <a:latin typeface="Helvetica Neue" pitchFamily="34" charset="0"/>
                <a:ea typeface="Helvetica Neue" pitchFamily="34" charset="-122"/>
                <a:cs typeface="Helvetica Neue" pitchFamily="34" charset="-120"/>
              </a:rPr>
              <a:t>Missingness as a shortcut</a:t>
            </a:r>
            <a:endParaRPr lang="en-US" sz="1700" dirty="0"/>
          </a:p>
        </p:txBody>
      </p:sp>
      <p:sp>
        <p:nvSpPr>
          <p:cNvPr id="15" name="Text 11"/>
          <p:cNvSpPr/>
          <p:nvPr/>
        </p:nvSpPr>
        <p:spPr>
          <a:xfrm>
            <a:off x="6407150" y="4745881"/>
            <a:ext cx="4879213"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0F1B33"/>
                </a:solidFill>
                <a:latin typeface="Helvetica Neue" pitchFamily="34" charset="0"/>
                <a:ea typeface="Helvetica Neue" pitchFamily="34" charset="-122"/>
                <a:cs typeface="Helvetica Neue" pitchFamily="34" charset="-120"/>
              </a:rPr>
              <a:t>Unknown-aircraft strikes looked 0.1% damaging vs 8.6%. On assessed rows only, the gap shrinks to 12.6% vs 9.6%.</a:t>
            </a:r>
            <a:endParaRPr lang="en-US" sz="1400" dirty="0"/>
          </a:p>
        </p:txBody>
      </p:sp>
      <p:sp>
        <p:nvSpPr>
          <p:cNvPr id="16" name="Text 1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372"/>
                </a:solidFill>
                <a:latin typeface="Helvetica Neue" pitchFamily="34" charset="0"/>
                <a:ea typeface="Helvetica Neue" pitchFamily="34" charset="-122"/>
                <a:cs typeface="Helvetica Neue" pitchFamily="34" charset="-120"/>
              </a:rPr>
              <a:t>Source: cleaning notebook</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2EA"/>
        </a:solidFill>
      </p:bgPr>
    </p:bg>
    <p:spTree>
      <p:nvGrpSpPr>
        <p:cNvPr id="1" name=""/>
        <p:cNvGrpSpPr/>
        <p:nvPr/>
      </p:nvGrpSpPr>
      <p:grpSpPr>
        <a:xfrm>
          <a:off x="0" y="0"/>
          <a:ext cx="0" cy="0"/>
          <a:chOff x="0" y="0"/>
          <a:chExt cx="0" cy="0"/>
        </a:xfrm>
      </p:grpSpPr>
      <p:sp>
        <p:nvSpPr>
          <p:cNvPr id="2" name="Text 0"/>
          <p:cNvSpPr/>
          <p:nvPr/>
        </p:nvSpPr>
        <p:spPr>
          <a:xfrm>
            <a:off x="812800" y="60960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E8892B"/>
                </a:solidFill>
                <a:latin typeface="Helvetica Neue" pitchFamily="34" charset="0"/>
                <a:ea typeface="Helvetica Neue" pitchFamily="34" charset="-122"/>
                <a:cs typeface="Helvetica Neue" pitchFamily="34" charset="-120"/>
              </a:rPr>
              <a:t>3 · EDA · 1 OF 6</a:t>
            </a:r>
            <a:endParaRPr lang="en-US" sz="1300" dirty="0"/>
          </a:p>
        </p:txBody>
      </p:sp>
      <p:sp>
        <p:nvSpPr>
          <p:cNvPr id="3" name="Text 1"/>
          <p:cNvSpPr/>
          <p:nvPr>
            <p:ph type="title"/>
          </p:nvPr>
        </p:nvSpPr>
        <p:spPr>
          <a:xfrm>
            <a:off x="812800" y="1069330"/>
            <a:ext cx="10883392" cy="374650"/>
          </a:xfrm>
          <a:prstGeom prst="rect">
            <a:avLst/>
          </a:prstGeom>
          <a:noFill/>
          <a:ln/>
        </p:spPr>
        <p:txBody>
          <a:bodyPr wrap="square" lIns="0" tIns="0" rIns="0" bIns="0" rtlCol="0" anchor="t">
            <a:normAutofit/>
          </a:bodyPr>
          <a:lstStyle/>
          <a:p>
            <a:pPr algn="l" indent="0" marL="0">
              <a:lnSpc>
                <a:spcPts val="2750"/>
              </a:lnSpc>
              <a:buNone/>
            </a:pPr>
            <a:r>
              <a:rPr lang="en-US" sz="2500" b="1" i="0" dirty="0">
                <a:solidFill>
                  <a:srgbClr val="0F1B33"/>
                </a:solidFill>
                <a:latin typeface="Source Serif 4" pitchFamily="18" charset="0"/>
                <a:ea typeface="Source Serif 4" pitchFamily="18" charset="-122"/>
                <a:cs typeface="Source Serif 4" pitchFamily="18" charset="-120"/>
              </a:rPr>
              <a:t>Reports grew 7.9x, but damaging strikes barely grew</a:t>
            </a:r>
            <a:endParaRPr lang="en-US" sz="2500" dirty="0"/>
          </a:p>
        </p:txBody>
      </p:sp>
      <p:sp>
        <p:nvSpPr>
          <p:cNvPr id="4" name="Shape 2"/>
          <p:cNvSpPr/>
          <p:nvPr/>
        </p:nvSpPr>
        <p:spPr>
          <a:xfrm>
            <a:off x="812800" y="1647180"/>
            <a:ext cx="5080000" cy="3517900"/>
          </a:xfrm>
          <a:prstGeom prst="roundRect">
            <a:avLst>
              <a:gd name="adj" fmla="val 2166"/>
            </a:avLst>
          </a:prstGeom>
          <a:solidFill>
            <a:srgbClr val="FFFFFF"/>
          </a:solidFill>
          <a:ln/>
        </p:spPr>
      </p:sp>
      <p:pic>
        <p:nvPicPr>
          <p:cNvPr id="5" name="Image 0" descr="EDA chart e2">    </p:cNvPr>
          <p:cNvPicPr>
            <a:picLocks noChangeAspect="1"/>
          </p:cNvPicPr>
          <p:nvPr/>
        </p:nvPicPr>
        <p:blipFill>
          <a:blip r:embed="rId1"/>
          <a:srcRect l="-117" r="-117" t="0" b="0"/>
          <a:stretch/>
        </p:blipFill>
        <p:spPr>
          <a:xfrm>
            <a:off x="819150" y="1653530"/>
            <a:ext cx="5067300" cy="3505200"/>
          </a:xfrm>
          <a:prstGeom prst="roundRect">
            <a:avLst>
              <a:gd name="adj" fmla="val 1993"/>
            </a:avLst>
          </a:prstGeom>
        </p:spPr>
      </p:pic>
      <p:sp>
        <p:nvSpPr>
          <p:cNvPr id="6" name="Shape 3"/>
          <p:cNvSpPr/>
          <p:nvPr/>
        </p:nvSpPr>
        <p:spPr>
          <a:xfrm>
            <a:off x="815975" y="1650355"/>
            <a:ext cx="5073650" cy="3511550"/>
          </a:xfrm>
          <a:prstGeom prst="roundRect">
            <a:avLst>
              <a:gd name="adj" fmla="val 2080"/>
            </a:avLst>
          </a:prstGeom>
          <a:noFill/>
          <a:ln w="6350">
            <a:solidFill>
              <a:srgbClr val="DCD6C8"/>
            </a:solidFill>
            <a:prstDash val="solid"/>
          </a:ln>
        </p:spPr>
      </p:sp>
      <p:sp>
        <p:nvSpPr>
          <p:cNvPr id="7" name="Text 4"/>
          <p:cNvSpPr/>
          <p:nvPr/>
        </p:nvSpPr>
        <p:spPr>
          <a:xfrm>
            <a:off x="6146800" y="1647180"/>
            <a:ext cx="5389372" cy="508000"/>
          </a:xfrm>
          <a:prstGeom prst="rect">
            <a:avLst/>
          </a:prstGeom>
          <a:noFill/>
          <a:ln/>
        </p:spPr>
        <p:txBody>
          <a:bodyPr wrap="square" lIns="0" tIns="0" rIns="0" bIns="0" rtlCol="0" anchor="t">
            <a:normAutofit/>
          </a:bodyPr>
          <a:lstStyle/>
          <a:p>
            <a:pPr algn="l" indent="0" marL="0">
              <a:lnSpc>
                <a:spcPts val="3800"/>
              </a:lnSpc>
              <a:buNone/>
            </a:pPr>
            <a:r>
              <a:rPr lang="en-US" sz="3800" b="1" dirty="0">
                <a:solidFill>
                  <a:srgbClr val="E8892B"/>
                </a:solidFill>
                <a:latin typeface="Source Serif 4" pitchFamily="18" charset="0"/>
                <a:ea typeface="Source Serif 4" pitchFamily="18" charset="-122"/>
                <a:cs typeface="Source Serif 4" pitchFamily="18" charset="-120"/>
              </a:rPr>
              <a:t>15.9% to 3.9%</a:t>
            </a:r>
            <a:endParaRPr lang="en-US" sz="3800" dirty="0"/>
          </a:p>
        </p:txBody>
      </p:sp>
      <p:sp>
        <p:nvSpPr>
          <p:cNvPr id="8" name="Text 5"/>
          <p:cNvSpPr/>
          <p:nvPr/>
        </p:nvSpPr>
        <p:spPr>
          <a:xfrm>
            <a:off x="6146800" y="2269480"/>
            <a:ext cx="5389372" cy="719683"/>
          </a:xfrm>
          <a:prstGeom prst="rect">
            <a:avLst/>
          </a:prstGeom>
          <a:noFill/>
          <a:ln/>
        </p:spPr>
        <p:txBody>
          <a:bodyPr wrap="square" lIns="0" tIns="0" rIns="0" bIns="0" rtlCol="0" anchor="t">
            <a:normAutofit/>
          </a:bodyPr>
          <a:lstStyle/>
          <a:p>
            <a:pPr algn="l" indent="0" marL="0">
              <a:lnSpc>
                <a:spcPts val="1823"/>
              </a:lnSpc>
              <a:buNone/>
            </a:pPr>
            <a:r>
              <a:rPr lang="en-US" sz="1350" dirty="0">
                <a:solidFill>
                  <a:srgbClr val="0F1B33"/>
                </a:solidFill>
                <a:latin typeface="Helvetica Neue" pitchFamily="34" charset="0"/>
                <a:ea typeface="Helvetica Neue" pitchFamily="34" charset="-122"/>
                <a:cs typeface="Helvetica Neue" pitchFamily="34" charset="-120"/>
              </a:rPr>
              <a:t>Nearly all growth is minor, no-damage strikes (9.0x vs 1.9x for damaging), likely better reporting. The damage rate fell from 15.9% to 3.9%.</a:t>
            </a:r>
            <a:endParaRPr lang="en-US" sz="1350" dirty="0"/>
          </a:p>
        </p:txBody>
      </p:sp>
      <p:sp>
        <p:nvSpPr>
          <p:cNvPr id="9" name="Shape 6"/>
          <p:cNvSpPr/>
          <p:nvPr/>
        </p:nvSpPr>
        <p:spPr>
          <a:xfrm>
            <a:off x="6146800" y="3103463"/>
            <a:ext cx="5232400" cy="707330"/>
          </a:xfrm>
          <a:prstGeom prst="roundRect">
            <a:avLst>
              <a:gd name="adj" fmla="val 10773"/>
            </a:avLst>
          </a:prstGeom>
          <a:solidFill>
            <a:srgbClr val="0F1B33"/>
          </a:solidFill>
          <a:ln/>
        </p:spPr>
      </p:sp>
      <p:sp>
        <p:nvSpPr>
          <p:cNvPr id="10" name="Text 7"/>
          <p:cNvSpPr/>
          <p:nvPr/>
        </p:nvSpPr>
        <p:spPr>
          <a:xfrm>
            <a:off x="6286500" y="3243163"/>
            <a:ext cx="510159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2A66B"/>
                </a:solidFill>
                <a:latin typeface="Helvetica Neue" pitchFamily="34" charset="0"/>
                <a:ea typeface="Helvetica Neue" pitchFamily="34" charset="-122"/>
                <a:cs typeface="Helvetica Neue" pitchFamily="34" charset="-120"/>
              </a:rPr>
              <a:t>EDA DECISION</a:t>
            </a:r>
            <a:endParaRPr lang="en-US" sz="1200" dirty="0"/>
          </a:p>
        </p:txBody>
      </p:sp>
      <p:sp>
        <p:nvSpPr>
          <p:cNvPr id="11" name="Text 8"/>
          <p:cNvSpPr/>
          <p:nvPr/>
        </p:nvSpPr>
        <p:spPr>
          <a:xfrm>
            <a:off x="6286500" y="3456484"/>
            <a:ext cx="5101590"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F5F2EA"/>
                </a:solidFill>
                <a:latin typeface="Helvetica Neue" pitchFamily="34" charset="0"/>
                <a:ea typeface="Helvetica Neue" pitchFamily="34" charset="-122"/>
                <a:cs typeface="Helvetica Neue" pitchFamily="34" charset="-120"/>
              </a:rPr>
              <a:t>Compare rates, not counts. Split train and test by time.</a:t>
            </a:r>
            <a:endParaRPr lang="en-US" sz="1300" dirty="0"/>
          </a:p>
        </p:txBody>
      </p:sp>
      <p:sp>
        <p:nvSpPr>
          <p:cNvPr id="12" name="Text 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372"/>
                </a:solidFill>
                <a:latin typeface="Helvetica Neue" pitchFamily="34" charset="0"/>
                <a:ea typeface="Helvetica Neue" pitchFamily="34" charset="-122"/>
                <a:cs typeface="Helvetica Neue" pitchFamily="34" charset="-120"/>
              </a:rPr>
              <a:t>Source: WILDLIFE_EDA notebook</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2EA"/>
        </a:solidFill>
      </p:bgPr>
    </p:bg>
    <p:spTree>
      <p:nvGrpSpPr>
        <p:cNvPr id="1" name=""/>
        <p:cNvGrpSpPr/>
        <p:nvPr/>
      </p:nvGrpSpPr>
      <p:grpSpPr>
        <a:xfrm>
          <a:off x="0" y="0"/>
          <a:ext cx="0" cy="0"/>
          <a:chOff x="0" y="0"/>
          <a:chExt cx="0" cy="0"/>
        </a:xfrm>
      </p:grpSpPr>
      <p:sp>
        <p:nvSpPr>
          <p:cNvPr id="2" name="Text 0"/>
          <p:cNvSpPr/>
          <p:nvPr/>
        </p:nvSpPr>
        <p:spPr>
          <a:xfrm>
            <a:off x="812800" y="60960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E8892B"/>
                </a:solidFill>
                <a:latin typeface="Helvetica Neue" pitchFamily="34" charset="0"/>
                <a:ea typeface="Helvetica Neue" pitchFamily="34" charset="-122"/>
                <a:cs typeface="Helvetica Neue" pitchFamily="34" charset="-120"/>
              </a:rPr>
              <a:t>3 · EDA · 2 OF 6</a:t>
            </a:r>
            <a:endParaRPr lang="en-US" sz="1300" dirty="0"/>
          </a:p>
        </p:txBody>
      </p:sp>
      <p:sp>
        <p:nvSpPr>
          <p:cNvPr id="3" name="Text 1"/>
          <p:cNvSpPr/>
          <p:nvPr>
            <p:ph type="title"/>
          </p:nvPr>
        </p:nvSpPr>
        <p:spPr>
          <a:xfrm>
            <a:off x="812800" y="1069330"/>
            <a:ext cx="10883392" cy="374650"/>
          </a:xfrm>
          <a:prstGeom prst="rect">
            <a:avLst/>
          </a:prstGeom>
          <a:noFill/>
          <a:ln/>
        </p:spPr>
        <p:txBody>
          <a:bodyPr wrap="square" lIns="0" tIns="0" rIns="0" bIns="0" rtlCol="0" anchor="t">
            <a:normAutofit/>
          </a:bodyPr>
          <a:lstStyle/>
          <a:p>
            <a:pPr algn="l" indent="0" marL="0">
              <a:lnSpc>
                <a:spcPts val="2750"/>
              </a:lnSpc>
              <a:buNone/>
            </a:pPr>
            <a:r>
              <a:rPr lang="en-US" sz="2500" b="1" i="0" dirty="0">
                <a:solidFill>
                  <a:srgbClr val="0F1B33"/>
                </a:solidFill>
                <a:latin typeface="Source Serif 4" pitchFamily="18" charset="0"/>
                <a:ea typeface="Source Serif 4" pitchFamily="18" charset="-122"/>
                <a:cs typeface="Source Serif 4" pitchFamily="18" charset="-120"/>
              </a:rPr>
              <a:t>Strikes away from the runway are far more damaging</a:t>
            </a:r>
            <a:endParaRPr lang="en-US" sz="2500" dirty="0"/>
          </a:p>
        </p:txBody>
      </p:sp>
      <p:sp>
        <p:nvSpPr>
          <p:cNvPr id="4" name="Shape 2"/>
          <p:cNvSpPr/>
          <p:nvPr/>
        </p:nvSpPr>
        <p:spPr>
          <a:xfrm>
            <a:off x="812800" y="1647180"/>
            <a:ext cx="4826000" cy="3651250"/>
          </a:xfrm>
          <a:prstGeom prst="roundRect">
            <a:avLst>
              <a:gd name="adj" fmla="val 2087"/>
            </a:avLst>
          </a:prstGeom>
          <a:solidFill>
            <a:srgbClr val="FFFFFF"/>
          </a:solidFill>
          <a:ln/>
        </p:spPr>
      </p:sp>
      <p:pic>
        <p:nvPicPr>
          <p:cNvPr id="5" name="Image 0" descr="EDA chart e4">    </p:cNvPr>
          <p:cNvPicPr>
            <a:picLocks noChangeAspect="1"/>
          </p:cNvPicPr>
          <p:nvPr/>
        </p:nvPicPr>
        <p:blipFill>
          <a:blip r:embed="rId1"/>
          <a:srcRect l="-113" r="-113" t="0" b="0"/>
          <a:stretch/>
        </p:blipFill>
        <p:spPr>
          <a:xfrm>
            <a:off x="819150" y="1653530"/>
            <a:ext cx="4813300" cy="3638550"/>
          </a:xfrm>
          <a:prstGeom prst="roundRect">
            <a:avLst>
              <a:gd name="adj" fmla="val 1920"/>
            </a:avLst>
          </a:prstGeom>
        </p:spPr>
      </p:pic>
      <p:sp>
        <p:nvSpPr>
          <p:cNvPr id="6" name="Shape 3"/>
          <p:cNvSpPr/>
          <p:nvPr/>
        </p:nvSpPr>
        <p:spPr>
          <a:xfrm>
            <a:off x="815975" y="1650355"/>
            <a:ext cx="4819650" cy="3644900"/>
          </a:xfrm>
          <a:prstGeom prst="roundRect">
            <a:avLst>
              <a:gd name="adj" fmla="val 2003"/>
            </a:avLst>
          </a:prstGeom>
          <a:noFill/>
          <a:ln w="6350">
            <a:solidFill>
              <a:srgbClr val="DCD6C8"/>
            </a:solidFill>
            <a:prstDash val="solid"/>
          </a:ln>
        </p:spPr>
      </p:sp>
      <p:sp>
        <p:nvSpPr>
          <p:cNvPr id="7" name="Text 4"/>
          <p:cNvSpPr/>
          <p:nvPr/>
        </p:nvSpPr>
        <p:spPr>
          <a:xfrm>
            <a:off x="5892800" y="1647180"/>
            <a:ext cx="5650992" cy="508000"/>
          </a:xfrm>
          <a:prstGeom prst="rect">
            <a:avLst/>
          </a:prstGeom>
          <a:noFill/>
          <a:ln/>
        </p:spPr>
        <p:txBody>
          <a:bodyPr wrap="square" lIns="0" tIns="0" rIns="0" bIns="0" rtlCol="0" anchor="t">
            <a:normAutofit/>
          </a:bodyPr>
          <a:lstStyle/>
          <a:p>
            <a:pPr algn="l" indent="0" marL="0">
              <a:lnSpc>
                <a:spcPts val="3800"/>
              </a:lnSpc>
              <a:buNone/>
            </a:pPr>
            <a:r>
              <a:rPr lang="en-US" sz="3800" b="1" dirty="0">
                <a:solidFill>
                  <a:srgbClr val="E8892B"/>
                </a:solidFill>
                <a:latin typeface="Source Serif 4" pitchFamily="18" charset="0"/>
                <a:ea typeface="Source Serif 4" pitchFamily="18" charset="-122"/>
                <a:cs typeface="Source Serif 4" pitchFamily="18" charset="-120"/>
              </a:rPr>
              <a:t>29.2% en route</a:t>
            </a:r>
            <a:endParaRPr lang="en-US" sz="3800" dirty="0"/>
          </a:p>
        </p:txBody>
      </p:sp>
      <p:sp>
        <p:nvSpPr>
          <p:cNvPr id="8" name="Text 5"/>
          <p:cNvSpPr/>
          <p:nvPr/>
        </p:nvSpPr>
        <p:spPr>
          <a:xfrm>
            <a:off x="5892800" y="2269480"/>
            <a:ext cx="5650992" cy="719683"/>
          </a:xfrm>
          <a:prstGeom prst="rect">
            <a:avLst/>
          </a:prstGeom>
          <a:noFill/>
          <a:ln/>
        </p:spPr>
        <p:txBody>
          <a:bodyPr wrap="square" lIns="0" tIns="0" rIns="0" bIns="0" rtlCol="0" anchor="t">
            <a:normAutofit/>
          </a:bodyPr>
          <a:lstStyle/>
          <a:p>
            <a:pPr algn="l" indent="0" marL="0">
              <a:lnSpc>
                <a:spcPts val="1823"/>
              </a:lnSpc>
              <a:buNone/>
            </a:pPr>
            <a:r>
              <a:rPr lang="en-US" sz="1350" dirty="0">
                <a:solidFill>
                  <a:srgbClr val="0F1B33"/>
                </a:solidFill>
                <a:latin typeface="Helvetica Neue" pitchFamily="34" charset="0"/>
                <a:ea typeface="Helvetica Neue" pitchFamily="34" charset="-122"/>
                <a:cs typeface="Helvetica Neue" pitchFamily="34" charset="-120"/>
              </a:rPr>
              <a:t>92% of strikes happen near the runway, but en route strikes damage 29.2% of the time, about 5x average. Climb and descent are about 14%.</a:t>
            </a:r>
            <a:endParaRPr lang="en-US" sz="1350" dirty="0"/>
          </a:p>
        </p:txBody>
      </p:sp>
      <p:sp>
        <p:nvSpPr>
          <p:cNvPr id="9" name="Shape 6"/>
          <p:cNvSpPr/>
          <p:nvPr/>
        </p:nvSpPr>
        <p:spPr>
          <a:xfrm>
            <a:off x="5892800" y="3103463"/>
            <a:ext cx="5486400" cy="707330"/>
          </a:xfrm>
          <a:prstGeom prst="roundRect">
            <a:avLst>
              <a:gd name="adj" fmla="val 10773"/>
            </a:avLst>
          </a:prstGeom>
          <a:solidFill>
            <a:srgbClr val="0F1B33"/>
          </a:solidFill>
          <a:ln/>
        </p:spPr>
      </p:sp>
      <p:sp>
        <p:nvSpPr>
          <p:cNvPr id="10" name="Text 7"/>
          <p:cNvSpPr/>
          <p:nvPr/>
        </p:nvSpPr>
        <p:spPr>
          <a:xfrm>
            <a:off x="6032500" y="3243163"/>
            <a:ext cx="53632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2A66B"/>
                </a:solidFill>
                <a:latin typeface="Helvetica Neue" pitchFamily="34" charset="0"/>
                <a:ea typeface="Helvetica Neue" pitchFamily="34" charset="-122"/>
                <a:cs typeface="Helvetica Neue" pitchFamily="34" charset="-120"/>
              </a:rPr>
              <a:t>EDA DECISION</a:t>
            </a:r>
            <a:endParaRPr lang="en-US" sz="1200" dirty="0"/>
          </a:p>
        </p:txBody>
      </p:sp>
      <p:sp>
        <p:nvSpPr>
          <p:cNvPr id="11" name="Text 8"/>
          <p:cNvSpPr/>
          <p:nvPr/>
        </p:nvSpPr>
        <p:spPr>
          <a:xfrm>
            <a:off x="6032500" y="3456484"/>
            <a:ext cx="5363210"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F5F2EA"/>
                </a:solidFill>
                <a:latin typeface="Helvetica Neue" pitchFamily="34" charset="0"/>
                <a:ea typeface="Helvetica Neue" pitchFamily="34" charset="-122"/>
                <a:cs typeface="Helvetica Neue" pitchFamily="34" charset="-120"/>
              </a:rPr>
              <a:t>Keep phase of flight as a feature.</a:t>
            </a:r>
            <a:endParaRPr lang="en-US" sz="1300" dirty="0"/>
          </a:p>
        </p:txBody>
      </p:sp>
      <p:sp>
        <p:nvSpPr>
          <p:cNvPr id="12" name="Text 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372"/>
                </a:solidFill>
                <a:latin typeface="Helvetica Neue" pitchFamily="34" charset="0"/>
                <a:ea typeface="Helvetica Neue" pitchFamily="34" charset="-122"/>
                <a:cs typeface="Helvetica Neue" pitchFamily="34" charset="-120"/>
              </a:rPr>
              <a:t>Source: WILDLIFE_EDA notebook</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2EA"/>
        </a:solidFill>
      </p:bgPr>
    </p:bg>
    <p:spTree>
      <p:nvGrpSpPr>
        <p:cNvPr id="1" name=""/>
        <p:cNvGrpSpPr/>
        <p:nvPr/>
      </p:nvGrpSpPr>
      <p:grpSpPr>
        <a:xfrm>
          <a:off x="0" y="0"/>
          <a:ext cx="0" cy="0"/>
          <a:chOff x="0" y="0"/>
          <a:chExt cx="0" cy="0"/>
        </a:xfrm>
      </p:grpSpPr>
      <p:sp>
        <p:nvSpPr>
          <p:cNvPr id="2" name="Text 0"/>
          <p:cNvSpPr/>
          <p:nvPr/>
        </p:nvSpPr>
        <p:spPr>
          <a:xfrm>
            <a:off x="812800" y="60960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E8892B"/>
                </a:solidFill>
                <a:latin typeface="Helvetica Neue" pitchFamily="34" charset="0"/>
                <a:ea typeface="Helvetica Neue" pitchFamily="34" charset="-122"/>
                <a:cs typeface="Helvetica Neue" pitchFamily="34" charset="-120"/>
              </a:rPr>
              <a:t>3 · EDA · 3 OF 6</a:t>
            </a:r>
            <a:endParaRPr lang="en-US" sz="1300" dirty="0"/>
          </a:p>
        </p:txBody>
      </p:sp>
      <p:sp>
        <p:nvSpPr>
          <p:cNvPr id="3" name="Text 1"/>
          <p:cNvSpPr/>
          <p:nvPr>
            <p:ph type="title"/>
          </p:nvPr>
        </p:nvSpPr>
        <p:spPr>
          <a:xfrm>
            <a:off x="812800" y="1069330"/>
            <a:ext cx="10883392" cy="374650"/>
          </a:xfrm>
          <a:prstGeom prst="rect">
            <a:avLst/>
          </a:prstGeom>
          <a:noFill/>
          <a:ln/>
        </p:spPr>
        <p:txBody>
          <a:bodyPr wrap="square" lIns="0" tIns="0" rIns="0" bIns="0" rtlCol="0" anchor="t">
            <a:normAutofit/>
          </a:bodyPr>
          <a:lstStyle/>
          <a:p>
            <a:pPr algn="l" indent="0" marL="0">
              <a:lnSpc>
                <a:spcPts val="2750"/>
              </a:lnSpc>
              <a:buNone/>
            </a:pPr>
            <a:r>
              <a:rPr lang="en-US" sz="2500" b="1" i="0" dirty="0">
                <a:solidFill>
                  <a:srgbClr val="0F1B33"/>
                </a:solidFill>
                <a:latin typeface="Source Serif 4" pitchFamily="18" charset="0"/>
                <a:ea typeface="Source Serif 4" pitchFamily="18" charset="-122"/>
                <a:cs typeface="Source Serif 4" pitchFamily="18" charset="-120"/>
              </a:rPr>
              <a:t>The most common species are rarely the dangerous ones</a:t>
            </a:r>
            <a:endParaRPr lang="en-US" sz="2500" dirty="0"/>
          </a:p>
        </p:txBody>
      </p:sp>
      <p:sp>
        <p:nvSpPr>
          <p:cNvPr id="4" name="Shape 2"/>
          <p:cNvSpPr/>
          <p:nvPr/>
        </p:nvSpPr>
        <p:spPr>
          <a:xfrm>
            <a:off x="812800" y="1647180"/>
            <a:ext cx="5073650" cy="3663950"/>
          </a:xfrm>
          <a:prstGeom prst="roundRect">
            <a:avLst>
              <a:gd name="adj" fmla="val 2080"/>
            </a:avLst>
          </a:prstGeom>
          <a:solidFill>
            <a:srgbClr val="FFFFFF"/>
          </a:solidFill>
          <a:ln/>
        </p:spPr>
      </p:sp>
      <p:pic>
        <p:nvPicPr>
          <p:cNvPr id="5" name="Image 0" descr="Species damage rate and frequency">    </p:cNvPr>
          <p:cNvPicPr>
            <a:picLocks noChangeAspect="1"/>
          </p:cNvPicPr>
          <p:nvPr/>
        </p:nvPicPr>
        <p:blipFill>
          <a:blip r:embed="rId1"/>
          <a:srcRect l="-41" r="-41" t="0" b="0"/>
          <a:stretch/>
        </p:blipFill>
        <p:spPr>
          <a:xfrm>
            <a:off x="819150" y="1653530"/>
            <a:ext cx="5060950" cy="3651250"/>
          </a:xfrm>
          <a:prstGeom prst="roundRect">
            <a:avLst>
              <a:gd name="adj" fmla="val 1913"/>
            </a:avLst>
          </a:prstGeom>
        </p:spPr>
      </p:pic>
      <p:sp>
        <p:nvSpPr>
          <p:cNvPr id="6" name="Shape 3"/>
          <p:cNvSpPr/>
          <p:nvPr/>
        </p:nvSpPr>
        <p:spPr>
          <a:xfrm>
            <a:off x="815975" y="1650355"/>
            <a:ext cx="5067300" cy="3657600"/>
          </a:xfrm>
          <a:prstGeom prst="roundRect">
            <a:avLst>
              <a:gd name="adj" fmla="val 1997"/>
            </a:avLst>
          </a:prstGeom>
          <a:noFill/>
          <a:ln w="6350">
            <a:solidFill>
              <a:srgbClr val="DCD6C8"/>
            </a:solidFill>
            <a:prstDash val="solid"/>
          </a:ln>
        </p:spPr>
      </p:sp>
      <p:sp>
        <p:nvSpPr>
          <p:cNvPr id="7" name="Text 4"/>
          <p:cNvSpPr/>
          <p:nvPr/>
        </p:nvSpPr>
        <p:spPr>
          <a:xfrm>
            <a:off x="6140450" y="1647180"/>
            <a:ext cx="5395913" cy="508000"/>
          </a:xfrm>
          <a:prstGeom prst="rect">
            <a:avLst/>
          </a:prstGeom>
          <a:noFill/>
          <a:ln/>
        </p:spPr>
        <p:txBody>
          <a:bodyPr wrap="square" lIns="0" tIns="0" rIns="0" bIns="0" rtlCol="0" anchor="t">
            <a:normAutofit/>
          </a:bodyPr>
          <a:lstStyle/>
          <a:p>
            <a:pPr algn="l" indent="0" marL="0">
              <a:lnSpc>
                <a:spcPts val="3800"/>
              </a:lnSpc>
              <a:buNone/>
            </a:pPr>
            <a:r>
              <a:rPr lang="en-US" sz="3800" b="1" dirty="0">
                <a:solidFill>
                  <a:srgbClr val="E8892B"/>
                </a:solidFill>
                <a:latin typeface="Source Serif 4" pitchFamily="18" charset="0"/>
                <a:ea typeface="Source Serif 4" pitchFamily="18" charset="-122"/>
                <a:cs typeface="Source Serif 4" pitchFamily="18" charset="-120"/>
              </a:rPr>
              <a:t>82% deer</a:t>
            </a:r>
            <a:endParaRPr lang="en-US" sz="3800" dirty="0"/>
          </a:p>
        </p:txBody>
      </p:sp>
      <p:sp>
        <p:nvSpPr>
          <p:cNvPr id="8" name="Text 5"/>
          <p:cNvSpPr/>
          <p:nvPr/>
        </p:nvSpPr>
        <p:spPr>
          <a:xfrm>
            <a:off x="6140450" y="2269480"/>
            <a:ext cx="5395913" cy="488255"/>
          </a:xfrm>
          <a:prstGeom prst="rect">
            <a:avLst/>
          </a:prstGeom>
          <a:noFill/>
          <a:ln/>
        </p:spPr>
        <p:txBody>
          <a:bodyPr wrap="square" lIns="0" tIns="0" rIns="0" bIns="0" rtlCol="0" anchor="t">
            <a:normAutofit/>
          </a:bodyPr>
          <a:lstStyle/>
          <a:p>
            <a:pPr algn="l" indent="0" marL="0">
              <a:lnSpc>
                <a:spcPts val="1823"/>
              </a:lnSpc>
              <a:buNone/>
            </a:pPr>
            <a:r>
              <a:rPr lang="en-US" sz="1350" dirty="0">
                <a:solidFill>
                  <a:srgbClr val="0F1B33"/>
                </a:solidFill>
                <a:latin typeface="Helvetica Neue" pitchFamily="34" charset="0"/>
                <a:ea typeface="Helvetica Neue" pitchFamily="34" charset="-122"/>
                <a:cs typeface="Helvetica Neue" pitchFamily="34" charset="-120"/>
              </a:rPr>
              <a:t>Mourning doves are struck most (18,687) but damage only 1.8%. White-tailed deer damage 82%, geese 52%, turkey vultures 46%.</a:t>
            </a:r>
            <a:endParaRPr lang="en-US" sz="1350" dirty="0"/>
          </a:p>
        </p:txBody>
      </p:sp>
      <p:sp>
        <p:nvSpPr>
          <p:cNvPr id="9" name="Shape 6"/>
          <p:cNvSpPr/>
          <p:nvPr/>
        </p:nvSpPr>
        <p:spPr>
          <a:xfrm>
            <a:off x="6140450" y="2872036"/>
            <a:ext cx="5238750" cy="707330"/>
          </a:xfrm>
          <a:prstGeom prst="roundRect">
            <a:avLst>
              <a:gd name="adj" fmla="val 10773"/>
            </a:avLst>
          </a:prstGeom>
          <a:solidFill>
            <a:srgbClr val="0F1B33"/>
          </a:solidFill>
          <a:ln/>
        </p:spPr>
      </p:sp>
      <p:sp>
        <p:nvSpPr>
          <p:cNvPr id="10" name="Text 7"/>
          <p:cNvSpPr/>
          <p:nvPr/>
        </p:nvSpPr>
        <p:spPr>
          <a:xfrm>
            <a:off x="6280150" y="3011736"/>
            <a:ext cx="510813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2A66B"/>
                </a:solidFill>
                <a:latin typeface="Helvetica Neue" pitchFamily="34" charset="0"/>
                <a:ea typeface="Helvetica Neue" pitchFamily="34" charset="-122"/>
                <a:cs typeface="Helvetica Neue" pitchFamily="34" charset="-120"/>
              </a:rPr>
              <a:t>EDA DECISION</a:t>
            </a:r>
            <a:endParaRPr lang="en-US" sz="1200" dirty="0"/>
          </a:p>
        </p:txBody>
      </p:sp>
      <p:sp>
        <p:nvSpPr>
          <p:cNvPr id="11" name="Text 8"/>
          <p:cNvSpPr/>
          <p:nvPr/>
        </p:nvSpPr>
        <p:spPr>
          <a:xfrm>
            <a:off x="6280150" y="3225056"/>
            <a:ext cx="5108131"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F5F2EA"/>
                </a:solidFill>
                <a:latin typeface="Helvetica Neue" pitchFamily="34" charset="0"/>
                <a:ea typeface="Helvetica Neue" pitchFamily="34" charset="-122"/>
                <a:cs typeface="Helvetica Neue" pitchFamily="34" charset="-120"/>
              </a:rPr>
              <a:t>Group species into risk tiers; encode using training data only.</a:t>
            </a:r>
            <a:endParaRPr lang="en-US" sz="1300" dirty="0"/>
          </a:p>
        </p:txBody>
      </p:sp>
      <p:sp>
        <p:nvSpPr>
          <p:cNvPr id="12" name="Text 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372"/>
                </a:solidFill>
                <a:latin typeface="Helvetica Neue" pitchFamily="34" charset="0"/>
                <a:ea typeface="Helvetica Neue" pitchFamily="34" charset="-122"/>
                <a:cs typeface="Helvetica Neue" pitchFamily="34" charset="-120"/>
              </a:rPr>
              <a:t>Source: WILDLIFE_EDA notebook</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2EA"/>
        </a:solidFill>
      </p:bgPr>
    </p:bg>
    <p:spTree>
      <p:nvGrpSpPr>
        <p:cNvPr id="1" name=""/>
        <p:cNvGrpSpPr/>
        <p:nvPr/>
      </p:nvGrpSpPr>
      <p:grpSpPr>
        <a:xfrm>
          <a:off x="0" y="0"/>
          <a:ext cx="0" cy="0"/>
          <a:chOff x="0" y="0"/>
          <a:chExt cx="0" cy="0"/>
        </a:xfrm>
      </p:grpSpPr>
      <p:sp>
        <p:nvSpPr>
          <p:cNvPr id="2" name="Text 0"/>
          <p:cNvSpPr/>
          <p:nvPr/>
        </p:nvSpPr>
        <p:spPr>
          <a:xfrm>
            <a:off x="812800" y="60960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E8892B"/>
                </a:solidFill>
                <a:latin typeface="Helvetica Neue" pitchFamily="34" charset="0"/>
                <a:ea typeface="Helvetica Neue" pitchFamily="34" charset="-122"/>
                <a:cs typeface="Helvetica Neue" pitchFamily="34" charset="-120"/>
              </a:rPr>
              <a:t>3 · EDA · 4 OF 6</a:t>
            </a:r>
            <a:endParaRPr lang="en-US" sz="1300" dirty="0"/>
          </a:p>
        </p:txBody>
      </p:sp>
      <p:sp>
        <p:nvSpPr>
          <p:cNvPr id="3" name="Text 1"/>
          <p:cNvSpPr/>
          <p:nvPr>
            <p:ph type="title"/>
          </p:nvPr>
        </p:nvSpPr>
        <p:spPr>
          <a:xfrm>
            <a:off x="812800" y="1069330"/>
            <a:ext cx="10883392" cy="374650"/>
          </a:xfrm>
          <a:prstGeom prst="rect">
            <a:avLst/>
          </a:prstGeom>
          <a:noFill/>
          <a:ln/>
        </p:spPr>
        <p:txBody>
          <a:bodyPr wrap="square" lIns="0" tIns="0" rIns="0" bIns="0" rtlCol="0" anchor="t">
            <a:normAutofit/>
          </a:bodyPr>
          <a:lstStyle/>
          <a:p>
            <a:pPr algn="l" indent="0" marL="0">
              <a:lnSpc>
                <a:spcPts val="2750"/>
              </a:lnSpc>
              <a:buNone/>
            </a:pPr>
            <a:r>
              <a:rPr lang="en-US" sz="2500" b="1" i="0" dirty="0">
                <a:solidFill>
                  <a:srgbClr val="0F1B33"/>
                </a:solidFill>
                <a:latin typeface="Source Serif 4" pitchFamily="18" charset="0"/>
                <a:ea typeface="Source Serif 4" pitchFamily="18" charset="-122"/>
                <a:cs typeface="Source Serif 4" pitchFamily="18" charset="-120"/>
              </a:rPr>
              <a:t>Wings and engines take most of the damage</a:t>
            </a:r>
            <a:endParaRPr lang="en-US" sz="2500" dirty="0"/>
          </a:p>
        </p:txBody>
      </p:sp>
      <p:sp>
        <p:nvSpPr>
          <p:cNvPr id="4" name="Shape 2"/>
          <p:cNvSpPr/>
          <p:nvPr/>
        </p:nvSpPr>
        <p:spPr>
          <a:xfrm>
            <a:off x="812800" y="1647180"/>
            <a:ext cx="6350000" cy="3810000"/>
          </a:xfrm>
          <a:prstGeom prst="roundRect">
            <a:avLst>
              <a:gd name="adj" fmla="val 2000"/>
            </a:avLst>
          </a:prstGeom>
          <a:solidFill>
            <a:srgbClr val="FFFFFF"/>
          </a:solidFill>
          <a:ln/>
        </p:spPr>
      </p:sp>
      <p:pic>
        <p:nvPicPr>
          <p:cNvPr id="5" name="Image 0" descr="Damaged aircraft parts">    </p:cNvPr>
          <p:cNvPicPr>
            <a:picLocks noChangeAspect="1"/>
          </p:cNvPicPr>
          <p:nvPr/>
        </p:nvPicPr>
        <p:blipFill>
          <a:blip r:embed="rId1"/>
          <a:srcRect l="-131" r="-131" t="0" b="0"/>
          <a:stretch/>
        </p:blipFill>
        <p:spPr>
          <a:xfrm>
            <a:off x="819150" y="1653530"/>
            <a:ext cx="6337300" cy="3797300"/>
          </a:xfrm>
          <a:prstGeom prst="roundRect">
            <a:avLst>
              <a:gd name="adj" fmla="val 1839"/>
            </a:avLst>
          </a:prstGeom>
        </p:spPr>
      </p:pic>
      <p:sp>
        <p:nvSpPr>
          <p:cNvPr id="6" name="Shape 3"/>
          <p:cNvSpPr/>
          <p:nvPr/>
        </p:nvSpPr>
        <p:spPr>
          <a:xfrm>
            <a:off x="815975" y="1650355"/>
            <a:ext cx="6343650" cy="3803650"/>
          </a:xfrm>
          <a:prstGeom prst="roundRect">
            <a:avLst>
              <a:gd name="adj" fmla="val 1920"/>
            </a:avLst>
          </a:prstGeom>
          <a:noFill/>
          <a:ln w="6350">
            <a:solidFill>
              <a:srgbClr val="DCD6C8"/>
            </a:solidFill>
            <a:prstDash val="solid"/>
          </a:ln>
        </p:spPr>
      </p:sp>
      <p:sp>
        <p:nvSpPr>
          <p:cNvPr id="7" name="Text 4"/>
          <p:cNvSpPr/>
          <p:nvPr/>
        </p:nvSpPr>
        <p:spPr>
          <a:xfrm>
            <a:off x="7416800" y="1647180"/>
            <a:ext cx="4081272" cy="508000"/>
          </a:xfrm>
          <a:prstGeom prst="rect">
            <a:avLst/>
          </a:prstGeom>
          <a:noFill/>
          <a:ln/>
        </p:spPr>
        <p:txBody>
          <a:bodyPr wrap="square" lIns="0" tIns="0" rIns="0" bIns="0" rtlCol="0" anchor="t">
            <a:normAutofit/>
          </a:bodyPr>
          <a:lstStyle/>
          <a:p>
            <a:pPr algn="l" indent="0" marL="0">
              <a:lnSpc>
                <a:spcPts val="3800"/>
              </a:lnSpc>
              <a:buNone/>
            </a:pPr>
            <a:r>
              <a:rPr lang="en-US" sz="3800" b="1" dirty="0">
                <a:solidFill>
                  <a:srgbClr val="E8892B"/>
                </a:solidFill>
                <a:latin typeface="Source Serif 4" pitchFamily="18" charset="0"/>
                <a:ea typeface="Source Serif 4" pitchFamily="18" charset="-122"/>
                <a:cs typeface="Source Serif 4" pitchFamily="18" charset="-120"/>
              </a:rPr>
              <a:t>54%</a:t>
            </a:r>
            <a:endParaRPr lang="en-US" sz="3800" dirty="0"/>
          </a:p>
        </p:txBody>
      </p:sp>
      <p:sp>
        <p:nvSpPr>
          <p:cNvPr id="8" name="Text 5"/>
          <p:cNvSpPr/>
          <p:nvPr/>
        </p:nvSpPr>
        <p:spPr>
          <a:xfrm>
            <a:off x="7416800" y="2269480"/>
            <a:ext cx="4081272" cy="951111"/>
          </a:xfrm>
          <a:prstGeom prst="rect">
            <a:avLst/>
          </a:prstGeom>
          <a:noFill/>
          <a:ln/>
        </p:spPr>
        <p:txBody>
          <a:bodyPr wrap="square" lIns="0" tIns="0" rIns="0" bIns="0" rtlCol="0" anchor="t">
            <a:normAutofit/>
          </a:bodyPr>
          <a:lstStyle/>
          <a:p>
            <a:pPr algn="l" indent="0" marL="0">
              <a:lnSpc>
                <a:spcPts val="1823"/>
              </a:lnSpc>
              <a:buNone/>
            </a:pPr>
            <a:r>
              <a:rPr lang="en-US" sz="1350" dirty="0">
                <a:solidFill>
                  <a:srgbClr val="0F1B33"/>
                </a:solidFill>
                <a:latin typeface="Helvetica Neue" pitchFamily="34" charset="0"/>
                <a:ea typeface="Helvetica Neue" pitchFamily="34" charset="-122"/>
                <a:cs typeface="Helvetica Neue" pitchFamily="34" charset="-120"/>
              </a:rPr>
              <a:t>Wing/rotor (28%) and engine (26%) make up 54% of all damaged parts. Windshield and nose are hit often (17% of hits each) but damaged only 4% of the time.</a:t>
            </a:r>
            <a:endParaRPr lang="en-US" sz="1350" dirty="0"/>
          </a:p>
        </p:txBody>
      </p:sp>
      <p:sp>
        <p:nvSpPr>
          <p:cNvPr id="9" name="Shape 6"/>
          <p:cNvSpPr/>
          <p:nvPr/>
        </p:nvSpPr>
        <p:spPr>
          <a:xfrm>
            <a:off x="7416800" y="3334891"/>
            <a:ext cx="3962400" cy="921941"/>
          </a:xfrm>
          <a:prstGeom prst="roundRect">
            <a:avLst>
              <a:gd name="adj" fmla="val 8265"/>
            </a:avLst>
          </a:prstGeom>
          <a:solidFill>
            <a:srgbClr val="0F1B33"/>
          </a:solidFill>
          <a:ln/>
        </p:spPr>
      </p:sp>
      <p:sp>
        <p:nvSpPr>
          <p:cNvPr id="10" name="Text 7"/>
          <p:cNvSpPr/>
          <p:nvPr/>
        </p:nvSpPr>
        <p:spPr>
          <a:xfrm>
            <a:off x="7556500" y="3474591"/>
            <a:ext cx="379349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2A66B"/>
                </a:solidFill>
                <a:latin typeface="Helvetica Neue" pitchFamily="34" charset="0"/>
                <a:ea typeface="Helvetica Neue" pitchFamily="34" charset="-122"/>
                <a:cs typeface="Helvetica Neue" pitchFamily="34" charset="-120"/>
              </a:rPr>
              <a:t>EDA DECISION</a:t>
            </a:r>
            <a:endParaRPr lang="en-US" sz="1200" dirty="0"/>
          </a:p>
        </p:txBody>
      </p:sp>
      <p:sp>
        <p:nvSpPr>
          <p:cNvPr id="11" name="Text 8"/>
          <p:cNvSpPr/>
          <p:nvPr/>
        </p:nvSpPr>
        <p:spPr>
          <a:xfrm>
            <a:off x="7556500" y="3687911"/>
            <a:ext cx="3793490" cy="45462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F5F2EA"/>
                </a:solidFill>
                <a:latin typeface="Helvetica Neue" pitchFamily="34" charset="0"/>
                <a:ea typeface="Helvetica Neue" pitchFamily="34" charset="-122"/>
                <a:cs typeface="Helvetica Neue" pitchFamily="34" charset="-120"/>
              </a:rPr>
              <a:t>Keep the struck-part flags: they show where the animal hit.</a:t>
            </a:r>
            <a:endParaRPr lang="en-US" sz="1300" dirty="0"/>
          </a:p>
        </p:txBody>
      </p:sp>
      <p:sp>
        <p:nvSpPr>
          <p:cNvPr id="12" name="Text 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372"/>
                </a:solidFill>
                <a:latin typeface="Helvetica Neue" pitchFamily="34" charset="0"/>
                <a:ea typeface="Helvetica Neue" pitchFamily="34" charset="-122"/>
                <a:cs typeface="Helvetica Neue" pitchFamily="34" charset="-120"/>
              </a:rPr>
              <a:t>Source: WILDLIFE_EDA notebook</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2EA"/>
        </a:solidFill>
      </p:bgPr>
    </p:bg>
    <p:spTree>
      <p:nvGrpSpPr>
        <p:cNvPr id="1" name=""/>
        <p:cNvGrpSpPr/>
        <p:nvPr/>
      </p:nvGrpSpPr>
      <p:grpSpPr>
        <a:xfrm>
          <a:off x="0" y="0"/>
          <a:ext cx="0" cy="0"/>
          <a:chOff x="0" y="0"/>
          <a:chExt cx="0" cy="0"/>
        </a:xfrm>
      </p:grpSpPr>
      <p:sp>
        <p:nvSpPr>
          <p:cNvPr id="2" name="Text 0"/>
          <p:cNvSpPr/>
          <p:nvPr/>
        </p:nvSpPr>
        <p:spPr>
          <a:xfrm>
            <a:off x="812800" y="60960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E8892B"/>
                </a:solidFill>
                <a:latin typeface="Helvetica Neue" pitchFamily="34" charset="0"/>
                <a:ea typeface="Helvetica Neue" pitchFamily="34" charset="-122"/>
                <a:cs typeface="Helvetica Neue" pitchFamily="34" charset="-120"/>
              </a:rPr>
              <a:t>3 · EDA · 5 OF 6</a:t>
            </a:r>
            <a:endParaRPr lang="en-US" sz="1300" dirty="0"/>
          </a:p>
        </p:txBody>
      </p:sp>
      <p:sp>
        <p:nvSpPr>
          <p:cNvPr id="3" name="Text 1"/>
          <p:cNvSpPr/>
          <p:nvPr>
            <p:ph type="title"/>
          </p:nvPr>
        </p:nvSpPr>
        <p:spPr>
          <a:xfrm>
            <a:off x="812800" y="1069330"/>
            <a:ext cx="10883392" cy="374650"/>
          </a:xfrm>
          <a:prstGeom prst="rect">
            <a:avLst/>
          </a:prstGeom>
          <a:noFill/>
          <a:ln/>
        </p:spPr>
        <p:txBody>
          <a:bodyPr wrap="square" lIns="0" tIns="0" rIns="0" bIns="0" rtlCol="0" anchor="t">
            <a:normAutofit/>
          </a:bodyPr>
          <a:lstStyle/>
          <a:p>
            <a:pPr algn="l" indent="0" marL="0">
              <a:lnSpc>
                <a:spcPts val="2750"/>
              </a:lnSpc>
              <a:buNone/>
            </a:pPr>
            <a:r>
              <a:rPr lang="en-US" sz="2500" b="1" i="0" dirty="0">
                <a:solidFill>
                  <a:srgbClr val="0F1B33"/>
                </a:solidFill>
                <a:latin typeface="Source Serif 4" pitchFamily="18" charset="0"/>
                <a:ea typeface="Source Serif 4" pitchFamily="18" charset="-122"/>
                <a:cs typeface="Source Serif 4" pitchFamily="18" charset="-120"/>
              </a:rPr>
              <a:t>Damage risk doubles above 1,000 feet</a:t>
            </a:r>
            <a:endParaRPr lang="en-US" sz="2500" dirty="0"/>
          </a:p>
        </p:txBody>
      </p:sp>
      <p:sp>
        <p:nvSpPr>
          <p:cNvPr id="4" name="Shape 2"/>
          <p:cNvSpPr/>
          <p:nvPr/>
        </p:nvSpPr>
        <p:spPr>
          <a:xfrm>
            <a:off x="812800" y="1647180"/>
            <a:ext cx="6343650" cy="3917950"/>
          </a:xfrm>
          <a:prstGeom prst="roundRect">
            <a:avLst>
              <a:gd name="adj" fmla="val 1945"/>
            </a:avLst>
          </a:prstGeom>
          <a:solidFill>
            <a:srgbClr val="FFFFFF"/>
          </a:solidFill>
          <a:ln/>
        </p:spPr>
      </p:sp>
      <p:pic>
        <p:nvPicPr>
          <p:cNvPr id="5" name="Image 0" descr="Altitude and damage rate">    </p:cNvPr>
          <p:cNvPicPr>
            <a:picLocks noChangeAspect="1"/>
          </p:cNvPicPr>
          <p:nvPr/>
        </p:nvPicPr>
        <p:blipFill>
          <a:blip r:embed="rId1"/>
          <a:srcRect l="-29" r="-29" t="0" b="0"/>
          <a:stretch/>
        </p:blipFill>
        <p:spPr>
          <a:xfrm>
            <a:off x="819150" y="1653530"/>
            <a:ext cx="6330950" cy="3905250"/>
          </a:xfrm>
          <a:prstGeom prst="roundRect">
            <a:avLst>
              <a:gd name="adj" fmla="val 1789"/>
            </a:avLst>
          </a:prstGeom>
        </p:spPr>
      </p:pic>
      <p:sp>
        <p:nvSpPr>
          <p:cNvPr id="6" name="Shape 3"/>
          <p:cNvSpPr/>
          <p:nvPr/>
        </p:nvSpPr>
        <p:spPr>
          <a:xfrm>
            <a:off x="815975" y="1650355"/>
            <a:ext cx="6337300" cy="3911600"/>
          </a:xfrm>
          <a:prstGeom prst="roundRect">
            <a:avLst>
              <a:gd name="adj" fmla="val 1867"/>
            </a:avLst>
          </a:prstGeom>
          <a:noFill/>
          <a:ln w="6350">
            <a:solidFill>
              <a:srgbClr val="DCD6C8"/>
            </a:solidFill>
            <a:prstDash val="solid"/>
          </a:ln>
        </p:spPr>
      </p:sp>
      <p:sp>
        <p:nvSpPr>
          <p:cNvPr id="7" name="Text 4"/>
          <p:cNvSpPr/>
          <p:nvPr/>
        </p:nvSpPr>
        <p:spPr>
          <a:xfrm>
            <a:off x="7410450" y="1647180"/>
            <a:ext cx="4087812" cy="508000"/>
          </a:xfrm>
          <a:prstGeom prst="rect">
            <a:avLst/>
          </a:prstGeom>
          <a:noFill/>
          <a:ln/>
        </p:spPr>
        <p:txBody>
          <a:bodyPr wrap="square" lIns="0" tIns="0" rIns="0" bIns="0" rtlCol="0" anchor="t">
            <a:normAutofit/>
          </a:bodyPr>
          <a:lstStyle/>
          <a:p>
            <a:pPr algn="l" indent="0" marL="0">
              <a:lnSpc>
                <a:spcPts val="3800"/>
              </a:lnSpc>
              <a:buNone/>
            </a:pPr>
            <a:r>
              <a:rPr lang="en-US" sz="3800" b="1" dirty="0">
                <a:solidFill>
                  <a:srgbClr val="E8892B"/>
                </a:solidFill>
                <a:latin typeface="Source Serif 4" pitchFamily="18" charset="0"/>
                <a:ea typeface="Source Serif 4" pitchFamily="18" charset="-122"/>
                <a:cs typeface="Source Serif 4" pitchFamily="18" charset="-120"/>
              </a:rPr>
              <a:t>7.4% to 14.6%</a:t>
            </a:r>
            <a:endParaRPr lang="en-US" sz="3800" dirty="0"/>
          </a:p>
        </p:txBody>
      </p:sp>
      <p:sp>
        <p:nvSpPr>
          <p:cNvPr id="8" name="Text 5"/>
          <p:cNvSpPr/>
          <p:nvPr/>
        </p:nvSpPr>
        <p:spPr>
          <a:xfrm>
            <a:off x="7410450" y="2269480"/>
            <a:ext cx="4087812" cy="951111"/>
          </a:xfrm>
          <a:prstGeom prst="rect">
            <a:avLst/>
          </a:prstGeom>
          <a:noFill/>
          <a:ln/>
        </p:spPr>
        <p:txBody>
          <a:bodyPr wrap="square" lIns="0" tIns="0" rIns="0" bIns="0" rtlCol="0" anchor="t">
            <a:normAutofit/>
          </a:bodyPr>
          <a:lstStyle/>
          <a:p>
            <a:pPr algn="l" indent="0" marL="0">
              <a:lnSpc>
                <a:spcPts val="1823"/>
              </a:lnSpc>
              <a:buNone/>
            </a:pPr>
            <a:r>
              <a:rPr lang="en-US" sz="1350" dirty="0">
                <a:solidFill>
                  <a:srgbClr val="0F1B33"/>
                </a:solidFill>
                <a:latin typeface="Helvetica Neue" pitchFamily="34" charset="0"/>
                <a:ea typeface="Helvetica Neue" pitchFamily="34" charset="-122"/>
                <a:cs typeface="Helvetica Neue" pitchFamily="34" charset="-120"/>
              </a:rPr>
              <a:t>71% of strikes with a known height are at or below 500 ft, but above 1,000 ft the damage rate is 2.0x higher. That altitude holds 22% of strikes and 33% of damaging ones.</a:t>
            </a:r>
            <a:endParaRPr lang="en-US" sz="1350" dirty="0"/>
          </a:p>
        </p:txBody>
      </p:sp>
      <p:sp>
        <p:nvSpPr>
          <p:cNvPr id="9" name="Shape 6"/>
          <p:cNvSpPr/>
          <p:nvPr/>
        </p:nvSpPr>
        <p:spPr>
          <a:xfrm>
            <a:off x="7410450" y="3334891"/>
            <a:ext cx="3968750" cy="921941"/>
          </a:xfrm>
          <a:prstGeom prst="roundRect">
            <a:avLst>
              <a:gd name="adj" fmla="val 8265"/>
            </a:avLst>
          </a:prstGeom>
          <a:solidFill>
            <a:srgbClr val="0F1B33"/>
          </a:solidFill>
          <a:ln/>
        </p:spPr>
      </p:sp>
      <p:sp>
        <p:nvSpPr>
          <p:cNvPr id="10" name="Text 7"/>
          <p:cNvSpPr/>
          <p:nvPr/>
        </p:nvSpPr>
        <p:spPr>
          <a:xfrm>
            <a:off x="7550150" y="3474591"/>
            <a:ext cx="380003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2A66B"/>
                </a:solidFill>
                <a:latin typeface="Helvetica Neue" pitchFamily="34" charset="0"/>
                <a:ea typeface="Helvetica Neue" pitchFamily="34" charset="-122"/>
                <a:cs typeface="Helvetica Neue" pitchFamily="34" charset="-120"/>
              </a:rPr>
              <a:t>EDA DECISION</a:t>
            </a:r>
            <a:endParaRPr lang="en-US" sz="1200" dirty="0"/>
          </a:p>
        </p:txBody>
      </p:sp>
      <p:sp>
        <p:nvSpPr>
          <p:cNvPr id="11" name="Text 8"/>
          <p:cNvSpPr/>
          <p:nvPr/>
        </p:nvSpPr>
        <p:spPr>
          <a:xfrm>
            <a:off x="7550150" y="3687911"/>
            <a:ext cx="3800030" cy="45462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F5F2EA"/>
                </a:solidFill>
                <a:latin typeface="Helvetica Neue" pitchFamily="34" charset="0"/>
                <a:ea typeface="Helvetica Neue" pitchFamily="34" charset="-122"/>
                <a:cs typeface="Helvetica Neue" pitchFamily="34" charset="-120"/>
              </a:rPr>
              <a:t>Height bands plus a missing-height flag; cap at the 99th percentile.</a:t>
            </a:r>
            <a:endParaRPr lang="en-US" sz="1300" dirty="0"/>
          </a:p>
        </p:txBody>
      </p:sp>
      <p:sp>
        <p:nvSpPr>
          <p:cNvPr id="12" name="Text 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372"/>
                </a:solidFill>
                <a:latin typeface="Helvetica Neue" pitchFamily="34" charset="0"/>
                <a:ea typeface="Helvetica Neue" pitchFamily="34" charset="-122"/>
                <a:cs typeface="Helvetica Neue" pitchFamily="34" charset="-120"/>
              </a:rPr>
              <a:t>Source: WILDLIFE_EDA notebook</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2EA"/>
        </a:solidFill>
      </p:bgPr>
    </p:bg>
    <p:spTree>
      <p:nvGrpSpPr>
        <p:cNvPr id="1" name=""/>
        <p:cNvGrpSpPr/>
        <p:nvPr/>
      </p:nvGrpSpPr>
      <p:grpSpPr>
        <a:xfrm>
          <a:off x="0" y="0"/>
          <a:ext cx="0" cy="0"/>
          <a:chOff x="0" y="0"/>
          <a:chExt cx="0" cy="0"/>
        </a:xfrm>
      </p:grpSpPr>
      <p:sp>
        <p:nvSpPr>
          <p:cNvPr id="2" name="Text 0"/>
          <p:cNvSpPr/>
          <p:nvPr/>
        </p:nvSpPr>
        <p:spPr>
          <a:xfrm>
            <a:off x="812800" y="60960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E8892B"/>
                </a:solidFill>
                <a:latin typeface="Helvetica Neue" pitchFamily="34" charset="0"/>
                <a:ea typeface="Helvetica Neue" pitchFamily="34" charset="-122"/>
                <a:cs typeface="Helvetica Neue" pitchFamily="34" charset="-120"/>
              </a:rPr>
              <a:t>3 · EDA · 6 OF 6</a:t>
            </a:r>
            <a:endParaRPr lang="en-US" sz="1300" dirty="0"/>
          </a:p>
        </p:txBody>
      </p:sp>
      <p:sp>
        <p:nvSpPr>
          <p:cNvPr id="3" name="Text 1"/>
          <p:cNvSpPr/>
          <p:nvPr>
            <p:ph type="title"/>
          </p:nvPr>
        </p:nvSpPr>
        <p:spPr>
          <a:xfrm>
            <a:off x="812800" y="1069330"/>
            <a:ext cx="10883392" cy="374650"/>
          </a:xfrm>
          <a:prstGeom prst="rect">
            <a:avLst/>
          </a:prstGeom>
          <a:noFill/>
          <a:ln/>
        </p:spPr>
        <p:txBody>
          <a:bodyPr wrap="square" lIns="0" tIns="0" rIns="0" bIns="0" rtlCol="0" anchor="t">
            <a:normAutofit/>
          </a:bodyPr>
          <a:lstStyle/>
          <a:p>
            <a:pPr algn="l" indent="0" marL="0">
              <a:lnSpc>
                <a:spcPts val="2750"/>
              </a:lnSpc>
              <a:buNone/>
            </a:pPr>
            <a:r>
              <a:rPr lang="en-US" sz="2500" b="1" i="0" dirty="0">
                <a:solidFill>
                  <a:srgbClr val="0F1B33"/>
                </a:solidFill>
                <a:latin typeface="Source Serif 4" pitchFamily="18" charset="0"/>
                <a:ea typeface="Source Serif 4" pitchFamily="18" charset="-122"/>
                <a:cs typeface="Source Serif 4" pitchFamily="18" charset="-120"/>
              </a:rPr>
              <a:t>Large animals are far more damaging, and effects compound</a:t>
            </a:r>
            <a:endParaRPr lang="en-US" sz="2500" dirty="0"/>
          </a:p>
        </p:txBody>
      </p:sp>
      <p:sp>
        <p:nvSpPr>
          <p:cNvPr id="4" name="Shape 2"/>
          <p:cNvSpPr/>
          <p:nvPr/>
        </p:nvSpPr>
        <p:spPr>
          <a:xfrm>
            <a:off x="812800" y="1647180"/>
            <a:ext cx="6350000" cy="3289300"/>
          </a:xfrm>
          <a:prstGeom prst="roundRect">
            <a:avLst>
              <a:gd name="adj" fmla="val 2317"/>
            </a:avLst>
          </a:prstGeom>
          <a:solidFill>
            <a:srgbClr val="FFFFFF"/>
          </a:solidFill>
          <a:ln/>
        </p:spPr>
      </p:sp>
      <p:pic>
        <p:nvPicPr>
          <p:cNvPr id="5" name="Image 0" descr="Animal size and flock size">    </p:cNvPr>
          <p:cNvPicPr>
            <a:picLocks noChangeAspect="1"/>
          </p:cNvPicPr>
          <p:nvPr/>
        </p:nvPicPr>
        <p:blipFill>
          <a:blip r:embed="rId1"/>
          <a:srcRect l="-182" r="-182" t="0" b="0"/>
          <a:stretch/>
        </p:blipFill>
        <p:spPr>
          <a:xfrm>
            <a:off x="819150" y="1653530"/>
            <a:ext cx="6337300" cy="3276600"/>
          </a:xfrm>
          <a:prstGeom prst="roundRect">
            <a:avLst>
              <a:gd name="adj" fmla="val 2132"/>
            </a:avLst>
          </a:prstGeom>
        </p:spPr>
      </p:pic>
      <p:sp>
        <p:nvSpPr>
          <p:cNvPr id="6" name="Shape 3"/>
          <p:cNvSpPr/>
          <p:nvPr/>
        </p:nvSpPr>
        <p:spPr>
          <a:xfrm>
            <a:off x="815975" y="1650355"/>
            <a:ext cx="6343650" cy="3282950"/>
          </a:xfrm>
          <a:prstGeom prst="roundRect">
            <a:avLst>
              <a:gd name="adj" fmla="val 2224"/>
            </a:avLst>
          </a:prstGeom>
          <a:noFill/>
          <a:ln w="6350">
            <a:solidFill>
              <a:srgbClr val="DCD6C8"/>
            </a:solidFill>
            <a:prstDash val="solid"/>
          </a:ln>
        </p:spPr>
      </p:sp>
      <p:sp>
        <p:nvSpPr>
          <p:cNvPr id="7" name="Text 4"/>
          <p:cNvSpPr/>
          <p:nvPr/>
        </p:nvSpPr>
        <p:spPr>
          <a:xfrm>
            <a:off x="7416800" y="1647180"/>
            <a:ext cx="4081272" cy="508000"/>
          </a:xfrm>
          <a:prstGeom prst="rect">
            <a:avLst/>
          </a:prstGeom>
          <a:noFill/>
          <a:ln/>
        </p:spPr>
        <p:txBody>
          <a:bodyPr wrap="square" lIns="0" tIns="0" rIns="0" bIns="0" rtlCol="0" anchor="t">
            <a:normAutofit/>
          </a:bodyPr>
          <a:lstStyle/>
          <a:p>
            <a:pPr algn="l" indent="0" marL="0">
              <a:lnSpc>
                <a:spcPts val="3800"/>
              </a:lnSpc>
              <a:buNone/>
            </a:pPr>
            <a:r>
              <a:rPr lang="en-US" sz="3800" b="1" dirty="0">
                <a:solidFill>
                  <a:srgbClr val="E8892B"/>
                </a:solidFill>
                <a:latin typeface="Source Serif 4" pitchFamily="18" charset="0"/>
                <a:ea typeface="Source Serif 4" pitchFamily="18" charset="-122"/>
                <a:cs typeface="Source Serif 4" pitchFamily="18" charset="-120"/>
              </a:rPr>
              <a:t>1.6% vs 29.3%</a:t>
            </a:r>
            <a:endParaRPr lang="en-US" sz="3800" dirty="0"/>
          </a:p>
        </p:txBody>
      </p:sp>
      <p:sp>
        <p:nvSpPr>
          <p:cNvPr id="8" name="Text 5"/>
          <p:cNvSpPr/>
          <p:nvPr/>
        </p:nvSpPr>
        <p:spPr>
          <a:xfrm>
            <a:off x="7416800" y="2269480"/>
            <a:ext cx="4081272" cy="719683"/>
          </a:xfrm>
          <a:prstGeom prst="rect">
            <a:avLst/>
          </a:prstGeom>
          <a:noFill/>
          <a:ln/>
        </p:spPr>
        <p:txBody>
          <a:bodyPr wrap="square" lIns="0" tIns="0" rIns="0" bIns="0" rtlCol="0" anchor="t">
            <a:normAutofit/>
          </a:bodyPr>
          <a:lstStyle/>
          <a:p>
            <a:pPr algn="l" indent="0" marL="0">
              <a:lnSpc>
                <a:spcPts val="1823"/>
              </a:lnSpc>
              <a:buNone/>
            </a:pPr>
            <a:r>
              <a:rPr lang="en-US" sz="1350" dirty="0">
                <a:solidFill>
                  <a:srgbClr val="0F1B33"/>
                </a:solidFill>
                <a:latin typeface="Helvetica Neue" pitchFamily="34" charset="0"/>
                <a:ea typeface="Helvetica Neue" pitchFamily="34" charset="-122"/>
                <a:cs typeface="Helvetica Neue" pitchFamily="34" charset="-120"/>
              </a:rPr>
              <a:t>A single small animal damages 1.6% of the time; any large animal 29.3% (about 18x). Bigger animals and bigger flocks together are worst.</a:t>
            </a:r>
            <a:endParaRPr lang="en-US" sz="1350" dirty="0"/>
          </a:p>
        </p:txBody>
      </p:sp>
      <p:sp>
        <p:nvSpPr>
          <p:cNvPr id="9" name="Shape 6"/>
          <p:cNvSpPr/>
          <p:nvPr/>
        </p:nvSpPr>
        <p:spPr>
          <a:xfrm>
            <a:off x="7416800" y="3103463"/>
            <a:ext cx="3962400" cy="921941"/>
          </a:xfrm>
          <a:prstGeom prst="roundRect">
            <a:avLst>
              <a:gd name="adj" fmla="val 8265"/>
            </a:avLst>
          </a:prstGeom>
          <a:solidFill>
            <a:srgbClr val="0F1B33"/>
          </a:solidFill>
          <a:ln/>
        </p:spPr>
      </p:sp>
      <p:sp>
        <p:nvSpPr>
          <p:cNvPr id="10" name="Text 7"/>
          <p:cNvSpPr/>
          <p:nvPr/>
        </p:nvSpPr>
        <p:spPr>
          <a:xfrm>
            <a:off x="7556500" y="3243163"/>
            <a:ext cx="379349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2A66B"/>
                </a:solidFill>
                <a:latin typeface="Helvetica Neue" pitchFamily="34" charset="0"/>
                <a:ea typeface="Helvetica Neue" pitchFamily="34" charset="-122"/>
                <a:cs typeface="Helvetica Neue" pitchFamily="34" charset="-120"/>
              </a:rPr>
              <a:t>EDA DECISION</a:t>
            </a:r>
            <a:endParaRPr lang="en-US" sz="1200" dirty="0"/>
          </a:p>
        </p:txBody>
      </p:sp>
      <p:sp>
        <p:nvSpPr>
          <p:cNvPr id="11" name="Text 8"/>
          <p:cNvSpPr/>
          <p:nvPr/>
        </p:nvSpPr>
        <p:spPr>
          <a:xfrm>
            <a:off x="7556500" y="3456484"/>
            <a:ext cx="3793490" cy="45462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F5F2EA"/>
                </a:solidFill>
                <a:latin typeface="Helvetica Neue" pitchFamily="34" charset="0"/>
                <a:ea typeface="Helvetica Neue" pitchFamily="34" charset="-122"/>
                <a:cs typeface="Helvetica Neue" pitchFamily="34" charset="-120"/>
              </a:rPr>
              <a:t>Core features. Test a size x number-struck interaction.</a:t>
            </a:r>
            <a:endParaRPr lang="en-US" sz="1300" dirty="0"/>
          </a:p>
        </p:txBody>
      </p:sp>
      <p:sp>
        <p:nvSpPr>
          <p:cNvPr id="12" name="Text 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372"/>
                </a:solidFill>
                <a:latin typeface="Helvetica Neue" pitchFamily="34" charset="0"/>
                <a:ea typeface="Helvetica Neue" pitchFamily="34" charset="-122"/>
                <a:cs typeface="Helvetica Neue" pitchFamily="34" charset="-120"/>
              </a:rPr>
              <a:t>Source: WILDLIFE_EDA notebook</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2EA"/>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E8892B"/>
                </a:solidFill>
                <a:latin typeface="Helvetica Neue" pitchFamily="34" charset="0"/>
                <a:ea typeface="Helvetica Neue" pitchFamily="34" charset="-122"/>
                <a:cs typeface="Helvetica Neue" pitchFamily="34" charset="-120"/>
              </a:rPr>
              <a:t>3 · EDA CONCLUSIONS</a:t>
            </a:r>
            <a:endParaRPr lang="en-US" sz="1300" dirty="0"/>
          </a:p>
        </p:txBody>
      </p:sp>
      <p:sp>
        <p:nvSpPr>
          <p:cNvPr id="3" name="Text 1"/>
          <p:cNvSpPr/>
          <p:nvPr>
            <p:ph type="title"/>
          </p:nvPr>
        </p:nvSpPr>
        <p:spPr>
          <a:xfrm>
            <a:off x="812800" y="1297930"/>
            <a:ext cx="10883392" cy="91946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F1B33"/>
                </a:solidFill>
                <a:latin typeface="Source Serif 4" pitchFamily="18" charset="0"/>
                <a:ea typeface="Source Serif 4" pitchFamily="18" charset="-122"/>
                <a:cs typeface="Source Serif 4" pitchFamily="18" charset="-120"/>
              </a:rPr>
              <a:t>Risk depends on what we hit, how high, and which phase of flight</a:t>
            </a:r>
            <a:endParaRPr lang="en-US" sz="3200" dirty="0"/>
          </a:p>
        </p:txBody>
      </p:sp>
      <p:sp>
        <p:nvSpPr>
          <p:cNvPr id="4" name="Text 2"/>
          <p:cNvSpPr/>
          <p:nvPr/>
        </p:nvSpPr>
        <p:spPr>
          <a:xfrm>
            <a:off x="812800" y="2445990"/>
            <a:ext cx="9810750" cy="1376561"/>
          </a:xfrm>
          <a:prstGeom prst="rect">
            <a:avLst/>
          </a:prstGeom>
          <a:noFill/>
          <a:ln/>
        </p:spPr>
        <p:txBody>
          <a:bodyPr wrap="square" lIns="0" tIns="0" rIns="0" bIns="0" rtlCol="0" anchor="t">
            <a:normAutofit/>
          </a:bodyPr>
          <a:lstStyle/>
          <a:p>
            <a:pPr algn="l" indent="0" marL="0">
              <a:lnSpc>
                <a:spcPts val="2660"/>
              </a:lnSpc>
              <a:buNone/>
            </a:pPr>
            <a:r>
              <a:rPr lang="en-US" sz="1900" dirty="0">
                <a:solidFill>
                  <a:srgbClr val="0F1B33"/>
                </a:solidFill>
                <a:latin typeface="Helvetica Neue" pitchFamily="34" charset="0"/>
                <a:ea typeface="Helvetica Neue" pitchFamily="34" charset="-122"/>
                <a:cs typeface="Helvetica Neue" pitchFamily="34" charset="-120"/>
              </a:rPr>
              <a:t>Damage is rare (about 6% of strikes), and reporting grew while the damage rate fell, so we compare rates and split train and test by time. Risk is highest for large animals and big flocks, above 1,000 ft, and away from the runway. Deer, geese and vultures are the most damaging species, and wings and engines take most of the damage.</a:t>
            </a:r>
            <a:endParaRPr lang="en-US" sz="1900" dirty="0"/>
          </a:p>
        </p:txBody>
      </p:sp>
      <p:sp>
        <p:nvSpPr>
          <p:cNvPr id="5" name="Text 3"/>
          <p:cNvSpPr/>
          <p:nvPr/>
        </p:nvSpPr>
        <p:spPr>
          <a:xfrm>
            <a:off x="812800" y="4051151"/>
            <a:ext cx="10566400" cy="907355"/>
          </a:xfrm>
          <a:prstGeom prst="roundRect">
            <a:avLst>
              <a:gd name="adj" fmla="val 11197"/>
            </a:avLst>
          </a:prstGeom>
          <a:solidFill>
            <a:srgbClr val="0F1B33"/>
          </a:solidFill>
          <a:ln/>
        </p:spPr>
        <p:txBody>
          <a:bodyPr wrap="square" lIns="198842" tIns="148042" rIns="0" bIns="122642" rtlCol="0" anchor="t">
            <a:normAutofit/>
          </a:bodyPr>
          <a:lstStyle/>
          <a:p>
            <a:pPr algn="l" indent="0" marL="0">
              <a:lnSpc>
                <a:spcPts val="2160"/>
              </a:lnSpc>
              <a:buNone/>
            </a:pPr>
            <a:r>
              <a:rPr lang="en-US" sz="1600" b="1" dirty="0">
                <a:solidFill>
                  <a:srgbClr val="F2A66B"/>
                </a:solidFill>
                <a:latin typeface="Helvetica Neue" pitchFamily="34" charset="0"/>
                <a:ea typeface="Helvetica Neue" pitchFamily="34" charset="-122"/>
                <a:cs typeface="Helvetica Neue" pitchFamily="34" charset="-120"/>
              </a:rPr>
              <a:t>So what:</a:t>
            </a:r>
            <a:r>
              <a:rPr lang="en-US" sz="1600" dirty="0">
                <a:solidFill>
                  <a:srgbClr val="F5F2EA"/>
                </a:solidFill>
                <a:latin typeface="Helvetica Neue" pitchFamily="34" charset="0"/>
                <a:ea typeface="Helvetica Neue" pitchFamily="34" charset="-122"/>
                <a:cs typeface="Helvetica Neue" pitchFamily="34" charset="-120"/>
              </a:rPr>
              <a:t> these findings choose our features and point to classification with imbalance handling. We used GPU-accelerated RAPIDS for repeated calculations on 357k rows.</a:t>
            </a:r>
            <a:endParaRPr lang="en-US" sz="1600" dirty="0"/>
          </a:p>
        </p:txBody>
      </p:sp>
      <p:sp>
        <p:nvSpPr>
          <p:cNvPr id="6" name="Text 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372"/>
                </a:solidFill>
                <a:latin typeface="Helvetica Neue" pitchFamily="34" charset="0"/>
                <a:ea typeface="Helvetica Neue" pitchFamily="34" charset="-122"/>
                <a:cs typeface="Helvetica Neue" pitchFamily="34" charset="-120"/>
              </a:rPr>
              <a:t>EDA conclusions</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2EA"/>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E8892B"/>
                </a:solidFill>
                <a:latin typeface="Helvetica Neue" pitchFamily="34" charset="0"/>
                <a:ea typeface="Helvetica Neue" pitchFamily="34" charset="-122"/>
                <a:cs typeface="Helvetica Neue" pitchFamily="34" charset="-120"/>
              </a:rPr>
              <a:t>4 · PRELIMINARY ML DIRECTION</a:t>
            </a:r>
            <a:endParaRPr lang="en-US" sz="1300" dirty="0"/>
          </a:p>
        </p:txBody>
      </p:sp>
      <p:sp>
        <p:nvSpPr>
          <p:cNvPr id="3" name="Text 1"/>
          <p:cNvSpPr/>
          <p:nvPr>
            <p:ph type="title"/>
          </p:nvPr>
        </p:nvSpPr>
        <p:spPr>
          <a:xfrm>
            <a:off x="812800" y="1272530"/>
            <a:ext cx="11379200"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0F1B33"/>
                </a:solidFill>
                <a:latin typeface="Source Serif 4" pitchFamily="18" charset="0"/>
                <a:ea typeface="Source Serif 4" pitchFamily="18" charset="-122"/>
                <a:cs typeface="Source Serif 4" pitchFamily="18" charset="-120"/>
              </a:rPr>
              <a:t>Binary classification: will this strike damage the aircraft?</a:t>
            </a:r>
            <a:endParaRPr lang="en-US" sz="3000" dirty="0"/>
          </a:p>
        </p:txBody>
      </p:sp>
      <p:sp>
        <p:nvSpPr>
          <p:cNvPr id="4" name="Shape 2"/>
          <p:cNvSpPr/>
          <p:nvPr/>
        </p:nvSpPr>
        <p:spPr>
          <a:xfrm>
            <a:off x="815975" y="1923405"/>
            <a:ext cx="2520950" cy="1998861"/>
          </a:xfrm>
          <a:prstGeom prst="roundRect">
            <a:avLst>
              <a:gd name="adj" fmla="val 4924"/>
            </a:avLst>
          </a:prstGeom>
          <a:solidFill>
            <a:srgbClr val="FFFFFF"/>
          </a:solidFill>
          <a:ln w="6350">
            <a:solidFill>
              <a:srgbClr val="DCD6C8"/>
            </a:solidFill>
            <a:prstDash val="solid"/>
          </a:ln>
        </p:spPr>
      </p:sp>
      <p:sp>
        <p:nvSpPr>
          <p:cNvPr id="5" name="Text 3"/>
          <p:cNvSpPr/>
          <p:nvPr/>
        </p:nvSpPr>
        <p:spPr>
          <a:xfrm>
            <a:off x="1047750" y="2155180"/>
            <a:ext cx="2119122"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F7A8C"/>
                </a:solidFill>
                <a:latin typeface="Helvetica Neue" pitchFamily="34" charset="0"/>
                <a:ea typeface="Helvetica Neue" pitchFamily="34" charset="-122"/>
                <a:cs typeface="Helvetica Neue" pitchFamily="34" charset="-120"/>
              </a:rPr>
              <a:t>Task</a:t>
            </a:r>
            <a:endParaRPr lang="en-US" sz="1700" dirty="0"/>
          </a:p>
        </p:txBody>
      </p:sp>
      <p:sp>
        <p:nvSpPr>
          <p:cNvPr id="6" name="Text 4"/>
          <p:cNvSpPr/>
          <p:nvPr/>
        </p:nvSpPr>
        <p:spPr>
          <a:xfrm>
            <a:off x="1047750" y="2490440"/>
            <a:ext cx="2119122" cy="985441"/>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0F1B33"/>
                </a:solidFill>
                <a:latin typeface="Helvetica Neue" pitchFamily="34" charset="0"/>
                <a:ea typeface="Helvetica Neue" pitchFamily="34" charset="-122"/>
                <a:cs typeface="Helvetica Neue" pitchFamily="34" charset="-120"/>
              </a:rPr>
              <a:t>Predict damaging vs non-damaging using only information known at strike time.</a:t>
            </a:r>
            <a:endParaRPr lang="en-US" sz="1400" dirty="0"/>
          </a:p>
        </p:txBody>
      </p:sp>
      <p:sp>
        <p:nvSpPr>
          <p:cNvPr id="7" name="Shape 5"/>
          <p:cNvSpPr/>
          <p:nvPr/>
        </p:nvSpPr>
        <p:spPr>
          <a:xfrm>
            <a:off x="3495675" y="1923405"/>
            <a:ext cx="2520950" cy="1998861"/>
          </a:xfrm>
          <a:prstGeom prst="roundRect">
            <a:avLst>
              <a:gd name="adj" fmla="val 4924"/>
            </a:avLst>
          </a:prstGeom>
          <a:solidFill>
            <a:srgbClr val="FFFFFF"/>
          </a:solidFill>
          <a:ln w="6350">
            <a:solidFill>
              <a:srgbClr val="DCD6C8"/>
            </a:solidFill>
            <a:prstDash val="solid"/>
          </a:ln>
        </p:spPr>
      </p:sp>
      <p:sp>
        <p:nvSpPr>
          <p:cNvPr id="8" name="Text 6"/>
          <p:cNvSpPr/>
          <p:nvPr/>
        </p:nvSpPr>
        <p:spPr>
          <a:xfrm>
            <a:off x="3727450" y="2155180"/>
            <a:ext cx="2119122"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F7A8C"/>
                </a:solidFill>
                <a:latin typeface="Helvetica Neue" pitchFamily="34" charset="0"/>
                <a:ea typeface="Helvetica Neue" pitchFamily="34" charset="-122"/>
                <a:cs typeface="Helvetica Neue" pitchFamily="34" charset="-120"/>
              </a:rPr>
              <a:t>Because of EDA</a:t>
            </a:r>
            <a:endParaRPr lang="en-US" sz="1700" dirty="0"/>
          </a:p>
        </p:txBody>
      </p:sp>
      <p:sp>
        <p:nvSpPr>
          <p:cNvPr id="9" name="Text 7"/>
          <p:cNvSpPr/>
          <p:nvPr/>
        </p:nvSpPr>
        <p:spPr>
          <a:xfrm>
            <a:off x="3727450" y="2490440"/>
            <a:ext cx="2119122" cy="1225451"/>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0F1B33"/>
                </a:solidFill>
                <a:latin typeface="Helvetica Neue" pitchFamily="34" charset="0"/>
                <a:ea typeface="Helvetica Neue" pitchFamily="34" charset="-122"/>
                <a:cs typeface="Helvetica Neue" pitchFamily="34" charset="-120"/>
              </a:rPr>
              <a:t>Rare outcome (6.2%), strong effects of animal size, species, phase, altitude and damaged part, and drift over time.</a:t>
            </a:r>
            <a:endParaRPr lang="en-US" sz="1400" dirty="0"/>
          </a:p>
        </p:txBody>
      </p:sp>
      <p:sp>
        <p:nvSpPr>
          <p:cNvPr id="10" name="Shape 8"/>
          <p:cNvSpPr/>
          <p:nvPr/>
        </p:nvSpPr>
        <p:spPr>
          <a:xfrm>
            <a:off x="6175375" y="1923405"/>
            <a:ext cx="2520950" cy="1998861"/>
          </a:xfrm>
          <a:prstGeom prst="roundRect">
            <a:avLst>
              <a:gd name="adj" fmla="val 4924"/>
            </a:avLst>
          </a:prstGeom>
          <a:solidFill>
            <a:srgbClr val="FFFFFF"/>
          </a:solidFill>
          <a:ln w="6350">
            <a:solidFill>
              <a:srgbClr val="DCD6C8"/>
            </a:solidFill>
            <a:prstDash val="solid"/>
          </a:ln>
        </p:spPr>
      </p:sp>
      <p:sp>
        <p:nvSpPr>
          <p:cNvPr id="11" name="Text 9"/>
          <p:cNvSpPr/>
          <p:nvPr/>
        </p:nvSpPr>
        <p:spPr>
          <a:xfrm>
            <a:off x="6407150" y="2155180"/>
            <a:ext cx="2119122"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F7A8C"/>
                </a:solidFill>
                <a:latin typeface="Helvetica Neue" pitchFamily="34" charset="0"/>
                <a:ea typeface="Helvetica Neue" pitchFamily="34" charset="-122"/>
                <a:cs typeface="Helvetica Neue" pitchFamily="34" charset="-120"/>
              </a:rPr>
              <a:t>Imbalance plan</a:t>
            </a:r>
            <a:endParaRPr lang="en-US" sz="1700" dirty="0"/>
          </a:p>
        </p:txBody>
      </p:sp>
      <p:sp>
        <p:nvSpPr>
          <p:cNvPr id="12" name="Text 10"/>
          <p:cNvSpPr/>
          <p:nvPr/>
        </p:nvSpPr>
        <p:spPr>
          <a:xfrm>
            <a:off x="6407150" y="2490440"/>
            <a:ext cx="2119122" cy="985441"/>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0F1B33"/>
                </a:solidFill>
                <a:latin typeface="Helvetica Neue" pitchFamily="34" charset="0"/>
                <a:ea typeface="Helvetica Neue" pitchFamily="34" charset="-122"/>
                <a:cs typeface="Helvetica Neue" pitchFamily="34" charset="-120"/>
              </a:rPr>
              <a:t>Class weights or SMOTE on training data only. Metrics: PR-AUC, recall, F1.</a:t>
            </a:r>
            <a:endParaRPr lang="en-US" sz="1400" dirty="0"/>
          </a:p>
        </p:txBody>
      </p:sp>
      <p:sp>
        <p:nvSpPr>
          <p:cNvPr id="13" name="Shape 11"/>
          <p:cNvSpPr/>
          <p:nvPr/>
        </p:nvSpPr>
        <p:spPr>
          <a:xfrm>
            <a:off x="8855075" y="1923405"/>
            <a:ext cx="2520950" cy="1998861"/>
          </a:xfrm>
          <a:prstGeom prst="roundRect">
            <a:avLst>
              <a:gd name="adj" fmla="val 4924"/>
            </a:avLst>
          </a:prstGeom>
          <a:solidFill>
            <a:srgbClr val="FFFFFF"/>
          </a:solidFill>
          <a:ln w="6350">
            <a:solidFill>
              <a:srgbClr val="DCD6C8"/>
            </a:solidFill>
            <a:prstDash val="solid"/>
          </a:ln>
        </p:spPr>
      </p:sp>
      <p:sp>
        <p:nvSpPr>
          <p:cNvPr id="14" name="Text 12"/>
          <p:cNvSpPr/>
          <p:nvPr/>
        </p:nvSpPr>
        <p:spPr>
          <a:xfrm>
            <a:off x="9086850" y="2155180"/>
            <a:ext cx="2119122"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F7A8C"/>
                </a:solidFill>
                <a:latin typeface="Helvetica Neue" pitchFamily="34" charset="0"/>
                <a:ea typeface="Helvetica Neue" pitchFamily="34" charset="-122"/>
                <a:cs typeface="Helvetica Neue" pitchFamily="34" charset="-120"/>
              </a:rPr>
              <a:t>Models</a:t>
            </a:r>
            <a:endParaRPr lang="en-US" sz="1700" dirty="0"/>
          </a:p>
        </p:txBody>
      </p:sp>
      <p:sp>
        <p:nvSpPr>
          <p:cNvPr id="15" name="Text 13"/>
          <p:cNvSpPr/>
          <p:nvPr/>
        </p:nvSpPr>
        <p:spPr>
          <a:xfrm>
            <a:off x="9086850" y="2490440"/>
            <a:ext cx="2119122" cy="985441"/>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0F1B33"/>
                </a:solidFill>
                <a:latin typeface="Helvetica Neue" pitchFamily="34" charset="0"/>
                <a:ea typeface="Helvetica Neue" pitchFamily="34" charset="-122"/>
                <a:cs typeface="Helvetica Neue" pitchFamily="34" charset="-120"/>
              </a:rPr>
              <a:t>Logistic regression baseline, then random forest and gradient boosting.</a:t>
            </a:r>
            <a:endParaRPr lang="en-US" sz="1400" dirty="0"/>
          </a:p>
        </p:txBody>
      </p:sp>
      <p:sp>
        <p:nvSpPr>
          <p:cNvPr id="16" name="Text 14"/>
          <p:cNvSpPr/>
          <p:nvPr/>
        </p:nvSpPr>
        <p:spPr>
          <a:xfrm>
            <a:off x="812800" y="4154041"/>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0F1B33"/>
                </a:solidFill>
                <a:latin typeface="Helvetica Neue" pitchFamily="34" charset="0"/>
                <a:ea typeface="Helvetica Neue" pitchFamily="34" charset="-122"/>
                <a:cs typeface="Helvetica Neue" pitchFamily="34" charset="-120"/>
              </a:rPr>
              <a:t>Time-based validation: train before 2022, test 2022 onward. No results yet.</a:t>
            </a:r>
            <a:endParaRPr lang="en-US" sz="1500" dirty="0"/>
          </a:p>
        </p:txBody>
      </p:sp>
      <p:sp>
        <p:nvSpPr>
          <p:cNvPr id="17" name="Text 1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372"/>
                </a:solidFill>
                <a:latin typeface="Helvetica Neue" pitchFamily="34" charset="0"/>
                <a:ea typeface="Helvetica Neue" pitchFamily="34" charset="-122"/>
                <a:cs typeface="Helvetica Neue" pitchFamily="34" charset="-120"/>
              </a:rPr>
              <a:t>ML direction</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B33"/>
        </a:solidFill>
      </p:bgPr>
    </p:bg>
    <p:spTree>
      <p:nvGrpSpPr>
        <p:cNvPr id="1" name=""/>
        <p:cNvGrpSpPr/>
        <p:nvPr/>
      </p:nvGrpSpPr>
      <p:grpSpPr>
        <a:xfrm>
          <a:off x="0" y="0"/>
          <a:ext cx="0" cy="0"/>
          <a:chOff x="0" y="0"/>
          <a:chExt cx="0" cy="0"/>
        </a:xfrm>
      </p:grpSpPr>
      <p:sp>
        <p:nvSpPr>
          <p:cNvPr id="2" name="Text 0"/>
          <p:cNvSpPr/>
          <p:nvPr/>
        </p:nvSpPr>
        <p:spPr>
          <a:xfrm>
            <a:off x="812800" y="277242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E8892B"/>
                </a:solidFill>
                <a:latin typeface="Helvetica Neue" pitchFamily="34" charset="0"/>
                <a:ea typeface="Helvetica Neue" pitchFamily="34" charset="-122"/>
                <a:cs typeface="Helvetica Neue" pitchFamily="34" charset="-120"/>
              </a:rPr>
              <a:t>4 · DASHBOARD</a:t>
            </a:r>
            <a:endParaRPr lang="en-US" sz="1300" dirty="0"/>
          </a:p>
        </p:txBody>
      </p:sp>
      <p:sp>
        <p:nvSpPr>
          <p:cNvPr id="3" name="Text 1"/>
          <p:cNvSpPr/>
          <p:nvPr>
            <p:ph type="title"/>
          </p:nvPr>
        </p:nvSpPr>
        <p:spPr>
          <a:xfrm>
            <a:off x="812800" y="3232150"/>
            <a:ext cx="10883392" cy="878830"/>
          </a:xfrm>
          <a:prstGeom prst="rect">
            <a:avLst/>
          </a:prstGeom>
          <a:noFill/>
          <a:ln/>
        </p:spPr>
        <p:txBody>
          <a:bodyPr wrap="square" lIns="0" tIns="0" rIns="0" bIns="0" rtlCol="0" anchor="t">
            <a:normAutofit/>
          </a:bodyPr>
          <a:lstStyle/>
          <a:p>
            <a:pPr algn="l" indent="0" marL="0">
              <a:lnSpc>
                <a:spcPts val="6720"/>
              </a:lnSpc>
              <a:buNone/>
            </a:pPr>
            <a:r>
              <a:rPr lang="en-US" sz="6400" b="1" i="0" dirty="0">
                <a:solidFill>
                  <a:srgbClr val="F5F2EA"/>
                </a:solidFill>
                <a:latin typeface="Source Serif 4" pitchFamily="18" charset="0"/>
                <a:ea typeface="Source Serif 4" pitchFamily="18" charset="-122"/>
                <a:cs typeface="Source Serif 4" pitchFamily="18" charset="-120"/>
              </a:rPr>
              <a:t>Interactive Dashboard</a:t>
            </a:r>
            <a:endParaRPr lang="en-US" sz="6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1B33"/>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E8892B"/>
                </a:solidFill>
                <a:latin typeface="Helvetica Neue" pitchFamily="34" charset="0"/>
                <a:ea typeface="Helvetica Neue" pitchFamily="34" charset="-122"/>
                <a:cs typeface="Helvetica Neue" pitchFamily="34" charset="-120"/>
              </a:rPr>
              <a:t>DATA 230 · MID-PRESENTATION</a:t>
            </a:r>
            <a:endParaRPr lang="en-US" sz="1300" dirty="0"/>
          </a:p>
        </p:txBody>
      </p:sp>
      <p:sp>
        <p:nvSpPr>
          <p:cNvPr id="3" name="Text 1"/>
          <p:cNvSpPr/>
          <p:nvPr>
            <p:ph type="title"/>
          </p:nvPr>
        </p:nvSpPr>
        <p:spPr>
          <a:xfrm>
            <a:off x="812800" y="1272530"/>
            <a:ext cx="10883392" cy="958850"/>
          </a:xfrm>
          <a:prstGeom prst="rect">
            <a:avLst/>
          </a:prstGeom>
          <a:noFill/>
          <a:ln/>
        </p:spPr>
        <p:txBody>
          <a:bodyPr wrap="square" lIns="0" tIns="0" rIns="0" bIns="0" rtlCol="0" anchor="t">
            <a:normAutofit/>
          </a:bodyPr>
          <a:lstStyle/>
          <a:p>
            <a:pPr algn="l" indent="0" marL="0">
              <a:lnSpc>
                <a:spcPts val="7350"/>
              </a:lnSpc>
              <a:buNone/>
            </a:pPr>
            <a:r>
              <a:rPr lang="en-US" sz="7000" b="1" i="0" dirty="0">
                <a:solidFill>
                  <a:srgbClr val="F5F2EA"/>
                </a:solidFill>
                <a:latin typeface="Source Serif 4" pitchFamily="18" charset="0"/>
                <a:ea typeface="Source Serif 4" pitchFamily="18" charset="-122"/>
                <a:cs typeface="Source Serif 4" pitchFamily="18" charset="-120"/>
              </a:rPr>
              <a:t>Thank you</a:t>
            </a:r>
            <a:endParaRPr lang="en-US" sz="7000" dirty="0"/>
          </a:p>
        </p:txBody>
      </p:sp>
      <p:sp>
        <p:nvSpPr>
          <p:cNvPr id="4" name="Text 2"/>
          <p:cNvSpPr/>
          <p:nvPr/>
        </p:nvSpPr>
        <p:spPr>
          <a:xfrm>
            <a:off x="812800" y="266318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2A66B"/>
                </a:solidFill>
                <a:latin typeface="Helvetica Neue" pitchFamily="34" charset="0"/>
                <a:ea typeface="Helvetica Neue" pitchFamily="34" charset="-122"/>
                <a:cs typeface="Helvetica Neue" pitchFamily="34" charset="-120"/>
              </a:rPr>
              <a:t>Sneha · Shaili · Sanjana · Shubhi</a:t>
            </a:r>
            <a:endParaRPr lang="en-US" sz="1500" dirty="0"/>
          </a:p>
        </p:txBody>
      </p:sp>
    </p:spTree>
  </p:cSld>
  <p:clrMapOvr>
    <a:masterClrMapping/>
  </p:clrMapOvr>
</p:sld>
</file>

<file path=ppt/theme/theme1.xml><?xml version="1.0" encoding="utf-8"?>
<a:theme xmlns:a="http://schemas.openxmlformats.org/drawingml/2006/main" name="FAA Wildlife Strikes: DATA 230 Mid-Presentation">
  <a:themeElements>
    <a:clrScheme name="FAA Wildlife Strikes: DATA 230 Mid-Presentation">
      <a:dk1>
        <a:srgbClr val="0F1B33"/>
      </a:dk1>
      <a:lt1>
        <a:srgbClr val="F5F2EA"/>
      </a:lt1>
      <a:dk2>
        <a:srgbClr val="495161"/>
      </a:dk2>
      <a:lt2>
        <a:srgbClr val="DEDDD8"/>
      </a:lt2>
      <a:accent1>
        <a:srgbClr val="E8892B"/>
      </a:accent1>
      <a:accent2>
        <a:srgbClr val="1F7A8C"/>
      </a:accent2>
      <a:accent3>
        <a:srgbClr val="F2A66B"/>
      </a:accent3>
      <a:accent4>
        <a:srgbClr val="9FB0C8"/>
      </a:accent4>
      <a:accent5>
        <a:srgbClr val="5A6372"/>
      </a:accent5>
      <a:accent6>
        <a:srgbClr val="C3CDE0"/>
      </a:accent6>
      <a:hlink>
        <a:srgbClr val="0563C1"/>
      </a:hlink>
      <a:folHlink>
        <a:srgbClr val="954F72"/>
      </a:folHlink>
    </a:clrScheme>
    <a:fontScheme name="FAA Wildlife Strikes: DATA 230 Mid-Presentation">
      <a:majorFont>
        <a:latin typeface="Source Serif 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Helvetica Neue"/>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FAA Wildlife Strikes: DATA 230 Mid-Presentation</dc:title>
  <dc:subject/>
  <dc:creator/>
  <cp:lastModifiedBy/>
  <cp:revision>1</cp:revision>
  <dcterms:created xsi:type="dcterms:W3CDTF">2026-10-07T23:54:11Z</dcterms:created>
  <dcterms:modified xsi:type="dcterms:W3CDTF">2026-10-07T23:54:11Z</dcterms:modified>
</cp:coreProperties>
</file>