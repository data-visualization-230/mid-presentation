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12192000"/>
  <p:embeddedFontLst>
    <p:embeddedFont>
      <p:font typeface="Helvetica Neue"/>
      <p:regular r:id="rId23"/>
      <p:bold r:id="rId24"/>
      <p:italic r:id="rId25"/>
      <p:boldItalic r:id="rId26"/>
    </p:embeddedFont>
    <p:embeddedFont>
      <p:font typeface="Source Serif 4"/>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E6A5718-A04D-47AB-BEB5-0419BADE9AB3}">
  <a:tblStyle styleId="{6E6A5718-A04D-47AB-BEB5-0419BADE9AB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HelveticaNeue-bold.fntdata"/><Relationship Id="rId23" Type="http://schemas.openxmlformats.org/officeDocument/2006/relationships/font" Target="fonts/HelveticaNeue-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boldItalic.fntdata"/><Relationship Id="rId25" Type="http://schemas.openxmlformats.org/officeDocument/2006/relationships/font" Target="fonts/HelveticaNeue-italic.fntdata"/><Relationship Id="rId28" Type="http://schemas.openxmlformats.org/officeDocument/2006/relationships/font" Target="fonts/SourceSerif4-bold.fntdata"/><Relationship Id="rId27" Type="http://schemas.openxmlformats.org/officeDocument/2006/relationships/font" Target="fonts/SourceSerif4-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ourceSerif4-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SourceSerif4-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2pPr>
            <a:lvl3pPr lvl="2"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3pPr>
            <a:lvl4pPr lvl="3"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4pPr>
            <a:lvl5pPr lvl="4"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5pPr>
            <a:lvl6pPr lvl="5"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6pPr>
            <a:lvl7pPr lvl="6"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7pPr>
            <a:lvl8pPr lvl="7"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8pPr>
            <a:lvl9pPr lvl="8"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2pPr>
            <a:lvl3pPr lvl="2"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3pPr>
            <a:lvl4pPr lvl="3"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4pPr>
            <a:lvl5pPr lvl="4"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5pPr>
            <a:lvl6pPr lvl="5"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6pPr>
            <a:lvl7pPr lvl="6"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7pPr>
            <a:lvl8pPr lvl="7"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8pPr>
            <a:lvl9pPr lvl="8"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indent="-228600" lvl="1" marL="91440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2pPr>
            <a:lvl3pPr indent="-228600" lvl="2" marL="137160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3pPr>
            <a:lvl4pPr indent="-228600" lvl="3" marL="182880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4pPr>
            <a:lvl5pPr indent="-228600" lvl="4" marL="228600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5pPr>
            <a:lvl6pPr indent="-228600" lvl="5" marL="274320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6pPr>
            <a:lvl7pPr indent="-228600" lvl="6" marL="320040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7pPr>
            <a:lvl8pPr indent="-228600" lvl="7" marL="365760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8pPr>
            <a:lvl9pPr indent="-228600" lvl="8" marL="411480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2pPr>
            <a:lvl3pPr lvl="2"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3pPr>
            <a:lvl4pPr lvl="3"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4pPr>
            <a:lvl5pPr lvl="4"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5pPr>
            <a:lvl6pPr lvl="5"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6pPr>
            <a:lvl7pPr lvl="6"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7pPr>
            <a:lvl8pPr lvl="7"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8pPr>
            <a:lvl9pPr lvl="8" marR="0" rtl="0" algn="l">
              <a:spcBef>
                <a:spcPts val="0"/>
              </a:spcBef>
              <a:spcAft>
                <a:spcPts val="0"/>
              </a:spcAft>
              <a:buSzPts val="1400"/>
              <a:buNone/>
              <a:defRPr b="0" i="0" sz="1800" u="none" cap="none" strike="noStrike">
                <a:solidFill>
                  <a:schemeClr val="dk1"/>
                </a:solidFill>
                <a:latin typeface="Helvetica Neue"/>
                <a:ea typeface="Helvetica Neue"/>
                <a:cs typeface="Helvetica Neue"/>
                <a:sym typeface="Helvetica Neue"/>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(about 10 min total): cover 0:15, dataset 1:00, why 0:30, cleaning 1:30, EDA 6 x 0:35 = 3:30, conclusions 0:30, dashboard 1:00, ML 0:45, thank you 0:15. Read the main question aloud.</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 size, features. Say it in your own words. Dashboard uses all 356,920 cleaned reports (6.24% damaging); the modeling set keeps only the 230,828 strikes whose damage was assessed (9.6% damaging).</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Rubric: large, messy, multi-feature, requires cleaning, well justified.</a:t>
            </a:r>
            <a:endParaRPr/>
          </a:p>
        </p:txBody>
      </p:sp>
      <p:sp>
        <p:nvSpPr>
          <p:cNvPr id="46" name="Google Shape;4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rationale, not code. Train before 2022 (170,857 rows), test 2022 onward (59,971 rows).</a:t>
            </a:r>
            <a:endParaRPr/>
          </a:p>
        </p:txBody>
      </p:sp>
      <p:sp>
        <p:nvSpPr>
          <p:cNvPr id="63" name="Google Shape;6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Challenge to stress: the label itself. 126,157 strikes were labeled no damage with no assessment.</a:t>
            </a:r>
            <a:endParaRPr/>
          </a:p>
        </p:txBody>
      </p:sp>
      <p:sp>
        <p:nvSpPr>
          <p:cNvPr id="72" name="Google Shape;7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Challenge: the model could learn that missing aircraft details mean no damage. Fixing the label removed most of that shortcut.</a:t>
            </a:r>
            <a:endParaRPr/>
          </a:p>
        </p:txBody>
      </p:sp>
      <p:sp>
        <p:nvSpPr>
          <p:cNvPr id="92" name="Google Shape;9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Reporting drift is why we use a time-based split.</a:t>
            </a:r>
            <a:endParaRPr/>
          </a:p>
        </p:txBody>
      </p:sp>
      <p:sp>
        <p:nvSpPr>
          <p:cNvPr id="112" name="Google Shape;11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Frequency is not danger. Approach has the most damaging strikes in total (7,683). Unknown phase (40%) excluded from chart.</a:t>
            </a:r>
            <a:endParaRPr/>
          </a:p>
        </p:txBody>
      </p:sp>
      <p:sp>
        <p:nvSpPr>
          <p:cNvPr id="128" name="Google Shape;12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Common is not dangerous. Risk tiers help wildlife managers prioritize.</a:t>
            </a:r>
            <a:endParaRPr/>
          </a:p>
        </p:txBody>
      </p:sp>
      <p:sp>
        <p:nvSpPr>
          <p:cNvPr id="144" name="Google Shape;14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Hit often is not the same as damaged often: lights are damaged 64% of the time but are only 1% of hits. Struck flags say where the bird hit, not whether damage resulted; damaged flags are dropped as leakage.</a:t>
            </a:r>
            <a:endParaRPr/>
          </a:p>
        </p:txBody>
      </p:sp>
      <p:sp>
        <p:nvSpPr>
          <p:cNvPr id="160" name="Google Shape;16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Altitude profile with speed by band.</a:t>
            </a:r>
            <a:endParaRPr/>
          </a:p>
        </p:txBody>
      </p:sp>
      <p:sp>
        <p:nvSpPr>
          <p:cNvPr id="176" name="Google Shape;17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Strongest single driver. Supports Cramers V ranking in the notebook.</a:t>
            </a:r>
            <a:endParaRPr/>
          </a:p>
        </p:txBody>
      </p:sp>
      <p:sp>
        <p:nvSpPr>
          <p:cNvPr id="192" name="Google Shape;19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Rubric: GPU EDA (RAPIDS cuDF) explained when appropriate. Confirm exactly what was run on GPU before presenting, and do not quote speedup numbers unless verified.</a:t>
            </a:r>
            <a:endParaRPr/>
          </a:p>
        </p:txBody>
      </p:sp>
      <p:sp>
        <p:nvSpPr>
          <p:cNvPr id="208" name="Google Shape;20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Justify each choice with an EDA slide number.</a:t>
            </a:r>
            <a:endParaRPr/>
          </a:p>
        </p:txBody>
      </p:sp>
      <p:sp>
        <p:nvSpPr>
          <p:cNvPr id="218" name="Google Shape;21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Switch to the Tableau dashboard here. One member presents, about 1 minute. Interpret the findings; do not explain software operations.</a:t>
            </a:r>
            <a:endParaRPr/>
          </a:p>
        </p:txBody>
      </p:sp>
      <p:sp>
        <p:nvSpPr>
          <p:cNvPr id="239" name="Google Shape;23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minutes of Q&amp;A. Be ready on: why classification, why a time-based split, the 6.24% vs 9.6% damage rate, why unassessed rows were removed, and what the dashboard shows.</a:t>
            </a:r>
            <a:endParaRPr/>
          </a:p>
        </p:txBody>
      </p:sp>
      <p:sp>
        <p:nvSpPr>
          <p:cNvPr id="261" name="Google Shape;26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5F2EA"/>
        </a:solidFill>
      </p:bgPr>
    </p:bg>
    <p:spTree>
      <p:nvGrpSpPr>
        <p:cNvPr id="12" name="Shape 12"/>
        <p:cNvGrpSpPr/>
        <p:nvPr/>
      </p:nvGrpSpPr>
      <p:grpSpPr>
        <a:xfrm>
          <a:off x="0" y="0"/>
          <a:ext cx="0" cy="0"/>
          <a:chOff x="0" y="0"/>
          <a:chExt cx="0" cy="0"/>
        </a:xfrm>
      </p:grpSpPr>
      <p:sp>
        <p:nvSpPr>
          <p:cNvPr id="13" name="Google Shape;13;p2"/>
          <p:cNvSpPr txBox="1"/>
          <p:nvPr>
            <p:ph type="title"/>
          </p:nvPr>
        </p:nvSpPr>
        <p:spPr>
          <a:xfrm>
            <a:off x="812800" y="1069330"/>
            <a:ext cx="10566400" cy="384175"/>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0F1B33"/>
              </a:buClr>
              <a:buSzPts val="2647"/>
              <a:buFont typeface="Source Serif 4"/>
              <a:buNone/>
              <a:defRPr sz="2647">
                <a:solidFill>
                  <a:srgbClr val="0F1B33"/>
                </a:solidFill>
                <a:latin typeface="Source Serif 4"/>
                <a:ea typeface="Source Serif 4"/>
                <a:cs typeface="Source Serif 4"/>
                <a:sym typeface="Source Serif 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812800" y="1758305"/>
            <a:ext cx="10566400" cy="4286895"/>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0F1B33"/>
              </a:buClr>
              <a:buSzPts val="1600"/>
              <a:buNone/>
              <a:defRPr sz="1600">
                <a:solidFill>
                  <a:srgbClr val="0F1B33"/>
                </a:solidFill>
                <a:latin typeface="Helvetica Neue"/>
                <a:ea typeface="Helvetica Neue"/>
                <a:cs typeface="Helvetica Neue"/>
                <a:sym typeface="Helvetica Neue"/>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2EA"/>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12800" y="1069330"/>
            <a:ext cx="10566400" cy="384175"/>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0F1B33"/>
              </a:buClr>
              <a:buSzPts val="2647"/>
              <a:buFont typeface="Source Serif 4"/>
              <a:buNone/>
              <a:defRPr b="0" i="0" sz="2647" u="none" cap="none" strike="noStrike">
                <a:solidFill>
                  <a:srgbClr val="0F1B33"/>
                </a:solidFill>
                <a:latin typeface="Source Serif 4"/>
                <a:ea typeface="Source Serif 4"/>
                <a:cs typeface="Source Serif 4"/>
                <a:sym typeface="Source Serif 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12800" y="1758305"/>
            <a:ext cx="10566400" cy="4286895"/>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0F1B33"/>
              </a:buClr>
              <a:buSzPts val="1600"/>
              <a:buFont typeface="Arial"/>
              <a:buNone/>
              <a:defRPr b="0" i="0" sz="1600" u="none" cap="none" strike="noStrike">
                <a:solidFill>
                  <a:srgbClr val="0F1B33"/>
                </a:solidFill>
                <a:latin typeface="Helvetica Neue"/>
                <a:ea typeface="Helvetica Neue"/>
                <a:cs typeface="Helvetica Neue"/>
                <a:sym typeface="Helvetica Neue"/>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Helvetica Neue"/>
                <a:ea typeface="Helvetica Neue"/>
                <a:cs typeface="Helvetica Neue"/>
                <a:sym typeface="Helvetica Neue"/>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Helvetica Neue"/>
                <a:ea typeface="Helvetica Neue"/>
                <a:cs typeface="Helvetica Neue"/>
                <a:sym typeface="Helvetica Neue"/>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Helvetica Neue"/>
                <a:ea typeface="Helvetica Neue"/>
                <a:cs typeface="Helvetica Neue"/>
                <a:sym typeface="Helvetica Neue"/>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Helvetica Neue"/>
                <a:ea typeface="Helvetica Neue"/>
                <a:cs typeface="Helvetica Neue"/>
                <a:sym typeface="Helvetica Neue"/>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Helvetica Neue"/>
                <a:ea typeface="Helvetica Neue"/>
                <a:cs typeface="Helvetica Neue"/>
                <a:sym typeface="Helvetica Neue"/>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Helvetica Neue"/>
                <a:ea typeface="Helvetica Neue"/>
                <a:cs typeface="Helvetica Neue"/>
                <a:sym typeface="Helvetica Neue"/>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Helvetica Neue"/>
                <a:ea typeface="Helvetica Neue"/>
                <a:cs typeface="Helvetica Neue"/>
                <a:sym typeface="Helvetica Neue"/>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33"/>
        </a:solidFill>
      </p:bgPr>
    </p:bg>
    <p:spTree>
      <p:nvGrpSpPr>
        <p:cNvPr id="20" name="Shape 20"/>
        <p:cNvGrpSpPr/>
        <p:nvPr/>
      </p:nvGrpSpPr>
      <p:grpSpPr>
        <a:xfrm>
          <a:off x="0" y="0"/>
          <a:ext cx="0" cy="0"/>
          <a:chOff x="0" y="0"/>
          <a:chExt cx="0" cy="0"/>
        </a:xfrm>
      </p:grpSpPr>
      <p:sp>
        <p:nvSpPr>
          <p:cNvPr id="21" name="Google Shape;21;p4"/>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892B"/>
              </a:buClr>
              <a:buSzPts val="1300"/>
              <a:buFont typeface="Helvetica Neue"/>
              <a:buNone/>
            </a:pPr>
            <a:r>
              <a:rPr b="1" i="0" lang="en-US" spc="100" sz="1300" u="none" cap="none" strike="noStrike">
                <a:solidFill>
                  <a:srgbClr val="E8892B"/>
                </a:solidFill>
                <a:latin typeface="Helvetica Neue"/>
                <a:ea typeface="Helvetica Neue"/>
                <a:cs typeface="Helvetica Neue"/>
                <a:sym typeface="Helvetica Neue"/>
              </a:rPr>
              <a:t>DATA 230 · GROUP PROJECT · MID-PRESENTATION</a:t>
            </a:r>
            <a:endParaRPr b="0" i="0" sz="1300" u="none" cap="none" strike="noStrike">
              <a:solidFill>
                <a:schemeClr val="dk1"/>
              </a:solidFill>
              <a:latin typeface="Helvetica Neue"/>
              <a:ea typeface="Helvetica Neue"/>
              <a:cs typeface="Helvetica Neue"/>
              <a:sym typeface="Helvetica Neue"/>
            </a:endParaRPr>
          </a:p>
        </p:txBody>
      </p:sp>
      <p:sp>
        <p:nvSpPr>
          <p:cNvPr id="22" name="Google Shape;22;p4"/>
          <p:cNvSpPr txBox="1"/>
          <p:nvPr>
            <p:ph type="title"/>
          </p:nvPr>
        </p:nvSpPr>
        <p:spPr>
          <a:xfrm>
            <a:off x="812800" y="1272530"/>
            <a:ext cx="10883392" cy="141218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5F2EA"/>
              </a:buClr>
              <a:buSzPts val="5200"/>
              <a:buFont typeface="Source Serif 4"/>
              <a:buNone/>
            </a:pPr>
            <a:r>
              <a:rPr b="1" i="0" lang="en-US" sz="5200">
                <a:solidFill>
                  <a:srgbClr val="F5F2EA"/>
                </a:solidFill>
                <a:latin typeface="Source Serif 4"/>
                <a:ea typeface="Source Serif 4"/>
                <a:cs typeface="Source Serif 4"/>
                <a:sym typeface="Source Serif 4"/>
              </a:rPr>
              <a:t>What makes a wildlife strike damaging?</a:t>
            </a:r>
            <a:endParaRPr sz="5200"/>
          </a:p>
        </p:txBody>
      </p:sp>
      <p:sp>
        <p:nvSpPr>
          <p:cNvPr id="23" name="Google Shape;23;p4"/>
          <p:cNvSpPr/>
          <p:nvPr/>
        </p:nvSpPr>
        <p:spPr>
          <a:xfrm>
            <a:off x="812800" y="2887911"/>
            <a:ext cx="10883392" cy="67687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3CDE0"/>
              </a:buClr>
              <a:buSzPts val="1900"/>
              <a:buFont typeface="Helvetica Neue"/>
              <a:buNone/>
            </a:pPr>
            <a:r>
              <a:rPr b="0" i="0" lang="en-US" sz="1900" u="none" cap="none" strike="noStrike">
                <a:solidFill>
                  <a:srgbClr val="C3CDE0"/>
                </a:solidFill>
                <a:latin typeface="Helvetica Neue"/>
                <a:ea typeface="Helvetica Neue"/>
                <a:cs typeface="Helvetica Neue"/>
                <a:sym typeface="Helvetica Neue"/>
              </a:rPr>
              <a:t>When, where, and with which animals is the risk highest? FAA Wildlife Strike Database, 1990 to 2026</a:t>
            </a:r>
            <a:endParaRPr b="0" i="0" sz="1900" u="none" cap="none" strike="noStrike">
              <a:solidFill>
                <a:schemeClr val="dk1"/>
              </a:solidFill>
              <a:latin typeface="Helvetica Neue"/>
              <a:ea typeface="Helvetica Neue"/>
              <a:cs typeface="Helvetica Neue"/>
              <a:sym typeface="Helvetica Neue"/>
            </a:endParaRPr>
          </a:p>
        </p:txBody>
      </p:sp>
      <p:sp>
        <p:nvSpPr>
          <p:cNvPr id="24" name="Google Shape;24;p4"/>
          <p:cNvSpPr/>
          <p:nvPr/>
        </p:nvSpPr>
        <p:spPr>
          <a:xfrm>
            <a:off x="812800" y="3767981"/>
            <a:ext cx="10883392" cy="3098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66B"/>
              </a:buClr>
              <a:buSzPts val="1600"/>
              <a:buFont typeface="Helvetica Neue"/>
              <a:buNone/>
            </a:pPr>
            <a:r>
              <a:rPr b="1" i="0" lang="en-US" sz="1600" u="none" cap="none" strike="noStrike">
                <a:solidFill>
                  <a:srgbClr val="F2A66B"/>
                </a:solidFill>
                <a:latin typeface="Helvetica Neue"/>
                <a:ea typeface="Helvetica Neue"/>
                <a:cs typeface="Helvetica Neue"/>
                <a:sym typeface="Helvetica Neue"/>
              </a:rPr>
              <a:t>Sneha · Shaili · Sanjana · Shubhi</a:t>
            </a:r>
            <a:endParaRPr b="0" i="0" sz="16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33"/>
        </a:solidFill>
      </p:bgPr>
    </p:bg>
    <p:spTree>
      <p:nvGrpSpPr>
        <p:cNvPr id="29" name="Shape 29"/>
        <p:cNvGrpSpPr/>
        <p:nvPr/>
      </p:nvGrpSpPr>
      <p:grpSpPr>
        <a:xfrm>
          <a:off x="0" y="0"/>
          <a:ext cx="0" cy="0"/>
          <a:chOff x="0" y="0"/>
          <a:chExt cx="0" cy="0"/>
        </a:xfrm>
      </p:grpSpPr>
      <p:sp>
        <p:nvSpPr>
          <p:cNvPr id="30" name="Google Shape;30;p5"/>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892B"/>
              </a:buClr>
              <a:buSzPts val="1300"/>
              <a:buFont typeface="Helvetica Neue"/>
              <a:buNone/>
            </a:pPr>
            <a:r>
              <a:rPr b="1" i="0" lang="en-US" spc="100" sz="1300" u="none" cap="none" strike="noStrike">
                <a:solidFill>
                  <a:srgbClr val="E8892B"/>
                </a:solidFill>
                <a:latin typeface="Helvetica Neue"/>
                <a:ea typeface="Helvetica Neue"/>
                <a:cs typeface="Helvetica Neue"/>
                <a:sym typeface="Helvetica Neue"/>
              </a:rPr>
              <a:t>1 · DATASET</a:t>
            </a:r>
            <a:endParaRPr b="0" i="0" sz="1300" u="none" cap="none" strike="noStrike">
              <a:solidFill>
                <a:schemeClr val="dk1"/>
              </a:solidFill>
              <a:latin typeface="Helvetica Neue"/>
              <a:ea typeface="Helvetica Neue"/>
              <a:cs typeface="Helvetica Neue"/>
              <a:sym typeface="Helvetica Neue"/>
            </a:endParaRPr>
          </a:p>
        </p:txBody>
      </p:sp>
      <p:sp>
        <p:nvSpPr>
          <p:cNvPr id="31" name="Google Shape;31;p5"/>
          <p:cNvSpPr txBox="1"/>
          <p:nvPr>
            <p:ph type="title"/>
          </p:nvPr>
        </p:nvSpPr>
        <p:spPr>
          <a:xfrm>
            <a:off x="812800" y="127253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5F2EA"/>
              </a:buClr>
              <a:buSzPts val="3000"/>
              <a:buFont typeface="Source Serif 4"/>
              <a:buNone/>
            </a:pPr>
            <a:r>
              <a:rPr b="1" i="0" lang="en-US" sz="3000">
                <a:solidFill>
                  <a:srgbClr val="F5F2EA"/>
                </a:solidFill>
                <a:latin typeface="Source Serif 4"/>
                <a:ea typeface="Source Serif 4"/>
                <a:cs typeface="Source Serif 4"/>
                <a:sym typeface="Source Serif 4"/>
              </a:rPr>
              <a:t>A public FAA database of voluntary strike reports</a:t>
            </a:r>
            <a:endParaRPr sz="3000"/>
          </a:p>
        </p:txBody>
      </p:sp>
      <p:cxnSp>
        <p:nvCxnSpPr>
          <p:cNvPr id="32" name="Google Shape;32;p5"/>
          <p:cNvCxnSpPr/>
          <p:nvPr/>
        </p:nvCxnSpPr>
        <p:spPr>
          <a:xfrm>
            <a:off x="812800" y="1932930"/>
            <a:ext cx="3352800" cy="0"/>
          </a:xfrm>
          <a:prstGeom prst="straightConnector1">
            <a:avLst/>
          </a:prstGeom>
          <a:noFill/>
          <a:ln cap="flat" cmpd="sng" w="25400">
            <a:solidFill>
              <a:srgbClr val="E8892B"/>
            </a:solidFill>
            <a:prstDash val="solid"/>
            <a:round/>
            <a:headEnd len="sm" w="sm" type="none"/>
            <a:tailEnd len="sm" w="sm" type="none"/>
          </a:ln>
        </p:spPr>
      </p:cxnSp>
      <p:sp>
        <p:nvSpPr>
          <p:cNvPr id="33" name="Google Shape;33;p5"/>
          <p:cNvSpPr/>
          <p:nvPr/>
        </p:nvSpPr>
        <p:spPr>
          <a:xfrm>
            <a:off x="812800" y="2072630"/>
            <a:ext cx="3453384" cy="63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5F2EA"/>
              </a:buClr>
              <a:buSzPts val="4800"/>
              <a:buFont typeface="Source Serif 4"/>
              <a:buNone/>
            </a:pPr>
            <a:r>
              <a:rPr b="1" i="0" lang="en-US" sz="4800" u="none" cap="none" strike="noStrike">
                <a:solidFill>
                  <a:srgbClr val="F5F2EA"/>
                </a:solidFill>
                <a:latin typeface="Source Serif 4"/>
                <a:ea typeface="Source Serif 4"/>
                <a:cs typeface="Source Serif 4"/>
                <a:sym typeface="Source Serif 4"/>
              </a:rPr>
              <a:t>356,972</a:t>
            </a:r>
            <a:endParaRPr b="0" i="0" sz="4800" u="none" cap="none" strike="noStrike">
              <a:solidFill>
                <a:schemeClr val="dk1"/>
              </a:solidFill>
              <a:latin typeface="Helvetica Neue"/>
              <a:ea typeface="Helvetica Neue"/>
              <a:cs typeface="Helvetica Neue"/>
              <a:sym typeface="Helvetica Neue"/>
            </a:endParaRPr>
          </a:p>
        </p:txBody>
      </p:sp>
      <p:sp>
        <p:nvSpPr>
          <p:cNvPr id="34" name="Google Shape;34;p5"/>
          <p:cNvSpPr/>
          <p:nvPr/>
        </p:nvSpPr>
        <p:spPr>
          <a:xfrm>
            <a:off x="812800" y="2720330"/>
            <a:ext cx="3453384"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3CDE0"/>
              </a:buClr>
              <a:buSzPts val="1400"/>
              <a:buFont typeface="Helvetica Neue"/>
              <a:buNone/>
            </a:pPr>
            <a:r>
              <a:rPr b="0" i="0" lang="en-US" sz="1400" u="none" cap="none" strike="noStrike">
                <a:solidFill>
                  <a:srgbClr val="C3CDE0"/>
                </a:solidFill>
                <a:latin typeface="Helvetica Neue"/>
                <a:ea typeface="Helvetica Neue"/>
                <a:cs typeface="Helvetica Neue"/>
                <a:sym typeface="Helvetica Neue"/>
              </a:rPr>
              <a:t>strike reports, 1990 to mid-2026</a:t>
            </a:r>
            <a:endParaRPr b="0" i="0" sz="1400" u="none" cap="none" strike="noStrike">
              <a:solidFill>
                <a:schemeClr val="dk1"/>
              </a:solidFill>
              <a:latin typeface="Helvetica Neue"/>
              <a:ea typeface="Helvetica Neue"/>
              <a:cs typeface="Helvetica Neue"/>
              <a:sym typeface="Helvetica Neue"/>
            </a:endParaRPr>
          </a:p>
        </p:txBody>
      </p:sp>
      <p:cxnSp>
        <p:nvCxnSpPr>
          <p:cNvPr id="35" name="Google Shape;35;p5"/>
          <p:cNvCxnSpPr/>
          <p:nvPr/>
        </p:nvCxnSpPr>
        <p:spPr>
          <a:xfrm>
            <a:off x="4419600" y="1932930"/>
            <a:ext cx="3352800" cy="0"/>
          </a:xfrm>
          <a:prstGeom prst="straightConnector1">
            <a:avLst/>
          </a:prstGeom>
          <a:noFill/>
          <a:ln cap="flat" cmpd="sng" w="25400">
            <a:solidFill>
              <a:srgbClr val="E8892B"/>
            </a:solidFill>
            <a:prstDash val="solid"/>
            <a:round/>
            <a:headEnd len="sm" w="sm" type="none"/>
            <a:tailEnd len="sm" w="sm" type="none"/>
          </a:ln>
        </p:spPr>
      </p:cxnSp>
      <p:sp>
        <p:nvSpPr>
          <p:cNvPr id="36" name="Google Shape;36;p5"/>
          <p:cNvSpPr/>
          <p:nvPr/>
        </p:nvSpPr>
        <p:spPr>
          <a:xfrm>
            <a:off x="4419600" y="2072630"/>
            <a:ext cx="3453384" cy="63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5F2EA"/>
              </a:buClr>
              <a:buSzPts val="4800"/>
              <a:buFont typeface="Source Serif 4"/>
              <a:buNone/>
            </a:pPr>
            <a:r>
              <a:rPr b="1" i="0" lang="en-US" sz="4800" u="none" cap="none" strike="noStrike">
                <a:solidFill>
                  <a:srgbClr val="F5F2EA"/>
                </a:solidFill>
                <a:latin typeface="Source Serif 4"/>
                <a:ea typeface="Source Serif 4"/>
                <a:cs typeface="Source Serif 4"/>
                <a:sym typeface="Source Serif 4"/>
              </a:rPr>
              <a:t>103</a:t>
            </a:r>
            <a:endParaRPr b="0" i="0" sz="4800" u="none" cap="none" strike="noStrike">
              <a:solidFill>
                <a:schemeClr val="dk1"/>
              </a:solidFill>
              <a:latin typeface="Helvetica Neue"/>
              <a:ea typeface="Helvetica Neue"/>
              <a:cs typeface="Helvetica Neue"/>
              <a:sym typeface="Helvetica Neue"/>
            </a:endParaRPr>
          </a:p>
        </p:txBody>
      </p:sp>
      <p:sp>
        <p:nvSpPr>
          <p:cNvPr id="37" name="Google Shape;37;p5"/>
          <p:cNvSpPr/>
          <p:nvPr/>
        </p:nvSpPr>
        <p:spPr>
          <a:xfrm>
            <a:off x="4419600" y="2720330"/>
            <a:ext cx="3453384"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3CDE0"/>
              </a:buClr>
              <a:buSzPts val="1400"/>
              <a:buFont typeface="Helvetica Neue"/>
              <a:buNone/>
            </a:pPr>
            <a:r>
              <a:rPr b="0" i="0" lang="en-US" sz="1400" u="none" cap="none" strike="noStrike">
                <a:solidFill>
                  <a:srgbClr val="C3CDE0"/>
                </a:solidFill>
                <a:latin typeface="Helvetica Neue"/>
                <a:ea typeface="Helvetica Neue"/>
                <a:cs typeface="Helvetica Neue"/>
                <a:sym typeface="Helvetica Neue"/>
              </a:rPr>
              <a:t>raw columns</a:t>
            </a:r>
            <a:endParaRPr b="0" i="0" sz="1400" u="none" cap="none" strike="noStrike">
              <a:solidFill>
                <a:schemeClr val="dk1"/>
              </a:solidFill>
              <a:latin typeface="Helvetica Neue"/>
              <a:ea typeface="Helvetica Neue"/>
              <a:cs typeface="Helvetica Neue"/>
              <a:sym typeface="Helvetica Neue"/>
            </a:endParaRPr>
          </a:p>
        </p:txBody>
      </p:sp>
      <p:cxnSp>
        <p:nvCxnSpPr>
          <p:cNvPr id="38" name="Google Shape;38;p5"/>
          <p:cNvCxnSpPr/>
          <p:nvPr/>
        </p:nvCxnSpPr>
        <p:spPr>
          <a:xfrm>
            <a:off x="8026400" y="1932930"/>
            <a:ext cx="3352800" cy="0"/>
          </a:xfrm>
          <a:prstGeom prst="straightConnector1">
            <a:avLst/>
          </a:prstGeom>
          <a:noFill/>
          <a:ln cap="flat" cmpd="sng" w="25400">
            <a:solidFill>
              <a:srgbClr val="E8892B"/>
            </a:solidFill>
            <a:prstDash val="solid"/>
            <a:round/>
            <a:headEnd len="sm" w="sm" type="none"/>
            <a:tailEnd len="sm" w="sm" type="none"/>
          </a:ln>
        </p:spPr>
      </p:cxnSp>
      <p:sp>
        <p:nvSpPr>
          <p:cNvPr id="39" name="Google Shape;39;p5"/>
          <p:cNvSpPr/>
          <p:nvPr/>
        </p:nvSpPr>
        <p:spPr>
          <a:xfrm>
            <a:off x="8026400" y="2072630"/>
            <a:ext cx="3453384" cy="63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5F2EA"/>
              </a:buClr>
              <a:buSzPts val="4800"/>
              <a:buFont typeface="Source Serif 4"/>
              <a:buNone/>
            </a:pPr>
            <a:r>
              <a:rPr b="1" i="0" lang="en-US" sz="4800" u="none" cap="none" strike="noStrike">
                <a:solidFill>
                  <a:srgbClr val="F5F2EA"/>
                </a:solidFill>
                <a:latin typeface="Source Serif 4"/>
                <a:ea typeface="Source Serif 4"/>
                <a:cs typeface="Source Serif 4"/>
                <a:sym typeface="Source Serif 4"/>
              </a:rPr>
              <a:t>6.24%</a:t>
            </a:r>
            <a:endParaRPr b="0" i="0" sz="4800" u="none" cap="none" strike="noStrike">
              <a:solidFill>
                <a:schemeClr val="dk1"/>
              </a:solidFill>
              <a:latin typeface="Helvetica Neue"/>
              <a:ea typeface="Helvetica Neue"/>
              <a:cs typeface="Helvetica Neue"/>
              <a:sym typeface="Helvetica Neue"/>
            </a:endParaRPr>
          </a:p>
        </p:txBody>
      </p:sp>
      <p:sp>
        <p:nvSpPr>
          <p:cNvPr id="40" name="Google Shape;40;p5"/>
          <p:cNvSpPr/>
          <p:nvPr/>
        </p:nvSpPr>
        <p:spPr>
          <a:xfrm>
            <a:off x="8026400" y="2720330"/>
            <a:ext cx="3453384"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3CDE0"/>
              </a:buClr>
              <a:buSzPts val="1400"/>
              <a:buFont typeface="Helvetica Neue"/>
              <a:buNone/>
            </a:pPr>
            <a:r>
              <a:rPr b="0" i="0" lang="en-US" sz="1400" u="none" cap="none" strike="noStrike">
                <a:solidFill>
                  <a:srgbClr val="C3CDE0"/>
                </a:solidFill>
                <a:latin typeface="Helvetica Neue"/>
                <a:ea typeface="Helvetica Neue"/>
                <a:cs typeface="Helvetica Neue"/>
                <a:sym typeface="Helvetica Neue"/>
              </a:rPr>
              <a:t>of reports are damaging</a:t>
            </a:r>
            <a:endParaRPr b="0" i="0" sz="1400" u="none" cap="none" strike="noStrike">
              <a:solidFill>
                <a:schemeClr val="dk1"/>
              </a:solidFill>
              <a:latin typeface="Helvetica Neue"/>
              <a:ea typeface="Helvetica Neue"/>
              <a:cs typeface="Helvetica Neue"/>
              <a:sym typeface="Helvetica Neue"/>
            </a:endParaRPr>
          </a:p>
        </p:txBody>
      </p:sp>
      <p:sp>
        <p:nvSpPr>
          <p:cNvPr id="41" name="Google Shape;41;p5"/>
          <p:cNvSpPr/>
          <p:nvPr/>
        </p:nvSpPr>
        <p:spPr>
          <a:xfrm>
            <a:off x="812800" y="3197820"/>
            <a:ext cx="10883392"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3CDE0"/>
              </a:buClr>
              <a:buSzPts val="1500"/>
              <a:buFont typeface="Helvetica Neue"/>
              <a:buNone/>
            </a:pPr>
            <a:r>
              <a:rPr b="0" i="0" lang="en-US" sz="1500" u="none" cap="none" strike="noStrike">
                <a:solidFill>
                  <a:srgbClr val="C3CDE0"/>
                </a:solidFill>
                <a:latin typeface="Helvetica Neue"/>
                <a:ea typeface="Helvetica Neue"/>
                <a:cs typeface="Helvetica Neue"/>
                <a:sym typeface="Helvetica Neue"/>
              </a:rPr>
              <a:t>Source: wildlife.faa.gov, reported by pilots, airports, tower staff and operators. Features: date and time, airport and state, aircraft and engine, flight phase, height, speed, species, animal size, parts struck and damaged, repair costs.</a:t>
            </a:r>
            <a:endParaRPr b="0" i="0" sz="1500" u="none" cap="none" strike="noStrike">
              <a:solidFill>
                <a:schemeClr val="dk1"/>
              </a:solidFill>
              <a:latin typeface="Helvetica Neue"/>
              <a:ea typeface="Helvetica Neue"/>
              <a:cs typeface="Helvetica Neue"/>
              <a:sym typeface="Helvetica Neue"/>
            </a:endParaRPr>
          </a:p>
        </p:txBody>
      </p:sp>
      <p:sp>
        <p:nvSpPr>
          <p:cNvPr id="42" name="Google Shape;42;p5"/>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FB0C8"/>
              </a:buClr>
              <a:buSzPts val="1200"/>
              <a:buFont typeface="Helvetica Neue"/>
              <a:buNone/>
            </a:pPr>
            <a:r>
              <a:rPr b="0" i="0" lang="en-US" sz="1200" u="none" cap="none" strike="noStrike">
                <a:solidFill>
                  <a:srgbClr val="9FB0C8"/>
                </a:solidFill>
                <a:latin typeface="Helvetica Neue"/>
                <a:ea typeface="Helvetica Neue"/>
                <a:cs typeface="Helvetica Neue"/>
                <a:sym typeface="Helvetica Neue"/>
              </a:rPr>
              <a:t>Source: FAA National Wildlife Strike Database</a:t>
            </a:r>
            <a:endParaRPr b="0" i="0" sz="1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2EA"/>
        </a:solidFill>
      </p:bgPr>
    </p:bg>
    <p:spTree>
      <p:nvGrpSpPr>
        <p:cNvPr id="47" name="Shape 47"/>
        <p:cNvGrpSpPr/>
        <p:nvPr/>
      </p:nvGrpSpPr>
      <p:grpSpPr>
        <a:xfrm>
          <a:off x="0" y="0"/>
          <a:ext cx="0" cy="0"/>
          <a:chOff x="0" y="0"/>
          <a:chExt cx="0" cy="0"/>
        </a:xfrm>
      </p:grpSpPr>
      <p:sp>
        <p:nvSpPr>
          <p:cNvPr id="48" name="Google Shape;48;p6"/>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892B"/>
              </a:buClr>
              <a:buSzPts val="1300"/>
              <a:buFont typeface="Helvetica Neue"/>
              <a:buNone/>
            </a:pPr>
            <a:r>
              <a:rPr b="1" i="0" lang="en-US" spc="100" sz="1300" u="none" cap="none" strike="noStrike">
                <a:solidFill>
                  <a:srgbClr val="E8892B"/>
                </a:solidFill>
                <a:latin typeface="Helvetica Neue"/>
                <a:ea typeface="Helvetica Neue"/>
                <a:cs typeface="Helvetica Neue"/>
                <a:sym typeface="Helvetica Neue"/>
              </a:rPr>
              <a:t>1 · WHY THIS DATASET</a:t>
            </a:r>
            <a:endParaRPr b="0" i="0" sz="1300" u="none" cap="none" strike="noStrike">
              <a:solidFill>
                <a:schemeClr val="dk1"/>
              </a:solidFill>
              <a:latin typeface="Helvetica Neue"/>
              <a:ea typeface="Helvetica Neue"/>
              <a:cs typeface="Helvetica Neue"/>
              <a:sym typeface="Helvetica Neue"/>
            </a:endParaRPr>
          </a:p>
        </p:txBody>
      </p:sp>
      <p:sp>
        <p:nvSpPr>
          <p:cNvPr id="49" name="Google Shape;49;p6"/>
          <p:cNvSpPr txBox="1"/>
          <p:nvPr>
            <p:ph type="title"/>
          </p:nvPr>
        </p:nvSpPr>
        <p:spPr>
          <a:xfrm>
            <a:off x="812800" y="1272530"/>
            <a:ext cx="10883392" cy="8636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1B33"/>
              </a:buClr>
              <a:buSzPts val="3000"/>
              <a:buFont typeface="Source Serif 4"/>
              <a:buNone/>
            </a:pPr>
            <a:r>
              <a:rPr b="1" i="0" lang="en-US" sz="3000">
                <a:solidFill>
                  <a:srgbClr val="0F1B33"/>
                </a:solidFill>
                <a:latin typeface="Source Serif 4"/>
                <a:ea typeface="Source Serif 4"/>
                <a:cs typeface="Source Serif 4"/>
                <a:sym typeface="Source Serif 4"/>
              </a:rPr>
              <a:t>A real safety question, and complex enough to need real work</a:t>
            </a:r>
            <a:endParaRPr sz="3000"/>
          </a:p>
        </p:txBody>
      </p:sp>
      <p:sp>
        <p:nvSpPr>
          <p:cNvPr id="50" name="Google Shape;50;p6"/>
          <p:cNvSpPr/>
          <p:nvPr/>
        </p:nvSpPr>
        <p:spPr>
          <a:xfrm>
            <a:off x="815975" y="2342505"/>
            <a:ext cx="3414167" cy="1758851"/>
          </a:xfrm>
          <a:prstGeom prst="roundRect">
            <a:avLst>
              <a:gd fmla="val 5596" name="adj"/>
            </a:avLst>
          </a:prstGeom>
          <a:solidFill>
            <a:srgbClr val="FFFFFF"/>
          </a:solid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a:off x="1047750" y="2574280"/>
            <a:ext cx="3039135"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7A8C"/>
              </a:buClr>
              <a:buSzPts val="1700"/>
              <a:buFont typeface="Helvetica Neue"/>
              <a:buNone/>
            </a:pPr>
            <a:r>
              <a:rPr b="1" i="0" lang="en-US" sz="1700" u="none" cap="none" strike="noStrike">
                <a:solidFill>
                  <a:srgbClr val="1F7A8C"/>
                </a:solidFill>
                <a:latin typeface="Helvetica Neue"/>
                <a:ea typeface="Helvetica Neue"/>
                <a:cs typeface="Helvetica Neue"/>
                <a:sym typeface="Helvetica Neue"/>
              </a:rPr>
              <a:t>Relevant</a:t>
            </a:r>
            <a:endParaRPr b="0" i="0" sz="1700" u="none" cap="none" strike="noStrike">
              <a:solidFill>
                <a:schemeClr val="dk1"/>
              </a:solidFill>
              <a:latin typeface="Helvetica Neue"/>
              <a:ea typeface="Helvetica Neue"/>
              <a:cs typeface="Helvetica Neue"/>
              <a:sym typeface="Helvetica Neue"/>
            </a:endParaRPr>
          </a:p>
        </p:txBody>
      </p:sp>
      <p:sp>
        <p:nvSpPr>
          <p:cNvPr id="52" name="Google Shape;52;p6"/>
          <p:cNvSpPr/>
          <p:nvPr/>
        </p:nvSpPr>
        <p:spPr>
          <a:xfrm>
            <a:off x="1047750" y="2909540"/>
            <a:ext cx="3039135" cy="985441"/>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F1B33"/>
              </a:buClr>
              <a:buSzPts val="1400"/>
              <a:buFont typeface="Helvetica Neue"/>
              <a:buNone/>
            </a:pPr>
            <a:r>
              <a:rPr b="0" i="0" lang="en-US" sz="1400" u="none" cap="none" strike="noStrike">
                <a:solidFill>
                  <a:srgbClr val="0F1B33"/>
                </a:solidFill>
                <a:latin typeface="Helvetica Neue"/>
                <a:ea typeface="Helvetica Neue"/>
                <a:cs typeface="Helvetica Neue"/>
                <a:sym typeface="Helvetica Neue"/>
              </a:rPr>
              <a:t>Clear outcome: did the strike damage the aircraft? Findings show airports where, when and for which species to focus wildlife control.</a:t>
            </a:r>
            <a:endParaRPr b="0" i="0" sz="1400" u="none" cap="none" strike="noStrike">
              <a:solidFill>
                <a:schemeClr val="dk1"/>
              </a:solidFill>
              <a:latin typeface="Helvetica Neue"/>
              <a:ea typeface="Helvetica Neue"/>
              <a:cs typeface="Helvetica Neue"/>
              <a:sym typeface="Helvetica Neue"/>
            </a:endParaRPr>
          </a:p>
        </p:txBody>
      </p:sp>
      <p:sp>
        <p:nvSpPr>
          <p:cNvPr id="53" name="Google Shape;53;p6"/>
          <p:cNvSpPr/>
          <p:nvPr/>
        </p:nvSpPr>
        <p:spPr>
          <a:xfrm>
            <a:off x="4388892" y="2342505"/>
            <a:ext cx="3414216" cy="1758851"/>
          </a:xfrm>
          <a:prstGeom prst="roundRect">
            <a:avLst>
              <a:gd fmla="val 5596" name="adj"/>
            </a:avLst>
          </a:prstGeom>
          <a:solidFill>
            <a:srgbClr val="FFFFFF"/>
          </a:solid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6"/>
          <p:cNvSpPr/>
          <p:nvPr/>
        </p:nvSpPr>
        <p:spPr>
          <a:xfrm>
            <a:off x="4620667" y="2574280"/>
            <a:ext cx="3039186"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7A8C"/>
              </a:buClr>
              <a:buSzPts val="1700"/>
              <a:buFont typeface="Helvetica Neue"/>
              <a:buNone/>
            </a:pPr>
            <a:r>
              <a:rPr b="1" i="0" lang="en-US" sz="1700" u="none" cap="none" strike="noStrike">
                <a:solidFill>
                  <a:srgbClr val="1F7A8C"/>
                </a:solidFill>
                <a:latin typeface="Helvetica Neue"/>
                <a:ea typeface="Helvetica Neue"/>
                <a:cs typeface="Helvetica Neue"/>
                <a:sym typeface="Helvetica Neue"/>
              </a:rPr>
              <a:t>Messy</a:t>
            </a:r>
            <a:endParaRPr b="0" i="0" sz="1700" u="none" cap="none" strike="noStrike">
              <a:solidFill>
                <a:schemeClr val="dk1"/>
              </a:solidFill>
              <a:latin typeface="Helvetica Neue"/>
              <a:ea typeface="Helvetica Neue"/>
              <a:cs typeface="Helvetica Neue"/>
              <a:sym typeface="Helvetica Neue"/>
            </a:endParaRPr>
          </a:p>
        </p:txBody>
      </p:sp>
      <p:sp>
        <p:nvSpPr>
          <p:cNvPr id="55" name="Google Shape;55;p6"/>
          <p:cNvSpPr/>
          <p:nvPr/>
        </p:nvSpPr>
        <p:spPr>
          <a:xfrm>
            <a:off x="4620667" y="2909540"/>
            <a:ext cx="3039186" cy="985441"/>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F1B33"/>
              </a:buClr>
              <a:buSzPts val="1400"/>
              <a:buFont typeface="Helvetica Neue"/>
              <a:buNone/>
            </a:pPr>
            <a:r>
              <a:rPr b="0" i="0" lang="en-US" sz="1400" u="none" cap="none" strike="noStrike">
                <a:solidFill>
                  <a:srgbClr val="0F1B33"/>
                </a:solidFill>
                <a:latin typeface="Helvetica Neue"/>
                <a:ea typeface="Helvetica Neue"/>
                <a:cs typeface="Helvetica Neue"/>
                <a:sym typeface="Helvetica Neue"/>
              </a:rPr>
              <a:t>605,691 hidden placeholder values such as UNKNOWN. 18 columns over 90% missing, 4 completely empty.</a:t>
            </a:r>
            <a:endParaRPr b="0" i="0" sz="1400" u="none" cap="none" strike="noStrike">
              <a:solidFill>
                <a:schemeClr val="dk1"/>
              </a:solidFill>
              <a:latin typeface="Helvetica Neue"/>
              <a:ea typeface="Helvetica Neue"/>
              <a:cs typeface="Helvetica Neue"/>
              <a:sym typeface="Helvetica Neue"/>
            </a:endParaRPr>
          </a:p>
        </p:txBody>
      </p:sp>
      <p:sp>
        <p:nvSpPr>
          <p:cNvPr id="56" name="Google Shape;56;p6"/>
          <p:cNvSpPr/>
          <p:nvPr/>
        </p:nvSpPr>
        <p:spPr>
          <a:xfrm>
            <a:off x="7961858" y="2342505"/>
            <a:ext cx="3414167" cy="1758851"/>
          </a:xfrm>
          <a:prstGeom prst="roundRect">
            <a:avLst>
              <a:gd fmla="val 5596" name="adj"/>
            </a:avLst>
          </a:prstGeom>
          <a:solidFill>
            <a:srgbClr val="FFFFFF"/>
          </a:solid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6"/>
          <p:cNvSpPr/>
          <p:nvPr/>
        </p:nvSpPr>
        <p:spPr>
          <a:xfrm>
            <a:off x="8193633" y="2574280"/>
            <a:ext cx="3039135"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7A8C"/>
              </a:buClr>
              <a:buSzPts val="1700"/>
              <a:buFont typeface="Helvetica Neue"/>
              <a:buNone/>
            </a:pPr>
            <a:r>
              <a:rPr b="1" i="0" lang="en-US" sz="1700" u="none" cap="none" strike="noStrike">
                <a:solidFill>
                  <a:srgbClr val="1F7A8C"/>
                </a:solidFill>
                <a:latin typeface="Helvetica Neue"/>
                <a:ea typeface="Helvetica Neue"/>
                <a:cs typeface="Helvetica Neue"/>
                <a:sym typeface="Helvetica Neue"/>
              </a:rPr>
              <a:t>Rich</a:t>
            </a:r>
            <a:endParaRPr b="0" i="0" sz="1700" u="none" cap="none" strike="noStrike">
              <a:solidFill>
                <a:schemeClr val="dk1"/>
              </a:solidFill>
              <a:latin typeface="Helvetica Neue"/>
              <a:ea typeface="Helvetica Neue"/>
              <a:cs typeface="Helvetica Neue"/>
              <a:sym typeface="Helvetica Neue"/>
            </a:endParaRPr>
          </a:p>
        </p:txBody>
      </p:sp>
      <p:sp>
        <p:nvSpPr>
          <p:cNvPr id="58" name="Google Shape;58;p6"/>
          <p:cNvSpPr/>
          <p:nvPr/>
        </p:nvSpPr>
        <p:spPr>
          <a:xfrm>
            <a:off x="8193633" y="2909540"/>
            <a:ext cx="3039135" cy="985441"/>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F1B33"/>
              </a:buClr>
              <a:buSzPts val="1400"/>
              <a:buFont typeface="Helvetica Neue"/>
              <a:buNone/>
            </a:pPr>
            <a:r>
              <a:rPr b="0" i="0" lang="en-US" sz="1400" u="none" cap="none" strike="noStrike">
                <a:solidFill>
                  <a:srgbClr val="0F1B33"/>
                </a:solidFill>
                <a:latin typeface="Helvetica Neue"/>
                <a:ea typeface="Helvetica Neue"/>
                <a:cs typeface="Helvetica Neue"/>
                <a:sym typeface="Helvetica Neue"/>
              </a:rPr>
              <a:t>103 columns of categories, numbers, dates, flags and free text, over 36 years, with strong class imbalance and drift.</a:t>
            </a:r>
            <a:endParaRPr b="0" i="0" sz="1400" u="none" cap="none" strike="noStrike">
              <a:solidFill>
                <a:schemeClr val="dk1"/>
              </a:solidFill>
              <a:latin typeface="Helvetica Neue"/>
              <a:ea typeface="Helvetica Neue"/>
              <a:cs typeface="Helvetica Neue"/>
              <a:sym typeface="Helvetica Neue"/>
            </a:endParaRPr>
          </a:p>
        </p:txBody>
      </p:sp>
      <p:sp>
        <p:nvSpPr>
          <p:cNvPr id="59" name="Google Shape;59;p6"/>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372"/>
              </a:buClr>
              <a:buSzPts val="1200"/>
              <a:buFont typeface="Helvetica Neue"/>
              <a:buNone/>
            </a:pPr>
            <a:r>
              <a:rPr b="0" i="0" lang="en-US" sz="1200" u="none" cap="none" strike="noStrike">
                <a:solidFill>
                  <a:srgbClr val="5A6372"/>
                </a:solidFill>
                <a:latin typeface="Helvetica Neue"/>
                <a:ea typeface="Helvetica Neue"/>
                <a:cs typeface="Helvetica Neue"/>
                <a:sym typeface="Helvetica Neue"/>
              </a:rPr>
              <a:t>Dataset motivation</a:t>
            </a:r>
            <a:endParaRPr b="0" i="0" sz="1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2EA"/>
        </a:solidFill>
      </p:bgPr>
    </p:bg>
    <p:spTree>
      <p:nvGrpSpPr>
        <p:cNvPr id="64" name="Shape 64"/>
        <p:cNvGrpSpPr/>
        <p:nvPr/>
      </p:nvGrpSpPr>
      <p:grpSpPr>
        <a:xfrm>
          <a:off x="0" y="0"/>
          <a:ext cx="0" cy="0"/>
          <a:chOff x="0" y="0"/>
          <a:chExt cx="0" cy="0"/>
        </a:xfrm>
      </p:grpSpPr>
      <p:sp>
        <p:nvSpPr>
          <p:cNvPr id="65" name="Google Shape;65;p7"/>
          <p:cNvSpPr/>
          <p:nvPr/>
        </p:nvSpPr>
        <p:spPr>
          <a:xfrm>
            <a:off x="812800" y="812800"/>
            <a:ext cx="10883392" cy="231229"/>
          </a:xfrm>
          <a:prstGeom prst="rect">
            <a:avLst/>
          </a:prstGeom>
          <a:noFill/>
          <a:ln>
            <a:noFill/>
          </a:ln>
        </p:spPr>
        <p:txBody>
          <a:bodyPr anchorCtr="0" anchor="t" bIns="0" lIns="0" spcFirstLastPara="1" rIns="0" wrap="square" tIns="0">
            <a:noAutofit/>
          </a:bodyPr>
          <a:lstStyle/>
          <a:p>
            <a:pPr indent="0" lvl="0" marL="0" marR="0" rtl="0" algn="l">
              <a:lnSpc>
                <a:spcPct val="139982"/>
              </a:lnSpc>
              <a:spcBef>
                <a:spcPts val="0"/>
              </a:spcBef>
              <a:spcAft>
                <a:spcPts val="0"/>
              </a:spcAft>
              <a:buClr>
                <a:srgbClr val="E8892B"/>
              </a:buClr>
              <a:buSzPts val="1158"/>
              <a:buFont typeface="Helvetica Neue"/>
              <a:buNone/>
            </a:pPr>
            <a:r>
              <a:rPr b="1" i="0" lang="en-US" spc="100" sz="1158" u="none" cap="none" strike="noStrike">
                <a:solidFill>
                  <a:srgbClr val="E8892B"/>
                </a:solidFill>
                <a:latin typeface="Helvetica Neue"/>
                <a:ea typeface="Helvetica Neue"/>
                <a:cs typeface="Helvetica Neue"/>
                <a:sym typeface="Helvetica Neue"/>
              </a:rPr>
              <a:t>2 · DATA CLEANING</a:t>
            </a:r>
            <a:endParaRPr b="0" i="0" sz="1158" u="none" cap="none" strike="noStrike">
              <a:solidFill>
                <a:schemeClr val="dk1"/>
              </a:solidFill>
              <a:latin typeface="Helvetica Neue"/>
              <a:ea typeface="Helvetica Neue"/>
              <a:cs typeface="Helvetica Neue"/>
              <a:sym typeface="Helvetica Neue"/>
            </a:endParaRPr>
          </a:p>
        </p:txBody>
      </p:sp>
      <p:sp>
        <p:nvSpPr>
          <p:cNvPr id="66" name="Google Shape;66;p7"/>
          <p:cNvSpPr txBox="1"/>
          <p:nvPr>
            <p:ph type="title"/>
          </p:nvPr>
        </p:nvSpPr>
        <p:spPr>
          <a:xfrm>
            <a:off x="812800" y="1247229"/>
            <a:ext cx="11379200" cy="772120"/>
          </a:xfrm>
          <a:prstGeom prst="rect">
            <a:avLst/>
          </a:prstGeom>
          <a:noFill/>
          <a:ln>
            <a:noFill/>
          </a:ln>
        </p:spPr>
        <p:txBody>
          <a:bodyPr anchorCtr="0" anchor="t" bIns="0" lIns="0" spcFirstLastPara="1" rIns="0" wrap="square" tIns="0">
            <a:normAutofit/>
          </a:bodyPr>
          <a:lstStyle/>
          <a:p>
            <a:pPr indent="0" lvl="0" marL="0" rtl="0" algn="l">
              <a:lnSpc>
                <a:spcPct val="109985"/>
              </a:lnSpc>
              <a:spcBef>
                <a:spcPts val="0"/>
              </a:spcBef>
              <a:spcAft>
                <a:spcPts val="0"/>
              </a:spcAft>
              <a:buClr>
                <a:srgbClr val="0F1B33"/>
              </a:buClr>
              <a:buSzPts val="2794"/>
              <a:buFont typeface="Source Serif 4"/>
              <a:buNone/>
            </a:pPr>
            <a:r>
              <a:rPr b="1" i="0" lang="en-US" sz="2794">
                <a:solidFill>
                  <a:srgbClr val="0F1B33"/>
                </a:solidFill>
                <a:latin typeface="Source Serif 4"/>
                <a:ea typeface="Source Serif 4"/>
                <a:cs typeface="Source Serif 4"/>
                <a:sym typeface="Source Serif 4"/>
              </a:rPr>
              <a:t>Thirteen steps turned 103 raw columns into 51 model features</a:t>
            </a:r>
            <a:endParaRPr sz="2794"/>
          </a:p>
        </p:txBody>
      </p:sp>
      <p:graphicFrame>
        <p:nvGraphicFramePr>
          <p:cNvPr id="67" name="Google Shape;67;p7"/>
          <p:cNvGraphicFramePr/>
          <p:nvPr/>
        </p:nvGraphicFramePr>
        <p:xfrm>
          <a:off x="825500" y="2235250"/>
          <a:ext cx="3000000" cy="3000000"/>
        </p:xfrm>
        <a:graphic>
          <a:graphicData uri="http://schemas.openxmlformats.org/drawingml/2006/table">
            <a:tbl>
              <a:tblPr>
                <a:noFill/>
                <a:tableStyleId>{6E6A5718-A04D-47AB-BEB5-0419BADE9AB3}</a:tableStyleId>
              </a:tblPr>
              <a:tblGrid>
                <a:gridCol w="3517900"/>
                <a:gridCol w="3517900"/>
                <a:gridCol w="3517900"/>
              </a:tblGrid>
              <a:tr h="332675">
                <a:tc>
                  <a:txBody>
                    <a:bodyPr/>
                    <a:lstStyle/>
                    <a:p>
                      <a:pPr indent="0" lvl="0" marL="0" marR="0" rtl="0" algn="l">
                        <a:lnSpc>
                          <a:spcPct val="139983"/>
                        </a:lnSpc>
                        <a:spcBef>
                          <a:spcPts val="0"/>
                        </a:spcBef>
                        <a:spcAft>
                          <a:spcPts val="0"/>
                        </a:spcAft>
                        <a:buClr>
                          <a:srgbClr val="0F1B33"/>
                        </a:buClr>
                        <a:buSzPts val="1198"/>
                        <a:buFont typeface="Helvetica Neue"/>
                        <a:buNone/>
                      </a:pPr>
                      <a:r>
                        <a:rPr b="1" lang="en-US" sz="1198" u="none" cap="none" strike="noStrike">
                          <a:solidFill>
                            <a:srgbClr val="0F1B33"/>
                          </a:solidFill>
                          <a:latin typeface="Helvetica Neue"/>
                          <a:ea typeface="Helvetica Neue"/>
                          <a:cs typeface="Helvetica Neue"/>
                          <a:sym typeface="Helvetica Neue"/>
                        </a:rPr>
                        <a:t>Issue</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B5B3AD"/>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B5B3AD"/>
                      </a:solidFill>
                      <a:prstDash val="solid"/>
                      <a:round/>
                      <a:headEnd len="sm" w="sm" type="none"/>
                      <a:tailEnd len="sm" w="sm" type="none"/>
                    </a:lnB>
                    <a:solidFill>
                      <a:srgbClr val="E3E0D9"/>
                    </a:solidFill>
                  </a:tcPr>
                </a:tc>
                <a:tc>
                  <a:txBody>
                    <a:bodyPr/>
                    <a:lstStyle/>
                    <a:p>
                      <a:pPr indent="0" lvl="0" marL="0" marR="0" rtl="0" algn="l">
                        <a:lnSpc>
                          <a:spcPct val="139983"/>
                        </a:lnSpc>
                        <a:spcBef>
                          <a:spcPts val="0"/>
                        </a:spcBef>
                        <a:spcAft>
                          <a:spcPts val="0"/>
                        </a:spcAft>
                        <a:buClr>
                          <a:srgbClr val="0F1B33"/>
                        </a:buClr>
                        <a:buSzPts val="1198"/>
                        <a:buFont typeface="Helvetica Neue"/>
                        <a:buNone/>
                      </a:pPr>
                      <a:r>
                        <a:rPr b="1" lang="en-US" sz="1198" u="none" cap="none" strike="noStrike">
                          <a:solidFill>
                            <a:srgbClr val="0F1B33"/>
                          </a:solidFill>
                          <a:latin typeface="Helvetica Neue"/>
                          <a:ea typeface="Helvetica Neue"/>
                          <a:cs typeface="Helvetica Neue"/>
                          <a:sym typeface="Helvetica Neue"/>
                        </a:rPr>
                        <a:t>Evidence</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B5B3AD"/>
                      </a:solidFill>
                      <a:prstDash val="solid"/>
                      <a:round/>
                      <a:headEnd len="sm" w="sm" type="none"/>
                      <a:tailEnd len="sm" w="sm" type="none"/>
                    </a:lnL>
                    <a:lnR cap="flat" cmpd="sng" w="12700">
                      <a:solidFill>
                        <a:srgbClr val="B5B3AD"/>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B5B3AD"/>
                      </a:solidFill>
                      <a:prstDash val="solid"/>
                      <a:round/>
                      <a:headEnd len="sm" w="sm" type="none"/>
                      <a:tailEnd len="sm" w="sm" type="none"/>
                    </a:lnB>
                    <a:solidFill>
                      <a:srgbClr val="E3E0D9"/>
                    </a:solidFill>
                  </a:tcPr>
                </a:tc>
                <a:tc>
                  <a:txBody>
                    <a:bodyPr/>
                    <a:lstStyle/>
                    <a:p>
                      <a:pPr indent="0" lvl="0" marL="0" marR="0" rtl="0" algn="l">
                        <a:lnSpc>
                          <a:spcPct val="139983"/>
                        </a:lnSpc>
                        <a:spcBef>
                          <a:spcPts val="0"/>
                        </a:spcBef>
                        <a:spcAft>
                          <a:spcPts val="0"/>
                        </a:spcAft>
                        <a:buClr>
                          <a:srgbClr val="0F1B33"/>
                        </a:buClr>
                        <a:buSzPts val="1198"/>
                        <a:buFont typeface="Helvetica Neue"/>
                        <a:buNone/>
                      </a:pPr>
                      <a:r>
                        <a:rPr b="1" lang="en-US" sz="1198" u="none" cap="none" strike="noStrike">
                          <a:solidFill>
                            <a:srgbClr val="0F1B33"/>
                          </a:solidFill>
                          <a:latin typeface="Helvetica Neue"/>
                          <a:ea typeface="Helvetica Neue"/>
                          <a:cs typeface="Helvetica Neue"/>
                          <a:sym typeface="Helvetica Neue"/>
                        </a:rPr>
                        <a:t>Action</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B5B3AD"/>
                      </a:solidFill>
                      <a:prstDash val="solid"/>
                      <a:round/>
                      <a:headEnd len="sm" w="sm" type="none"/>
                      <a:tailEnd len="sm" w="sm" type="none"/>
                    </a:lnL>
                    <a:lnR cap="flat" cmpd="sng" w="12700">
                      <a:solidFill>
                        <a:srgbClr val="B5B3AD"/>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B5B3AD"/>
                      </a:solidFill>
                      <a:prstDash val="solid"/>
                      <a:round/>
                      <a:headEnd len="sm" w="sm" type="none"/>
                      <a:tailEnd len="sm" w="sm" type="none"/>
                    </a:lnB>
                    <a:solidFill>
                      <a:srgbClr val="E3E0D9"/>
                    </a:solidFill>
                  </a:tcPr>
                </a:tc>
              </a:tr>
              <a:tr h="545650">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Missing values</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B5B3AD"/>
                      </a:solidFill>
                      <a:prstDash val="solid"/>
                      <a:round/>
                      <a:headEnd len="sm" w="sm" type="none"/>
                      <a:tailEnd len="sm" w="sm" type="none"/>
                    </a:lnT>
                    <a:lnB cap="flat" cmpd="sng" w="12700">
                      <a:solidFill>
                        <a:srgbClr val="C4C1BB"/>
                      </a:solidFill>
                      <a:prstDash val="solid"/>
                      <a:round/>
                      <a:headEnd len="sm" w="sm" type="none"/>
                      <a:tailEnd len="sm" w="sm" type="none"/>
                    </a:lnB>
                  </a:tcPr>
                </a:tc>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605,691 hidden placeholders (UNKNOWN, N/A)</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B5B3AD"/>
                      </a:solidFill>
                      <a:prstDash val="solid"/>
                      <a:round/>
                      <a:headEnd len="sm" w="sm" type="none"/>
                      <a:tailEnd len="sm" w="sm" type="none"/>
                    </a:lnT>
                    <a:lnB cap="flat" cmpd="sng" w="12700">
                      <a:solidFill>
                        <a:srgbClr val="C4C1BB"/>
                      </a:solidFill>
                      <a:prstDash val="solid"/>
                      <a:round/>
                      <a:headEnd len="sm" w="sm" type="none"/>
                      <a:tailEnd len="sm" w="sm" type="none"/>
                    </a:lnB>
                  </a:tcPr>
                </a:tc>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Converted to missing, then "Unknown"; missing flags for height, speed, distance</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B5B3AD"/>
                      </a:solidFill>
                      <a:prstDash val="solid"/>
                      <a:round/>
                      <a:headEnd len="sm" w="sm" type="none"/>
                      <a:tailEnd len="sm" w="sm" type="none"/>
                    </a:lnT>
                    <a:lnB cap="flat" cmpd="sng" w="12700">
                      <a:solidFill>
                        <a:srgbClr val="C4C1BB"/>
                      </a:solidFill>
                      <a:prstDash val="solid"/>
                      <a:round/>
                      <a:headEnd len="sm" w="sm" type="none"/>
                      <a:tailEnd len="sm" w="sm" type="none"/>
                    </a:lnB>
                  </a:tcPr>
                </a:tc>
              </a:tr>
              <a:tr h="545650">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Unassessed target</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C4C1BB"/>
                      </a:solidFill>
                      <a:prstDash val="solid"/>
                      <a:round/>
                      <a:headEnd len="sm" w="sm" type="none"/>
                      <a:tailEnd len="sm" w="sm" type="none"/>
                    </a:lnB>
                  </a:tcPr>
                </a:tc>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126,157 strikes labeled no damage but never assessed</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C4C1BB"/>
                      </a:solidFill>
                      <a:prstDash val="solid"/>
                      <a:round/>
                      <a:headEnd len="sm" w="sm" type="none"/>
                      <a:tailEnd len="sm" w="sm" type="none"/>
                    </a:lnB>
                  </a:tcPr>
                </a:tc>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Removed from modeling data</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C4C1BB"/>
                      </a:solidFill>
                      <a:prstDash val="solid"/>
                      <a:round/>
                      <a:headEnd len="sm" w="sm" type="none"/>
                      <a:tailEnd len="sm" w="sm" type="none"/>
                    </a:lnB>
                  </a:tcPr>
                </a:tc>
              </a:tr>
              <a:tr h="545650">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Leakage</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C4C1BB"/>
                      </a:solidFill>
                      <a:prstDash val="solid"/>
                      <a:round/>
                      <a:headEnd len="sm" w="sm" type="none"/>
                      <a:tailEnd len="sm" w="sm" type="none"/>
                    </a:lnB>
                  </a:tcPr>
                </a:tc>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28+ columns known only after damage (costs, damaged parts)</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C4C1BB"/>
                      </a:solidFill>
                      <a:prstDash val="solid"/>
                      <a:round/>
                      <a:headEnd len="sm" w="sm" type="none"/>
                      <a:tailEnd len="sm" w="sm" type="none"/>
                    </a:lnB>
                  </a:tcPr>
                </a:tc>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Excluded from the model</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C4C1BB"/>
                      </a:solidFill>
                      <a:prstDash val="solid"/>
                      <a:round/>
                      <a:headEnd len="sm" w="sm" type="none"/>
                      <a:tailEnd len="sm" w="sm" type="none"/>
                    </a:lnB>
                  </a:tcPr>
                </a:tc>
              </a:tr>
              <a:tr h="545700">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Outliers</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C4C1BB"/>
                      </a:solidFill>
                      <a:prstDash val="solid"/>
                      <a:round/>
                      <a:headEnd len="sm" w="sm" type="none"/>
                      <a:tailEnd len="sm" w="sm" type="none"/>
                    </a:lnB>
                  </a:tcPr>
                </a:tc>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Repair costs up to $60M; heights up to 31,000 ft</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C4C1BB"/>
                      </a:solidFill>
                      <a:prstDash val="solid"/>
                      <a:round/>
                      <a:headEnd len="sm" w="sm" type="none"/>
                      <a:tailEnd len="sm" w="sm" type="none"/>
                    </a:lnB>
                  </a:tcPr>
                </a:tc>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Kept real values; log costs; cap flight values at 99th percentile</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C4C1BB"/>
                      </a:solidFill>
                      <a:prstDash val="solid"/>
                      <a:round/>
                      <a:headEnd len="sm" w="sm" type="none"/>
                      <a:tailEnd len="sm" w="sm" type="none"/>
                    </a:lnB>
                  </a:tcPr>
                </a:tc>
              </a:tr>
              <a:tr h="545700">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Errors and duplicates</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C4C1BB"/>
                      </a:solidFill>
                      <a:prstDash val="solid"/>
                      <a:round/>
                      <a:headEnd len="sm" w="sm" type="none"/>
                      <a:tailEnd len="sm" w="sm" type="none"/>
                    </a:lnB>
                  </a:tcPr>
                </a:tc>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88 duplicates, 23 impossible heights, 12 date conflicts</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C4C1BB"/>
                      </a:solidFill>
                      <a:prstDash val="solid"/>
                      <a:round/>
                      <a:headEnd len="sm" w="sm" type="none"/>
                      <a:tailEnd len="sm" w="sm" type="none"/>
                    </a:lnB>
                  </a:tcPr>
                </a:tc>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Removed, set to missing, or logged</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C4C1BB"/>
                      </a:solidFill>
                      <a:prstDash val="solid"/>
                      <a:round/>
                      <a:headEnd len="sm" w="sm" type="none"/>
                      <a:tailEnd len="sm" w="sm" type="none"/>
                    </a:lnB>
                  </a:tcPr>
                </a:tc>
              </a:tr>
              <a:tr h="545700">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Transformations</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C4C1BB"/>
                      </a:solidFill>
                      <a:prstDash val="solid"/>
                      <a:round/>
                      <a:headEnd len="sm" w="sm" type="none"/>
                      <a:tailEnd len="sm" w="sm" type="none"/>
                    </a:lnB>
                  </a:tcPr>
                </a:tc>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Text ranges, dates, engine codes</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C4C1BB"/>
                      </a:solidFill>
                      <a:prstDash val="solid"/>
                      <a:round/>
                      <a:headEnd len="sm" w="sm" type="none"/>
                      <a:tailEnd len="sm" w="sm" type="none"/>
                    </a:lnB>
                  </a:tcPr>
                </a:tc>
                <a:tc>
                  <a:txBody>
                    <a:bodyPr/>
                    <a:lstStyle/>
                    <a:p>
                      <a:pPr indent="0" lvl="0" marL="0" marR="0" rtl="0" algn="l">
                        <a:lnSpc>
                          <a:spcPct val="139983"/>
                        </a:lnSpc>
                        <a:spcBef>
                          <a:spcPts val="0"/>
                        </a:spcBef>
                        <a:spcAft>
                          <a:spcPts val="0"/>
                        </a:spcAft>
                        <a:buClr>
                          <a:srgbClr val="0F1B33"/>
                        </a:buClr>
                        <a:buSzPts val="1198"/>
                        <a:buFont typeface="Helvetica Neue"/>
                        <a:buNone/>
                      </a:pPr>
                      <a:r>
                        <a:rPr lang="en-US" sz="1198" u="none" cap="none" strike="noStrike">
                          <a:solidFill>
                            <a:srgbClr val="0F1B33"/>
                          </a:solidFill>
                          <a:latin typeface="Helvetica Neue"/>
                          <a:ea typeface="Helvetica Neue"/>
                          <a:cs typeface="Helvetica Neue"/>
                          <a:sym typeface="Helvetica Neue"/>
                        </a:rPr>
                        <a:t>Ordinal sizes, year, month, season, hour, category codes</a:t>
                      </a:r>
                      <a:endParaRPr sz="1198" u="none" cap="none" strike="noStrike">
                        <a:latin typeface="Helvetica Neue"/>
                        <a:ea typeface="Helvetica Neue"/>
                        <a:cs typeface="Helvetica Neue"/>
                        <a:sym typeface="Helvetica Neue"/>
                      </a:endParaRPr>
                    </a:p>
                  </a:txBody>
                  <a:tcPr marT="53250" marB="53250" marR="53250" marL="53250">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C4C1BB"/>
                      </a:solidFill>
                      <a:prstDash val="solid"/>
                      <a:round/>
                      <a:headEnd len="sm" w="sm" type="none"/>
                      <a:tailEnd len="sm" w="sm" type="none"/>
                    </a:lnB>
                  </a:tcPr>
                </a:tc>
              </a:tr>
            </a:tbl>
          </a:graphicData>
        </a:graphic>
      </p:graphicFrame>
      <p:sp>
        <p:nvSpPr>
          <p:cNvPr id="68" name="Google Shape;68;p7"/>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372"/>
              </a:buClr>
              <a:buSzPts val="1200"/>
              <a:buFont typeface="Helvetica Neue"/>
              <a:buNone/>
            </a:pPr>
            <a:r>
              <a:rPr b="0" i="0" lang="en-US" sz="1200" u="none" cap="none" strike="noStrike">
                <a:solidFill>
                  <a:srgbClr val="5A6372"/>
                </a:solidFill>
                <a:latin typeface="Helvetica Neue"/>
                <a:ea typeface="Helvetica Neue"/>
                <a:cs typeface="Helvetica Neue"/>
                <a:sym typeface="Helvetica Neue"/>
              </a:rPr>
              <a:t>Cleaning pipeline: 356,972 raw rows to 230,828 modeling rows</a:t>
            </a:r>
            <a:endParaRPr b="0" i="0" sz="1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2EA"/>
        </a:solidFill>
      </p:bgPr>
    </p:bg>
    <p:spTree>
      <p:nvGrpSpPr>
        <p:cNvPr id="73" name="Shape 73"/>
        <p:cNvGrpSpPr/>
        <p:nvPr/>
      </p:nvGrpSpPr>
      <p:grpSpPr>
        <a:xfrm>
          <a:off x="0" y="0"/>
          <a:ext cx="0" cy="0"/>
          <a:chOff x="0" y="0"/>
          <a:chExt cx="0" cy="0"/>
        </a:xfrm>
      </p:grpSpPr>
      <p:sp>
        <p:nvSpPr>
          <p:cNvPr id="74" name="Google Shape;74;p8"/>
          <p:cNvSpPr/>
          <p:nvPr/>
        </p:nvSpPr>
        <p:spPr>
          <a:xfrm>
            <a:off x="812800" y="812800"/>
            <a:ext cx="10883392" cy="249039"/>
          </a:xfrm>
          <a:prstGeom prst="rect">
            <a:avLst/>
          </a:prstGeom>
          <a:noFill/>
          <a:ln>
            <a:noFill/>
          </a:ln>
        </p:spPr>
        <p:txBody>
          <a:bodyPr anchorCtr="0" anchor="t" bIns="0" lIns="0" spcFirstLastPara="1" rIns="0" wrap="square" tIns="0">
            <a:noAutofit/>
          </a:bodyPr>
          <a:lstStyle/>
          <a:p>
            <a:pPr indent="0" lvl="0" marL="0" marR="0" rtl="0" algn="l">
              <a:lnSpc>
                <a:spcPct val="139905"/>
              </a:lnSpc>
              <a:spcBef>
                <a:spcPts val="0"/>
              </a:spcBef>
              <a:spcAft>
                <a:spcPts val="0"/>
              </a:spcAft>
              <a:buClr>
                <a:srgbClr val="E8892B"/>
              </a:buClr>
              <a:buSzPts val="1268"/>
              <a:buFont typeface="Helvetica Neue"/>
              <a:buNone/>
            </a:pPr>
            <a:r>
              <a:rPr b="1" i="0" lang="en-US" spc="100" sz="1268" u="none" cap="none" strike="noStrike">
                <a:solidFill>
                  <a:srgbClr val="E8892B"/>
                </a:solidFill>
                <a:latin typeface="Helvetica Neue"/>
                <a:ea typeface="Helvetica Neue"/>
                <a:cs typeface="Helvetica Neue"/>
                <a:sym typeface="Helvetica Neue"/>
              </a:rPr>
              <a:t>2 · DATA CLEANING · CHALLENGES</a:t>
            </a:r>
            <a:endParaRPr b="0" i="0" sz="1268" u="none" cap="none" strike="noStrike">
              <a:solidFill>
                <a:schemeClr val="dk1"/>
              </a:solidFill>
              <a:latin typeface="Helvetica Neue"/>
              <a:ea typeface="Helvetica Neue"/>
              <a:cs typeface="Helvetica Neue"/>
              <a:sym typeface="Helvetica Neue"/>
            </a:endParaRPr>
          </a:p>
        </p:txBody>
      </p:sp>
      <p:sp>
        <p:nvSpPr>
          <p:cNvPr id="75" name="Google Shape;75;p8"/>
          <p:cNvSpPr txBox="1"/>
          <p:nvPr>
            <p:ph type="title"/>
          </p:nvPr>
        </p:nvSpPr>
        <p:spPr>
          <a:xfrm>
            <a:off x="812800" y="1265039"/>
            <a:ext cx="10883392" cy="836563"/>
          </a:xfrm>
          <a:prstGeom prst="rect">
            <a:avLst/>
          </a:prstGeom>
          <a:noFill/>
          <a:ln>
            <a:noFill/>
          </a:ln>
        </p:spPr>
        <p:txBody>
          <a:bodyPr anchorCtr="0" anchor="t" bIns="0" lIns="0" spcFirstLastPara="1" rIns="0" wrap="square" tIns="0">
            <a:normAutofit/>
          </a:bodyPr>
          <a:lstStyle/>
          <a:p>
            <a:pPr indent="0" lvl="0" marL="0" rtl="0" algn="l">
              <a:lnSpc>
                <a:spcPct val="109979"/>
              </a:lnSpc>
              <a:spcBef>
                <a:spcPts val="0"/>
              </a:spcBef>
              <a:spcAft>
                <a:spcPts val="0"/>
              </a:spcAft>
              <a:buClr>
                <a:srgbClr val="0F1B33"/>
              </a:buClr>
              <a:buSzPts val="2916"/>
              <a:buFont typeface="Source Serif 4"/>
              <a:buNone/>
            </a:pPr>
            <a:r>
              <a:rPr b="1" i="0" lang="en-US" sz="2916">
                <a:solidFill>
                  <a:srgbClr val="0F1B33"/>
                </a:solidFill>
                <a:latin typeface="Source Serif 4"/>
                <a:ea typeface="Source Serif 4"/>
                <a:cs typeface="Source Serif 4"/>
                <a:sym typeface="Source Serif 4"/>
              </a:rPr>
              <a:t>Hidden missing data and unchecked labels were the biggest problems</a:t>
            </a:r>
            <a:endParaRPr sz="2916"/>
          </a:p>
        </p:txBody>
      </p:sp>
      <p:sp>
        <p:nvSpPr>
          <p:cNvPr id="76" name="Google Shape;76;p8"/>
          <p:cNvSpPr/>
          <p:nvPr/>
        </p:nvSpPr>
        <p:spPr>
          <a:xfrm>
            <a:off x="812800" y="2304802"/>
            <a:ext cx="5207000" cy="2133600"/>
          </a:xfrm>
          <a:prstGeom prst="roundRect">
            <a:avLst>
              <a:gd fmla="val 357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ableau view c0" id="77" name="Google Shape;77;p8"/>
          <p:cNvPicPr preferRelativeResize="0"/>
          <p:nvPr/>
        </p:nvPicPr>
        <p:blipFill rotWithShape="1">
          <a:blip r:embed="rId3">
            <a:alphaModFix/>
          </a:blip>
          <a:srcRect b="0" l="-313" r="-313" t="0"/>
          <a:stretch/>
        </p:blipFill>
        <p:spPr>
          <a:xfrm>
            <a:off x="819150" y="2311152"/>
            <a:ext cx="5194300" cy="2120900"/>
          </a:xfrm>
          <a:prstGeom prst="roundRect">
            <a:avLst>
              <a:gd fmla="val 3293" name="adj"/>
            </a:avLst>
          </a:prstGeom>
          <a:noFill/>
          <a:ln>
            <a:noFill/>
          </a:ln>
        </p:spPr>
      </p:pic>
      <p:sp>
        <p:nvSpPr>
          <p:cNvPr id="78" name="Google Shape;78;p8"/>
          <p:cNvSpPr/>
          <p:nvPr/>
        </p:nvSpPr>
        <p:spPr>
          <a:xfrm>
            <a:off x="815975" y="2307977"/>
            <a:ext cx="5200650" cy="2127250"/>
          </a:xfrm>
          <a:prstGeom prst="roundRect">
            <a:avLst>
              <a:gd fmla="val 3433" name="adj"/>
            </a:avLst>
          </a:prstGeom>
          <a:no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a:off x="6172200" y="2304802"/>
            <a:ext cx="5207000" cy="1803400"/>
          </a:xfrm>
          <a:prstGeom prst="roundRect">
            <a:avLst>
              <a:gd fmla="val 422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ableau view c1" id="80" name="Google Shape;80;p8"/>
          <p:cNvPicPr preferRelativeResize="0"/>
          <p:nvPr/>
        </p:nvPicPr>
        <p:blipFill rotWithShape="1">
          <a:blip r:embed="rId4">
            <a:alphaModFix/>
          </a:blip>
          <a:srcRect b="0" l="-237" r="-237" t="0"/>
          <a:stretch/>
        </p:blipFill>
        <p:spPr>
          <a:xfrm>
            <a:off x="6178550" y="2311152"/>
            <a:ext cx="5194300" cy="1790700"/>
          </a:xfrm>
          <a:prstGeom prst="roundRect">
            <a:avLst>
              <a:gd fmla="val 3901" name="adj"/>
            </a:avLst>
          </a:prstGeom>
          <a:noFill/>
          <a:ln>
            <a:noFill/>
          </a:ln>
        </p:spPr>
      </p:pic>
      <p:sp>
        <p:nvSpPr>
          <p:cNvPr id="81" name="Google Shape;81;p8"/>
          <p:cNvSpPr/>
          <p:nvPr/>
        </p:nvSpPr>
        <p:spPr>
          <a:xfrm>
            <a:off x="6175375" y="2307977"/>
            <a:ext cx="5200650" cy="1797050"/>
          </a:xfrm>
          <a:prstGeom prst="roundRect">
            <a:avLst>
              <a:gd fmla="val 4064" name="adj"/>
            </a:avLst>
          </a:prstGeom>
          <a:no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815975" y="4601418"/>
            <a:ext cx="5200650" cy="1237407"/>
          </a:xfrm>
          <a:prstGeom prst="roundRect">
            <a:avLst>
              <a:gd fmla="val 7954" name="adj"/>
            </a:avLst>
          </a:prstGeom>
          <a:solidFill>
            <a:srgbClr val="FFFFFF"/>
          </a:solid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1047750" y="4833193"/>
            <a:ext cx="4879213" cy="269925"/>
          </a:xfrm>
          <a:prstGeom prst="rect">
            <a:avLst/>
          </a:prstGeom>
          <a:noFill/>
          <a:ln>
            <a:noFill/>
          </a:ln>
        </p:spPr>
        <p:txBody>
          <a:bodyPr anchorCtr="0" anchor="t" bIns="0" lIns="0" spcFirstLastPara="1" rIns="0" wrap="square" tIns="0">
            <a:noAutofit/>
          </a:bodyPr>
          <a:lstStyle/>
          <a:p>
            <a:pPr indent="0" lvl="0" marL="0" marR="0" rtl="0" algn="l">
              <a:lnSpc>
                <a:spcPct val="119975"/>
              </a:lnSpc>
              <a:spcBef>
                <a:spcPts val="0"/>
              </a:spcBef>
              <a:spcAft>
                <a:spcPts val="0"/>
              </a:spcAft>
              <a:buClr>
                <a:srgbClr val="1F7A8C"/>
              </a:buClr>
              <a:buSzPts val="1642"/>
              <a:buFont typeface="Helvetica Neue"/>
              <a:buNone/>
            </a:pPr>
            <a:r>
              <a:rPr b="1" i="0" lang="en-US" sz="1642" u="none" cap="none" strike="noStrike">
                <a:solidFill>
                  <a:srgbClr val="1F7A8C"/>
                </a:solidFill>
                <a:latin typeface="Helvetica Neue"/>
                <a:ea typeface="Helvetica Neue"/>
                <a:cs typeface="Helvetica Neue"/>
                <a:sym typeface="Helvetica Neue"/>
              </a:rPr>
              <a:t>UNKNOWN looked like data</a:t>
            </a:r>
            <a:endParaRPr b="0" i="0" sz="1642" u="none" cap="none" strike="noStrike">
              <a:solidFill>
                <a:schemeClr val="dk1"/>
              </a:solidFill>
              <a:latin typeface="Helvetica Neue"/>
              <a:ea typeface="Helvetica Neue"/>
              <a:cs typeface="Helvetica Neue"/>
              <a:sym typeface="Helvetica Neue"/>
            </a:endParaRPr>
          </a:p>
        </p:txBody>
      </p:sp>
      <p:sp>
        <p:nvSpPr>
          <p:cNvPr id="84" name="Google Shape;84;p8"/>
          <p:cNvSpPr/>
          <p:nvPr/>
        </p:nvSpPr>
        <p:spPr>
          <a:xfrm>
            <a:off x="1047750" y="5153918"/>
            <a:ext cx="4879213" cy="478532"/>
          </a:xfrm>
          <a:prstGeom prst="rect">
            <a:avLst/>
          </a:prstGeom>
          <a:noFill/>
          <a:ln>
            <a:noFill/>
          </a:ln>
        </p:spPr>
        <p:txBody>
          <a:bodyPr anchorCtr="0" anchor="t" bIns="0" lIns="0" spcFirstLastPara="1" rIns="0" wrap="square" tIns="0">
            <a:noAutofit/>
          </a:bodyPr>
          <a:lstStyle/>
          <a:p>
            <a:pPr indent="0" lvl="0" marL="0" marR="0" rtl="0" algn="l">
              <a:lnSpc>
                <a:spcPct val="135049"/>
              </a:lnSpc>
              <a:spcBef>
                <a:spcPts val="0"/>
              </a:spcBef>
              <a:spcAft>
                <a:spcPts val="0"/>
              </a:spcAft>
              <a:buClr>
                <a:srgbClr val="0F1B33"/>
              </a:buClr>
              <a:buSzPts val="1321"/>
              <a:buFont typeface="Helvetica Neue"/>
              <a:buNone/>
            </a:pPr>
            <a:r>
              <a:rPr b="0" i="0" lang="en-US" sz="1321" u="none" cap="none" strike="noStrike">
                <a:solidFill>
                  <a:srgbClr val="0F1B33"/>
                </a:solidFill>
                <a:latin typeface="Helvetica Neue"/>
                <a:ea typeface="Helvetica Neue"/>
                <a:cs typeface="Helvetica Neue"/>
                <a:sym typeface="Helvetica Neue"/>
              </a:rPr>
              <a:t>WARNED looked 63% complete but was mostly placeholder text.</a:t>
            </a:r>
            <a:endParaRPr b="0" i="0" sz="1321" u="none" cap="none" strike="noStrike">
              <a:solidFill>
                <a:schemeClr val="dk1"/>
              </a:solidFill>
              <a:latin typeface="Helvetica Neue"/>
              <a:ea typeface="Helvetica Neue"/>
              <a:cs typeface="Helvetica Neue"/>
              <a:sym typeface="Helvetica Neue"/>
            </a:endParaRPr>
          </a:p>
        </p:txBody>
      </p:sp>
      <p:sp>
        <p:nvSpPr>
          <p:cNvPr id="85" name="Google Shape;85;p8"/>
          <p:cNvSpPr/>
          <p:nvPr/>
        </p:nvSpPr>
        <p:spPr>
          <a:xfrm>
            <a:off x="6175375" y="4601418"/>
            <a:ext cx="5200650" cy="1237407"/>
          </a:xfrm>
          <a:prstGeom prst="roundRect">
            <a:avLst>
              <a:gd fmla="val 7954" name="adj"/>
            </a:avLst>
          </a:prstGeom>
          <a:solidFill>
            <a:srgbClr val="FFFFFF"/>
          </a:solid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a:off x="6407150" y="4833193"/>
            <a:ext cx="4879213" cy="269925"/>
          </a:xfrm>
          <a:prstGeom prst="rect">
            <a:avLst/>
          </a:prstGeom>
          <a:noFill/>
          <a:ln>
            <a:noFill/>
          </a:ln>
        </p:spPr>
        <p:txBody>
          <a:bodyPr anchorCtr="0" anchor="t" bIns="0" lIns="0" spcFirstLastPara="1" rIns="0" wrap="square" tIns="0">
            <a:noAutofit/>
          </a:bodyPr>
          <a:lstStyle/>
          <a:p>
            <a:pPr indent="0" lvl="0" marL="0" marR="0" rtl="0" algn="l">
              <a:lnSpc>
                <a:spcPct val="119975"/>
              </a:lnSpc>
              <a:spcBef>
                <a:spcPts val="0"/>
              </a:spcBef>
              <a:spcAft>
                <a:spcPts val="0"/>
              </a:spcAft>
              <a:buClr>
                <a:srgbClr val="1F7A8C"/>
              </a:buClr>
              <a:buSzPts val="1642"/>
              <a:buFont typeface="Helvetica Neue"/>
              <a:buNone/>
            </a:pPr>
            <a:r>
              <a:rPr b="1" i="0" lang="en-US" sz="1642" u="none" cap="none" strike="noStrike">
                <a:solidFill>
                  <a:srgbClr val="1F7A8C"/>
                </a:solidFill>
                <a:latin typeface="Helvetica Neue"/>
                <a:ea typeface="Helvetica Neue"/>
                <a:cs typeface="Helvetica Neue"/>
                <a:sym typeface="Helvetica Neue"/>
              </a:rPr>
              <a:t>Unchecked "no damage"</a:t>
            </a:r>
            <a:endParaRPr b="0" i="0" sz="1642" u="none" cap="none" strike="noStrike">
              <a:solidFill>
                <a:schemeClr val="dk1"/>
              </a:solidFill>
              <a:latin typeface="Helvetica Neue"/>
              <a:ea typeface="Helvetica Neue"/>
              <a:cs typeface="Helvetica Neue"/>
              <a:sym typeface="Helvetica Neue"/>
            </a:endParaRPr>
          </a:p>
        </p:txBody>
      </p:sp>
      <p:sp>
        <p:nvSpPr>
          <p:cNvPr id="87" name="Google Shape;87;p8"/>
          <p:cNvSpPr/>
          <p:nvPr/>
        </p:nvSpPr>
        <p:spPr>
          <a:xfrm>
            <a:off x="6407150" y="5153918"/>
            <a:ext cx="4879213" cy="478532"/>
          </a:xfrm>
          <a:prstGeom prst="rect">
            <a:avLst/>
          </a:prstGeom>
          <a:noFill/>
          <a:ln>
            <a:noFill/>
          </a:ln>
        </p:spPr>
        <p:txBody>
          <a:bodyPr anchorCtr="0" anchor="t" bIns="0" lIns="0" spcFirstLastPara="1" rIns="0" wrap="square" tIns="0">
            <a:noAutofit/>
          </a:bodyPr>
          <a:lstStyle/>
          <a:p>
            <a:pPr indent="0" lvl="0" marL="0" marR="0" rtl="0" algn="l">
              <a:lnSpc>
                <a:spcPct val="135049"/>
              </a:lnSpc>
              <a:spcBef>
                <a:spcPts val="0"/>
              </a:spcBef>
              <a:spcAft>
                <a:spcPts val="0"/>
              </a:spcAft>
              <a:buClr>
                <a:srgbClr val="0F1B33"/>
              </a:buClr>
              <a:buSzPts val="1321"/>
              <a:buFont typeface="Helvetica Neue"/>
              <a:buNone/>
            </a:pPr>
            <a:r>
              <a:rPr b="0" i="0" lang="en-US" sz="1321" u="none" cap="none" strike="noStrike">
                <a:solidFill>
                  <a:srgbClr val="0F1B33"/>
                </a:solidFill>
                <a:latin typeface="Helvetica Neue"/>
                <a:ea typeface="Helvetica Neue"/>
                <a:cs typeface="Helvetica Neue"/>
                <a:sym typeface="Helvetica Neue"/>
              </a:rPr>
              <a:t>38% of no-damage rows were never assessed. Removing them moved the damage rate from 6.2% to 9.6%.</a:t>
            </a:r>
            <a:endParaRPr b="0" i="0" sz="1321" u="none" cap="none" strike="noStrike">
              <a:solidFill>
                <a:schemeClr val="dk1"/>
              </a:solidFill>
              <a:latin typeface="Helvetica Neue"/>
              <a:ea typeface="Helvetica Neue"/>
              <a:cs typeface="Helvetica Neue"/>
              <a:sym typeface="Helvetica Neue"/>
            </a:endParaRPr>
          </a:p>
        </p:txBody>
      </p:sp>
      <p:sp>
        <p:nvSpPr>
          <p:cNvPr id="88" name="Google Shape;88;p8"/>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372"/>
              </a:buClr>
              <a:buSzPts val="1200"/>
              <a:buFont typeface="Helvetica Neue"/>
              <a:buNone/>
            </a:pPr>
            <a:r>
              <a:rPr b="0" i="0" lang="en-US" sz="1200" u="none" cap="none" strike="noStrike">
                <a:solidFill>
                  <a:srgbClr val="5A6372"/>
                </a:solidFill>
                <a:latin typeface="Helvetica Neue"/>
                <a:ea typeface="Helvetica Neue"/>
                <a:cs typeface="Helvetica Neue"/>
                <a:sym typeface="Helvetica Neue"/>
              </a:rPr>
              <a:t>Cleaning visuals</a:t>
            </a:r>
            <a:endParaRPr b="0" i="0" sz="1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2EA"/>
        </a:solidFill>
      </p:bgPr>
    </p:bg>
    <p:spTree>
      <p:nvGrpSpPr>
        <p:cNvPr id="93" name="Shape 93"/>
        <p:cNvGrpSpPr/>
        <p:nvPr/>
      </p:nvGrpSpPr>
      <p:grpSpPr>
        <a:xfrm>
          <a:off x="0" y="0"/>
          <a:ext cx="0" cy="0"/>
          <a:chOff x="0" y="0"/>
          <a:chExt cx="0" cy="0"/>
        </a:xfrm>
      </p:grpSpPr>
      <p:sp>
        <p:nvSpPr>
          <p:cNvPr id="94" name="Google Shape;94;p9"/>
          <p:cNvSpPr/>
          <p:nvPr/>
        </p:nvSpPr>
        <p:spPr>
          <a:xfrm>
            <a:off x="812800" y="6096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892B"/>
              </a:buClr>
              <a:buSzPts val="1300"/>
              <a:buFont typeface="Helvetica Neue"/>
              <a:buNone/>
            </a:pPr>
            <a:r>
              <a:rPr b="1" i="0" lang="en-US" spc="100" sz="1300" u="none" cap="none" strike="noStrike">
                <a:solidFill>
                  <a:srgbClr val="E8892B"/>
                </a:solidFill>
                <a:latin typeface="Helvetica Neue"/>
                <a:ea typeface="Helvetica Neue"/>
                <a:cs typeface="Helvetica Neue"/>
                <a:sym typeface="Helvetica Neue"/>
              </a:rPr>
              <a:t>2 · DATA CLEANING · OUTLIERS AND SHORTCUTS</a:t>
            </a:r>
            <a:endParaRPr b="0" i="0" sz="1300" u="none" cap="none" strike="noStrike">
              <a:solidFill>
                <a:schemeClr val="dk1"/>
              </a:solidFill>
              <a:latin typeface="Helvetica Neue"/>
              <a:ea typeface="Helvetica Neue"/>
              <a:cs typeface="Helvetica Neue"/>
              <a:sym typeface="Helvetica Neue"/>
            </a:endParaRPr>
          </a:p>
        </p:txBody>
      </p:sp>
      <p:sp>
        <p:nvSpPr>
          <p:cNvPr id="95" name="Google Shape;95;p9"/>
          <p:cNvSpPr txBox="1"/>
          <p:nvPr>
            <p:ph type="title"/>
          </p:nvPr>
        </p:nvSpPr>
        <p:spPr>
          <a:xfrm>
            <a:off x="812800" y="1043930"/>
            <a:ext cx="10883392" cy="80764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1B33"/>
              </a:buClr>
              <a:buSzPts val="2800"/>
              <a:buFont typeface="Source Serif 4"/>
              <a:buNone/>
            </a:pPr>
            <a:r>
              <a:rPr b="1" i="0" lang="en-US" sz="2800">
                <a:solidFill>
                  <a:srgbClr val="0F1B33"/>
                </a:solidFill>
                <a:latin typeface="Source Serif 4"/>
                <a:ea typeface="Source Serif 4"/>
                <a:cs typeface="Source Serif 4"/>
                <a:sym typeface="Source Serif 4"/>
              </a:rPr>
              <a:t>Extreme costs were kept, and missing data turned out to be a shortcut</a:t>
            </a:r>
            <a:endParaRPr sz="2800"/>
          </a:p>
        </p:txBody>
      </p:sp>
      <p:sp>
        <p:nvSpPr>
          <p:cNvPr id="96" name="Google Shape;96;p9"/>
          <p:cNvSpPr/>
          <p:nvPr/>
        </p:nvSpPr>
        <p:spPr>
          <a:xfrm>
            <a:off x="812800" y="2029371"/>
            <a:ext cx="5200650" cy="1879600"/>
          </a:xfrm>
          <a:prstGeom prst="roundRect">
            <a:avLst>
              <a:gd fmla="val 405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Repair costs raw and log scale" id="97" name="Google Shape;97;p9"/>
          <p:cNvPicPr preferRelativeResize="0"/>
          <p:nvPr/>
        </p:nvPicPr>
        <p:blipFill rotWithShape="1">
          <a:blip r:embed="rId3">
            <a:alphaModFix/>
          </a:blip>
          <a:srcRect b="0" l="-278" r="-278" t="0"/>
          <a:stretch/>
        </p:blipFill>
        <p:spPr>
          <a:xfrm>
            <a:off x="819150" y="2035721"/>
            <a:ext cx="5187950" cy="1866900"/>
          </a:xfrm>
          <a:prstGeom prst="roundRect">
            <a:avLst>
              <a:gd fmla="val 3741" name="adj"/>
            </a:avLst>
          </a:prstGeom>
          <a:noFill/>
          <a:ln>
            <a:noFill/>
          </a:ln>
        </p:spPr>
      </p:pic>
      <p:sp>
        <p:nvSpPr>
          <p:cNvPr id="98" name="Google Shape;98;p9"/>
          <p:cNvSpPr/>
          <p:nvPr/>
        </p:nvSpPr>
        <p:spPr>
          <a:xfrm>
            <a:off x="815975" y="2032546"/>
            <a:ext cx="5194300" cy="1873250"/>
          </a:xfrm>
          <a:prstGeom prst="roundRect">
            <a:avLst>
              <a:gd fmla="val 3898" name="adj"/>
            </a:avLst>
          </a:prstGeom>
          <a:no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p:nvPr/>
        </p:nvSpPr>
        <p:spPr>
          <a:xfrm>
            <a:off x="6165850" y="2029371"/>
            <a:ext cx="5207000" cy="1943100"/>
          </a:xfrm>
          <a:prstGeom prst="roundRect">
            <a:avLst>
              <a:gd fmla="val 392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issing information versus damage rate" id="100" name="Google Shape;100;p9"/>
          <p:cNvPicPr preferRelativeResize="0"/>
          <p:nvPr/>
        </p:nvPicPr>
        <p:blipFill rotWithShape="1">
          <a:blip r:embed="rId4">
            <a:alphaModFix/>
          </a:blip>
          <a:srcRect b="0" l="-209" r="-209" t="0"/>
          <a:stretch/>
        </p:blipFill>
        <p:spPr>
          <a:xfrm>
            <a:off x="6172200" y="2035721"/>
            <a:ext cx="5194300" cy="1930400"/>
          </a:xfrm>
          <a:prstGeom prst="roundRect">
            <a:avLst>
              <a:gd fmla="val 3618" name="adj"/>
            </a:avLst>
          </a:prstGeom>
          <a:noFill/>
          <a:ln>
            <a:noFill/>
          </a:ln>
        </p:spPr>
      </p:pic>
      <p:sp>
        <p:nvSpPr>
          <p:cNvPr id="101" name="Google Shape;101;p9"/>
          <p:cNvSpPr/>
          <p:nvPr/>
        </p:nvSpPr>
        <p:spPr>
          <a:xfrm>
            <a:off x="6169025" y="2032546"/>
            <a:ext cx="5200650" cy="1936750"/>
          </a:xfrm>
          <a:prstGeom prst="roundRect">
            <a:avLst>
              <a:gd fmla="val 3770" name="adj"/>
            </a:avLst>
          </a:prstGeom>
          <a:no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a:off x="815975" y="4178846"/>
            <a:ext cx="5200650" cy="1278830"/>
          </a:xfrm>
          <a:prstGeom prst="roundRect">
            <a:avLst>
              <a:gd fmla="val 7696" name="adj"/>
            </a:avLst>
          </a:prstGeom>
          <a:solidFill>
            <a:srgbClr val="FFFFFF"/>
          </a:solid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a:off x="1047750" y="4410621"/>
            <a:ext cx="4879213"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7A8C"/>
              </a:buClr>
              <a:buSzPts val="1700"/>
              <a:buFont typeface="Helvetica Neue"/>
              <a:buNone/>
            </a:pPr>
            <a:r>
              <a:rPr b="1" i="0" lang="en-US" sz="1700" u="none" cap="none" strike="noStrike">
                <a:solidFill>
                  <a:srgbClr val="1F7A8C"/>
                </a:solidFill>
                <a:latin typeface="Helvetica Neue"/>
                <a:ea typeface="Helvetica Neue"/>
                <a:cs typeface="Helvetica Neue"/>
                <a:sym typeface="Helvetica Neue"/>
              </a:rPr>
              <a:t>Real outliers</a:t>
            </a:r>
            <a:endParaRPr b="0" i="0" sz="1700" u="none" cap="none" strike="noStrike">
              <a:solidFill>
                <a:schemeClr val="dk1"/>
              </a:solidFill>
              <a:latin typeface="Helvetica Neue"/>
              <a:ea typeface="Helvetica Neue"/>
              <a:cs typeface="Helvetica Neue"/>
              <a:sym typeface="Helvetica Neue"/>
            </a:endParaRPr>
          </a:p>
        </p:txBody>
      </p:sp>
      <p:sp>
        <p:nvSpPr>
          <p:cNvPr id="104" name="Google Shape;104;p9"/>
          <p:cNvSpPr/>
          <p:nvPr/>
        </p:nvSpPr>
        <p:spPr>
          <a:xfrm>
            <a:off x="1047750" y="4745881"/>
            <a:ext cx="4879213" cy="5054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F1B33"/>
              </a:buClr>
              <a:buSzPts val="1400"/>
              <a:buFont typeface="Helvetica Neue"/>
              <a:buNone/>
            </a:pPr>
            <a:r>
              <a:rPr b="0" i="0" lang="en-US" sz="1400" u="none" cap="none" strike="noStrike">
                <a:solidFill>
                  <a:srgbClr val="0F1B33"/>
                </a:solidFill>
                <a:latin typeface="Helvetica Neue"/>
                <a:ea typeface="Helvetica Neue"/>
                <a:cs typeface="Helvetica Neue"/>
                <a:sym typeface="Helvetica Neue"/>
              </a:rPr>
              <a:t>Repair costs span 7 orders of magnitude (median $18,434, max $60M). We kept them and added a log version.</a:t>
            </a:r>
            <a:endParaRPr b="0" i="0" sz="1400" u="none" cap="none" strike="noStrike">
              <a:solidFill>
                <a:schemeClr val="dk1"/>
              </a:solidFill>
              <a:latin typeface="Helvetica Neue"/>
              <a:ea typeface="Helvetica Neue"/>
              <a:cs typeface="Helvetica Neue"/>
              <a:sym typeface="Helvetica Neue"/>
            </a:endParaRPr>
          </a:p>
        </p:txBody>
      </p:sp>
      <p:sp>
        <p:nvSpPr>
          <p:cNvPr id="105" name="Google Shape;105;p9"/>
          <p:cNvSpPr/>
          <p:nvPr/>
        </p:nvSpPr>
        <p:spPr>
          <a:xfrm>
            <a:off x="6175375" y="4178846"/>
            <a:ext cx="5200650" cy="1278830"/>
          </a:xfrm>
          <a:prstGeom prst="roundRect">
            <a:avLst>
              <a:gd fmla="val 7696" name="adj"/>
            </a:avLst>
          </a:prstGeom>
          <a:solidFill>
            <a:srgbClr val="FFFFFF"/>
          </a:solid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9"/>
          <p:cNvSpPr/>
          <p:nvPr/>
        </p:nvSpPr>
        <p:spPr>
          <a:xfrm>
            <a:off x="6407150" y="4410621"/>
            <a:ext cx="4879213"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7A8C"/>
              </a:buClr>
              <a:buSzPts val="1700"/>
              <a:buFont typeface="Helvetica Neue"/>
              <a:buNone/>
            </a:pPr>
            <a:r>
              <a:rPr b="1" i="0" lang="en-US" sz="1700" u="none" cap="none" strike="noStrike">
                <a:solidFill>
                  <a:srgbClr val="1F7A8C"/>
                </a:solidFill>
                <a:latin typeface="Helvetica Neue"/>
                <a:ea typeface="Helvetica Neue"/>
                <a:cs typeface="Helvetica Neue"/>
                <a:sym typeface="Helvetica Neue"/>
              </a:rPr>
              <a:t>Missingness as a shortcut</a:t>
            </a:r>
            <a:endParaRPr b="0" i="0" sz="1700" u="none" cap="none" strike="noStrike">
              <a:solidFill>
                <a:schemeClr val="dk1"/>
              </a:solidFill>
              <a:latin typeface="Helvetica Neue"/>
              <a:ea typeface="Helvetica Neue"/>
              <a:cs typeface="Helvetica Neue"/>
              <a:sym typeface="Helvetica Neue"/>
            </a:endParaRPr>
          </a:p>
        </p:txBody>
      </p:sp>
      <p:sp>
        <p:nvSpPr>
          <p:cNvPr id="107" name="Google Shape;107;p9"/>
          <p:cNvSpPr/>
          <p:nvPr/>
        </p:nvSpPr>
        <p:spPr>
          <a:xfrm>
            <a:off x="6407150" y="4745881"/>
            <a:ext cx="4879213" cy="5054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F1B33"/>
              </a:buClr>
              <a:buSzPts val="1400"/>
              <a:buFont typeface="Helvetica Neue"/>
              <a:buNone/>
            </a:pPr>
            <a:r>
              <a:rPr b="0" i="0" lang="en-US" sz="1400" u="none" cap="none" strike="noStrike">
                <a:solidFill>
                  <a:srgbClr val="0F1B33"/>
                </a:solidFill>
                <a:latin typeface="Helvetica Neue"/>
                <a:ea typeface="Helvetica Neue"/>
                <a:cs typeface="Helvetica Neue"/>
                <a:sym typeface="Helvetica Neue"/>
              </a:rPr>
              <a:t>Unknown-aircraft strikes looked 0.1% damaging vs 8.6%. On assessed rows only, the gap shrinks to 12.6% vs 9.6%.</a:t>
            </a:r>
            <a:endParaRPr b="0" i="0" sz="1400" u="none" cap="none" strike="noStrike">
              <a:solidFill>
                <a:schemeClr val="dk1"/>
              </a:solidFill>
              <a:latin typeface="Helvetica Neue"/>
              <a:ea typeface="Helvetica Neue"/>
              <a:cs typeface="Helvetica Neue"/>
              <a:sym typeface="Helvetica Neue"/>
            </a:endParaRPr>
          </a:p>
        </p:txBody>
      </p:sp>
      <p:sp>
        <p:nvSpPr>
          <p:cNvPr id="108" name="Google Shape;108;p9"/>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372"/>
              </a:buClr>
              <a:buSzPts val="1200"/>
              <a:buFont typeface="Helvetica Neue"/>
              <a:buNone/>
            </a:pPr>
            <a:r>
              <a:rPr b="0" i="0" lang="en-US" sz="1200" u="none" cap="none" strike="noStrike">
                <a:solidFill>
                  <a:srgbClr val="5A6372"/>
                </a:solidFill>
                <a:latin typeface="Helvetica Neue"/>
                <a:ea typeface="Helvetica Neue"/>
                <a:cs typeface="Helvetica Neue"/>
                <a:sym typeface="Helvetica Neue"/>
              </a:rPr>
              <a:t>Source: cleaning notebook</a:t>
            </a:r>
            <a:endParaRPr b="0" i="0" sz="1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2EA"/>
        </a:solidFill>
      </p:bgPr>
    </p:bg>
    <p:spTree>
      <p:nvGrpSpPr>
        <p:cNvPr id="113" name="Shape 113"/>
        <p:cNvGrpSpPr/>
        <p:nvPr/>
      </p:nvGrpSpPr>
      <p:grpSpPr>
        <a:xfrm>
          <a:off x="0" y="0"/>
          <a:ext cx="0" cy="0"/>
          <a:chOff x="0" y="0"/>
          <a:chExt cx="0" cy="0"/>
        </a:xfrm>
      </p:grpSpPr>
      <p:sp>
        <p:nvSpPr>
          <p:cNvPr id="114" name="Google Shape;114;p10"/>
          <p:cNvSpPr/>
          <p:nvPr/>
        </p:nvSpPr>
        <p:spPr>
          <a:xfrm>
            <a:off x="812800" y="6096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892B"/>
              </a:buClr>
              <a:buSzPts val="1300"/>
              <a:buFont typeface="Helvetica Neue"/>
              <a:buNone/>
            </a:pPr>
            <a:r>
              <a:rPr b="1" i="0" lang="en-US" spc="100" sz="1300" u="none" cap="none" strike="noStrike">
                <a:solidFill>
                  <a:srgbClr val="E8892B"/>
                </a:solidFill>
                <a:latin typeface="Helvetica Neue"/>
                <a:ea typeface="Helvetica Neue"/>
                <a:cs typeface="Helvetica Neue"/>
                <a:sym typeface="Helvetica Neue"/>
              </a:rPr>
              <a:t>3 · EDA · 1 OF 6</a:t>
            </a:r>
            <a:endParaRPr b="0" i="0" sz="1300" u="none" cap="none" strike="noStrike">
              <a:solidFill>
                <a:schemeClr val="dk1"/>
              </a:solidFill>
              <a:latin typeface="Helvetica Neue"/>
              <a:ea typeface="Helvetica Neue"/>
              <a:cs typeface="Helvetica Neue"/>
              <a:sym typeface="Helvetica Neue"/>
            </a:endParaRPr>
          </a:p>
        </p:txBody>
      </p:sp>
      <p:sp>
        <p:nvSpPr>
          <p:cNvPr id="115" name="Google Shape;115;p10"/>
          <p:cNvSpPr txBox="1"/>
          <p:nvPr>
            <p:ph type="title"/>
          </p:nvPr>
        </p:nvSpPr>
        <p:spPr>
          <a:xfrm>
            <a:off x="812800" y="1069330"/>
            <a:ext cx="10883392" cy="3746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1B33"/>
              </a:buClr>
              <a:buSzPts val="2500"/>
              <a:buFont typeface="Source Serif 4"/>
              <a:buNone/>
            </a:pPr>
            <a:r>
              <a:rPr b="1" i="0" lang="en-US" sz="2500">
                <a:solidFill>
                  <a:srgbClr val="0F1B33"/>
                </a:solidFill>
                <a:latin typeface="Source Serif 4"/>
                <a:ea typeface="Source Serif 4"/>
                <a:cs typeface="Source Serif 4"/>
                <a:sym typeface="Source Serif 4"/>
              </a:rPr>
              <a:t>Reports grew 7.9x, but damaging strikes barely grew</a:t>
            </a:r>
            <a:endParaRPr sz="2500"/>
          </a:p>
        </p:txBody>
      </p:sp>
      <p:sp>
        <p:nvSpPr>
          <p:cNvPr id="116" name="Google Shape;116;p10"/>
          <p:cNvSpPr/>
          <p:nvPr/>
        </p:nvSpPr>
        <p:spPr>
          <a:xfrm>
            <a:off x="812800" y="1647180"/>
            <a:ext cx="5080000" cy="3517900"/>
          </a:xfrm>
          <a:prstGeom prst="roundRect">
            <a:avLst>
              <a:gd fmla="val 216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EDA chart e2" id="117" name="Google Shape;117;p10"/>
          <p:cNvPicPr preferRelativeResize="0"/>
          <p:nvPr/>
        </p:nvPicPr>
        <p:blipFill rotWithShape="1">
          <a:blip r:embed="rId3">
            <a:alphaModFix/>
          </a:blip>
          <a:srcRect b="0" l="-117" r="-117" t="0"/>
          <a:stretch/>
        </p:blipFill>
        <p:spPr>
          <a:xfrm>
            <a:off x="819150" y="1653530"/>
            <a:ext cx="5067300" cy="3505200"/>
          </a:xfrm>
          <a:prstGeom prst="roundRect">
            <a:avLst>
              <a:gd fmla="val 1993" name="adj"/>
            </a:avLst>
          </a:prstGeom>
          <a:noFill/>
          <a:ln>
            <a:noFill/>
          </a:ln>
        </p:spPr>
      </p:pic>
      <p:sp>
        <p:nvSpPr>
          <p:cNvPr id="118" name="Google Shape;118;p10"/>
          <p:cNvSpPr/>
          <p:nvPr/>
        </p:nvSpPr>
        <p:spPr>
          <a:xfrm>
            <a:off x="815975" y="1650355"/>
            <a:ext cx="5073650" cy="3511550"/>
          </a:xfrm>
          <a:prstGeom prst="roundRect">
            <a:avLst>
              <a:gd fmla="val 2080" name="adj"/>
            </a:avLst>
          </a:prstGeom>
          <a:no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0"/>
          <p:cNvSpPr/>
          <p:nvPr/>
        </p:nvSpPr>
        <p:spPr>
          <a:xfrm>
            <a:off x="6146800" y="1647180"/>
            <a:ext cx="5389372" cy="50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892B"/>
              </a:buClr>
              <a:buSzPts val="3800"/>
              <a:buFont typeface="Source Serif 4"/>
              <a:buNone/>
            </a:pPr>
            <a:r>
              <a:rPr b="1" i="0" lang="en-US" sz="3800" u="none" cap="none" strike="noStrike">
                <a:solidFill>
                  <a:srgbClr val="E8892B"/>
                </a:solidFill>
                <a:latin typeface="Source Serif 4"/>
                <a:ea typeface="Source Serif 4"/>
                <a:cs typeface="Source Serif 4"/>
                <a:sym typeface="Source Serif 4"/>
              </a:rPr>
              <a:t>15.9% to 3.9%</a:t>
            </a:r>
            <a:endParaRPr b="0" i="0" sz="3800" u="none" cap="none" strike="noStrike">
              <a:solidFill>
                <a:schemeClr val="dk1"/>
              </a:solidFill>
              <a:latin typeface="Helvetica Neue"/>
              <a:ea typeface="Helvetica Neue"/>
              <a:cs typeface="Helvetica Neue"/>
              <a:sym typeface="Helvetica Neue"/>
            </a:endParaRPr>
          </a:p>
        </p:txBody>
      </p:sp>
      <p:sp>
        <p:nvSpPr>
          <p:cNvPr id="120" name="Google Shape;120;p10"/>
          <p:cNvSpPr/>
          <p:nvPr/>
        </p:nvSpPr>
        <p:spPr>
          <a:xfrm>
            <a:off x="6146800" y="2269480"/>
            <a:ext cx="5389372" cy="719683"/>
          </a:xfrm>
          <a:prstGeom prst="rect">
            <a:avLst/>
          </a:prstGeom>
          <a:noFill/>
          <a:ln>
            <a:noFill/>
          </a:ln>
        </p:spPr>
        <p:txBody>
          <a:bodyPr anchorCtr="0" anchor="t" bIns="0" lIns="0" spcFirstLastPara="1" rIns="0" wrap="square" tIns="0">
            <a:noAutofit/>
          </a:bodyPr>
          <a:lstStyle/>
          <a:p>
            <a:pPr indent="0" lvl="0" marL="0" marR="0" rtl="0" algn="l">
              <a:lnSpc>
                <a:spcPct val="135037"/>
              </a:lnSpc>
              <a:spcBef>
                <a:spcPts val="0"/>
              </a:spcBef>
              <a:spcAft>
                <a:spcPts val="0"/>
              </a:spcAft>
              <a:buClr>
                <a:srgbClr val="0F1B33"/>
              </a:buClr>
              <a:buSzPts val="1350"/>
              <a:buFont typeface="Helvetica Neue"/>
              <a:buNone/>
            </a:pPr>
            <a:r>
              <a:rPr b="0" i="0" lang="en-US" sz="1350" u="none" cap="none" strike="noStrike">
                <a:solidFill>
                  <a:srgbClr val="0F1B33"/>
                </a:solidFill>
                <a:latin typeface="Helvetica Neue"/>
                <a:ea typeface="Helvetica Neue"/>
                <a:cs typeface="Helvetica Neue"/>
                <a:sym typeface="Helvetica Neue"/>
              </a:rPr>
              <a:t>Nearly all growth is minor, no-damage strikes (9.0x vs 1.9x for damaging), likely better reporting. The damage rate fell from 15.9% to 3.9%.</a:t>
            </a:r>
            <a:endParaRPr b="0" i="0" sz="1350" u="none" cap="none" strike="noStrike">
              <a:solidFill>
                <a:schemeClr val="dk1"/>
              </a:solidFill>
              <a:latin typeface="Helvetica Neue"/>
              <a:ea typeface="Helvetica Neue"/>
              <a:cs typeface="Helvetica Neue"/>
              <a:sym typeface="Helvetica Neue"/>
            </a:endParaRPr>
          </a:p>
        </p:txBody>
      </p:sp>
      <p:sp>
        <p:nvSpPr>
          <p:cNvPr id="121" name="Google Shape;121;p10"/>
          <p:cNvSpPr/>
          <p:nvPr/>
        </p:nvSpPr>
        <p:spPr>
          <a:xfrm>
            <a:off x="6146800" y="3103463"/>
            <a:ext cx="5232400" cy="707330"/>
          </a:xfrm>
          <a:prstGeom prst="roundRect">
            <a:avLst>
              <a:gd fmla="val 10773" name="adj"/>
            </a:avLst>
          </a:prstGeom>
          <a:solidFill>
            <a:srgbClr val="0F1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0"/>
          <p:cNvSpPr/>
          <p:nvPr/>
        </p:nvSpPr>
        <p:spPr>
          <a:xfrm>
            <a:off x="6286500" y="3243163"/>
            <a:ext cx="510159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66B"/>
              </a:buClr>
              <a:buSzPts val="1200"/>
              <a:buFont typeface="Helvetica Neue"/>
              <a:buNone/>
            </a:pPr>
            <a:r>
              <a:rPr b="1" i="0" lang="en-US" sz="1200" u="none" cap="none" strike="noStrike">
                <a:solidFill>
                  <a:srgbClr val="F2A66B"/>
                </a:solidFill>
                <a:latin typeface="Helvetica Neue"/>
                <a:ea typeface="Helvetica Neue"/>
                <a:cs typeface="Helvetica Neue"/>
                <a:sym typeface="Helvetica Neue"/>
              </a:rPr>
              <a:t>EDA DECISION</a:t>
            </a:r>
            <a:endParaRPr b="0" i="0" sz="1200" u="none" cap="none" strike="noStrike">
              <a:solidFill>
                <a:schemeClr val="dk1"/>
              </a:solidFill>
              <a:latin typeface="Helvetica Neue"/>
              <a:ea typeface="Helvetica Neue"/>
              <a:cs typeface="Helvetica Neue"/>
              <a:sym typeface="Helvetica Neue"/>
            </a:endParaRPr>
          </a:p>
        </p:txBody>
      </p:sp>
      <p:sp>
        <p:nvSpPr>
          <p:cNvPr id="123" name="Google Shape;123;p10"/>
          <p:cNvSpPr/>
          <p:nvPr/>
        </p:nvSpPr>
        <p:spPr>
          <a:xfrm>
            <a:off x="6286500" y="3456484"/>
            <a:ext cx="5101590" cy="24001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5F2EA"/>
              </a:buClr>
              <a:buSzPts val="1300"/>
              <a:buFont typeface="Helvetica Neue"/>
              <a:buNone/>
            </a:pPr>
            <a:r>
              <a:rPr b="0" i="0" lang="en-US" sz="1300" u="none" cap="none" strike="noStrike">
                <a:solidFill>
                  <a:srgbClr val="F5F2EA"/>
                </a:solidFill>
                <a:latin typeface="Helvetica Neue"/>
                <a:ea typeface="Helvetica Neue"/>
                <a:cs typeface="Helvetica Neue"/>
                <a:sym typeface="Helvetica Neue"/>
              </a:rPr>
              <a:t>Compare rates, not counts. Split train and test by time.</a:t>
            </a:r>
            <a:endParaRPr b="0" i="0" sz="1300" u="none" cap="none" strike="noStrike">
              <a:solidFill>
                <a:schemeClr val="dk1"/>
              </a:solidFill>
              <a:latin typeface="Helvetica Neue"/>
              <a:ea typeface="Helvetica Neue"/>
              <a:cs typeface="Helvetica Neue"/>
              <a:sym typeface="Helvetica Neue"/>
            </a:endParaRPr>
          </a:p>
        </p:txBody>
      </p:sp>
      <p:sp>
        <p:nvSpPr>
          <p:cNvPr id="124" name="Google Shape;124;p10"/>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372"/>
              </a:buClr>
              <a:buSzPts val="1200"/>
              <a:buFont typeface="Helvetica Neue"/>
              <a:buNone/>
            </a:pPr>
            <a:r>
              <a:rPr b="0" i="0" lang="en-US" sz="1200" u="none" cap="none" strike="noStrike">
                <a:solidFill>
                  <a:srgbClr val="5A6372"/>
                </a:solidFill>
                <a:latin typeface="Helvetica Neue"/>
                <a:ea typeface="Helvetica Neue"/>
                <a:cs typeface="Helvetica Neue"/>
                <a:sym typeface="Helvetica Neue"/>
              </a:rPr>
              <a:t>Source: WILDLIFE_EDA notebook</a:t>
            </a:r>
            <a:endParaRPr b="0" i="0" sz="1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2EA"/>
        </a:solidFill>
      </p:bgPr>
    </p:bg>
    <p:spTree>
      <p:nvGrpSpPr>
        <p:cNvPr id="129" name="Shape 129"/>
        <p:cNvGrpSpPr/>
        <p:nvPr/>
      </p:nvGrpSpPr>
      <p:grpSpPr>
        <a:xfrm>
          <a:off x="0" y="0"/>
          <a:ext cx="0" cy="0"/>
          <a:chOff x="0" y="0"/>
          <a:chExt cx="0" cy="0"/>
        </a:xfrm>
      </p:grpSpPr>
      <p:sp>
        <p:nvSpPr>
          <p:cNvPr id="130" name="Google Shape;130;p11"/>
          <p:cNvSpPr/>
          <p:nvPr/>
        </p:nvSpPr>
        <p:spPr>
          <a:xfrm>
            <a:off x="812800" y="6096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892B"/>
              </a:buClr>
              <a:buSzPts val="1300"/>
              <a:buFont typeface="Helvetica Neue"/>
              <a:buNone/>
            </a:pPr>
            <a:r>
              <a:rPr b="1" i="0" lang="en-US" spc="100" sz="1300" u="none" cap="none" strike="noStrike">
                <a:solidFill>
                  <a:srgbClr val="E8892B"/>
                </a:solidFill>
                <a:latin typeface="Helvetica Neue"/>
                <a:ea typeface="Helvetica Neue"/>
                <a:cs typeface="Helvetica Neue"/>
                <a:sym typeface="Helvetica Neue"/>
              </a:rPr>
              <a:t>3 · EDA · 2 OF 6</a:t>
            </a:r>
            <a:endParaRPr b="0" i="0" sz="1300" u="none" cap="none" strike="noStrike">
              <a:solidFill>
                <a:schemeClr val="dk1"/>
              </a:solidFill>
              <a:latin typeface="Helvetica Neue"/>
              <a:ea typeface="Helvetica Neue"/>
              <a:cs typeface="Helvetica Neue"/>
              <a:sym typeface="Helvetica Neue"/>
            </a:endParaRPr>
          </a:p>
        </p:txBody>
      </p:sp>
      <p:sp>
        <p:nvSpPr>
          <p:cNvPr id="131" name="Google Shape;131;p11"/>
          <p:cNvSpPr txBox="1"/>
          <p:nvPr>
            <p:ph type="title"/>
          </p:nvPr>
        </p:nvSpPr>
        <p:spPr>
          <a:xfrm>
            <a:off x="812800" y="1069330"/>
            <a:ext cx="10883392" cy="3746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1B33"/>
              </a:buClr>
              <a:buSzPts val="2500"/>
              <a:buFont typeface="Source Serif 4"/>
              <a:buNone/>
            </a:pPr>
            <a:r>
              <a:rPr b="1" i="0" lang="en-US" sz="2500">
                <a:solidFill>
                  <a:srgbClr val="0F1B33"/>
                </a:solidFill>
                <a:latin typeface="Source Serif 4"/>
                <a:ea typeface="Source Serif 4"/>
                <a:cs typeface="Source Serif 4"/>
                <a:sym typeface="Source Serif 4"/>
              </a:rPr>
              <a:t>Strikes away from the runway are far more damaging</a:t>
            </a:r>
            <a:endParaRPr sz="2500"/>
          </a:p>
        </p:txBody>
      </p:sp>
      <p:sp>
        <p:nvSpPr>
          <p:cNvPr id="132" name="Google Shape;132;p11"/>
          <p:cNvSpPr/>
          <p:nvPr/>
        </p:nvSpPr>
        <p:spPr>
          <a:xfrm>
            <a:off x="812800" y="1647180"/>
            <a:ext cx="4826000" cy="3651250"/>
          </a:xfrm>
          <a:prstGeom prst="roundRect">
            <a:avLst>
              <a:gd fmla="val 208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EDA chart e4" id="133" name="Google Shape;133;p11"/>
          <p:cNvPicPr preferRelativeResize="0"/>
          <p:nvPr/>
        </p:nvPicPr>
        <p:blipFill rotWithShape="1">
          <a:blip r:embed="rId3">
            <a:alphaModFix/>
          </a:blip>
          <a:srcRect b="0" l="-113" r="-113" t="0"/>
          <a:stretch/>
        </p:blipFill>
        <p:spPr>
          <a:xfrm>
            <a:off x="819150" y="1653530"/>
            <a:ext cx="4813300" cy="3638550"/>
          </a:xfrm>
          <a:prstGeom prst="roundRect">
            <a:avLst>
              <a:gd fmla="val 1920" name="adj"/>
            </a:avLst>
          </a:prstGeom>
          <a:noFill/>
          <a:ln>
            <a:noFill/>
          </a:ln>
        </p:spPr>
      </p:pic>
      <p:sp>
        <p:nvSpPr>
          <p:cNvPr id="134" name="Google Shape;134;p11"/>
          <p:cNvSpPr/>
          <p:nvPr/>
        </p:nvSpPr>
        <p:spPr>
          <a:xfrm>
            <a:off x="815975" y="1650355"/>
            <a:ext cx="4819650" cy="3644900"/>
          </a:xfrm>
          <a:prstGeom prst="roundRect">
            <a:avLst>
              <a:gd fmla="val 2003" name="adj"/>
            </a:avLst>
          </a:prstGeom>
          <a:no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a:off x="5892800" y="1647180"/>
            <a:ext cx="5650992" cy="50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892B"/>
              </a:buClr>
              <a:buSzPts val="3800"/>
              <a:buFont typeface="Source Serif 4"/>
              <a:buNone/>
            </a:pPr>
            <a:r>
              <a:rPr b="1" i="0" lang="en-US" sz="3800" u="none" cap="none" strike="noStrike">
                <a:solidFill>
                  <a:srgbClr val="E8892B"/>
                </a:solidFill>
                <a:latin typeface="Source Serif 4"/>
                <a:ea typeface="Source Serif 4"/>
                <a:cs typeface="Source Serif 4"/>
                <a:sym typeface="Source Serif 4"/>
              </a:rPr>
              <a:t>29.2% en route</a:t>
            </a:r>
            <a:endParaRPr b="0" i="0" sz="3800" u="none" cap="none" strike="noStrike">
              <a:solidFill>
                <a:schemeClr val="dk1"/>
              </a:solidFill>
              <a:latin typeface="Helvetica Neue"/>
              <a:ea typeface="Helvetica Neue"/>
              <a:cs typeface="Helvetica Neue"/>
              <a:sym typeface="Helvetica Neue"/>
            </a:endParaRPr>
          </a:p>
        </p:txBody>
      </p:sp>
      <p:sp>
        <p:nvSpPr>
          <p:cNvPr id="136" name="Google Shape;136;p11"/>
          <p:cNvSpPr/>
          <p:nvPr/>
        </p:nvSpPr>
        <p:spPr>
          <a:xfrm>
            <a:off x="5892800" y="2269480"/>
            <a:ext cx="5650992" cy="719683"/>
          </a:xfrm>
          <a:prstGeom prst="rect">
            <a:avLst/>
          </a:prstGeom>
          <a:noFill/>
          <a:ln>
            <a:noFill/>
          </a:ln>
        </p:spPr>
        <p:txBody>
          <a:bodyPr anchorCtr="0" anchor="t" bIns="0" lIns="0" spcFirstLastPara="1" rIns="0" wrap="square" tIns="0">
            <a:noAutofit/>
          </a:bodyPr>
          <a:lstStyle/>
          <a:p>
            <a:pPr indent="0" lvl="0" marL="0" marR="0" rtl="0" algn="l">
              <a:lnSpc>
                <a:spcPct val="135037"/>
              </a:lnSpc>
              <a:spcBef>
                <a:spcPts val="0"/>
              </a:spcBef>
              <a:spcAft>
                <a:spcPts val="0"/>
              </a:spcAft>
              <a:buClr>
                <a:srgbClr val="0F1B33"/>
              </a:buClr>
              <a:buSzPts val="1350"/>
              <a:buFont typeface="Helvetica Neue"/>
              <a:buNone/>
            </a:pPr>
            <a:r>
              <a:rPr b="0" i="0" lang="en-US" sz="1350" u="none" cap="none" strike="noStrike">
                <a:solidFill>
                  <a:srgbClr val="0F1B33"/>
                </a:solidFill>
                <a:latin typeface="Helvetica Neue"/>
                <a:ea typeface="Helvetica Neue"/>
                <a:cs typeface="Helvetica Neue"/>
                <a:sym typeface="Helvetica Neue"/>
              </a:rPr>
              <a:t>92% of strikes happen near the runway, but en route strikes damage 29.2% of the time, about 5x average. Climb and descent are about 14%.</a:t>
            </a:r>
            <a:endParaRPr b="0" i="0" sz="1350" u="none" cap="none" strike="noStrike">
              <a:solidFill>
                <a:schemeClr val="dk1"/>
              </a:solidFill>
              <a:latin typeface="Helvetica Neue"/>
              <a:ea typeface="Helvetica Neue"/>
              <a:cs typeface="Helvetica Neue"/>
              <a:sym typeface="Helvetica Neue"/>
            </a:endParaRPr>
          </a:p>
        </p:txBody>
      </p:sp>
      <p:sp>
        <p:nvSpPr>
          <p:cNvPr id="137" name="Google Shape;137;p11"/>
          <p:cNvSpPr/>
          <p:nvPr/>
        </p:nvSpPr>
        <p:spPr>
          <a:xfrm>
            <a:off x="5892800" y="3103463"/>
            <a:ext cx="5486400" cy="707330"/>
          </a:xfrm>
          <a:prstGeom prst="roundRect">
            <a:avLst>
              <a:gd fmla="val 10773" name="adj"/>
            </a:avLst>
          </a:prstGeom>
          <a:solidFill>
            <a:srgbClr val="0F1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
          <p:cNvSpPr/>
          <p:nvPr/>
        </p:nvSpPr>
        <p:spPr>
          <a:xfrm>
            <a:off x="6032500" y="3243163"/>
            <a:ext cx="536321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66B"/>
              </a:buClr>
              <a:buSzPts val="1200"/>
              <a:buFont typeface="Helvetica Neue"/>
              <a:buNone/>
            </a:pPr>
            <a:r>
              <a:rPr b="1" i="0" lang="en-US" sz="1200" u="none" cap="none" strike="noStrike">
                <a:solidFill>
                  <a:srgbClr val="F2A66B"/>
                </a:solidFill>
                <a:latin typeface="Helvetica Neue"/>
                <a:ea typeface="Helvetica Neue"/>
                <a:cs typeface="Helvetica Neue"/>
                <a:sym typeface="Helvetica Neue"/>
              </a:rPr>
              <a:t>EDA DECISION</a:t>
            </a:r>
            <a:endParaRPr b="0" i="0" sz="1200" u="none" cap="none" strike="noStrike">
              <a:solidFill>
                <a:schemeClr val="dk1"/>
              </a:solidFill>
              <a:latin typeface="Helvetica Neue"/>
              <a:ea typeface="Helvetica Neue"/>
              <a:cs typeface="Helvetica Neue"/>
              <a:sym typeface="Helvetica Neue"/>
            </a:endParaRPr>
          </a:p>
        </p:txBody>
      </p:sp>
      <p:sp>
        <p:nvSpPr>
          <p:cNvPr id="139" name="Google Shape;139;p11"/>
          <p:cNvSpPr/>
          <p:nvPr/>
        </p:nvSpPr>
        <p:spPr>
          <a:xfrm>
            <a:off x="6032500" y="3456484"/>
            <a:ext cx="5363210" cy="24001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5F2EA"/>
              </a:buClr>
              <a:buSzPts val="1300"/>
              <a:buFont typeface="Helvetica Neue"/>
              <a:buNone/>
            </a:pPr>
            <a:r>
              <a:rPr b="0" i="0" lang="en-US" sz="1300" u="none" cap="none" strike="noStrike">
                <a:solidFill>
                  <a:srgbClr val="F5F2EA"/>
                </a:solidFill>
                <a:latin typeface="Helvetica Neue"/>
                <a:ea typeface="Helvetica Neue"/>
                <a:cs typeface="Helvetica Neue"/>
                <a:sym typeface="Helvetica Neue"/>
              </a:rPr>
              <a:t>Keep phase of flight as a feature.</a:t>
            </a:r>
            <a:endParaRPr b="0" i="0" sz="1300" u="none" cap="none" strike="noStrike">
              <a:solidFill>
                <a:schemeClr val="dk1"/>
              </a:solidFill>
              <a:latin typeface="Helvetica Neue"/>
              <a:ea typeface="Helvetica Neue"/>
              <a:cs typeface="Helvetica Neue"/>
              <a:sym typeface="Helvetica Neue"/>
            </a:endParaRPr>
          </a:p>
        </p:txBody>
      </p:sp>
      <p:sp>
        <p:nvSpPr>
          <p:cNvPr id="140" name="Google Shape;140;p11"/>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372"/>
              </a:buClr>
              <a:buSzPts val="1200"/>
              <a:buFont typeface="Helvetica Neue"/>
              <a:buNone/>
            </a:pPr>
            <a:r>
              <a:rPr b="0" i="0" lang="en-US" sz="1200" u="none" cap="none" strike="noStrike">
                <a:solidFill>
                  <a:srgbClr val="5A6372"/>
                </a:solidFill>
                <a:latin typeface="Helvetica Neue"/>
                <a:ea typeface="Helvetica Neue"/>
                <a:cs typeface="Helvetica Neue"/>
                <a:sym typeface="Helvetica Neue"/>
              </a:rPr>
              <a:t>Source: WILDLIFE_EDA notebook</a:t>
            </a:r>
            <a:endParaRPr b="0" i="0" sz="1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2EA"/>
        </a:solidFill>
      </p:bgPr>
    </p:bg>
    <p:spTree>
      <p:nvGrpSpPr>
        <p:cNvPr id="145" name="Shape 145"/>
        <p:cNvGrpSpPr/>
        <p:nvPr/>
      </p:nvGrpSpPr>
      <p:grpSpPr>
        <a:xfrm>
          <a:off x="0" y="0"/>
          <a:ext cx="0" cy="0"/>
          <a:chOff x="0" y="0"/>
          <a:chExt cx="0" cy="0"/>
        </a:xfrm>
      </p:grpSpPr>
      <p:sp>
        <p:nvSpPr>
          <p:cNvPr id="146" name="Google Shape;146;p12"/>
          <p:cNvSpPr/>
          <p:nvPr/>
        </p:nvSpPr>
        <p:spPr>
          <a:xfrm>
            <a:off x="812800" y="6096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892B"/>
              </a:buClr>
              <a:buSzPts val="1300"/>
              <a:buFont typeface="Helvetica Neue"/>
              <a:buNone/>
            </a:pPr>
            <a:r>
              <a:rPr b="1" i="0" lang="en-US" spc="100" sz="1300" u="none" cap="none" strike="noStrike">
                <a:solidFill>
                  <a:srgbClr val="E8892B"/>
                </a:solidFill>
                <a:latin typeface="Helvetica Neue"/>
                <a:ea typeface="Helvetica Neue"/>
                <a:cs typeface="Helvetica Neue"/>
                <a:sym typeface="Helvetica Neue"/>
              </a:rPr>
              <a:t>3 · EDA · 3 OF 6</a:t>
            </a:r>
            <a:endParaRPr b="0" i="0" sz="1300" u="none" cap="none" strike="noStrike">
              <a:solidFill>
                <a:schemeClr val="dk1"/>
              </a:solidFill>
              <a:latin typeface="Helvetica Neue"/>
              <a:ea typeface="Helvetica Neue"/>
              <a:cs typeface="Helvetica Neue"/>
              <a:sym typeface="Helvetica Neue"/>
            </a:endParaRPr>
          </a:p>
        </p:txBody>
      </p:sp>
      <p:sp>
        <p:nvSpPr>
          <p:cNvPr id="147" name="Google Shape;147;p12"/>
          <p:cNvSpPr txBox="1"/>
          <p:nvPr>
            <p:ph type="title"/>
          </p:nvPr>
        </p:nvSpPr>
        <p:spPr>
          <a:xfrm>
            <a:off x="812800" y="1069330"/>
            <a:ext cx="10883392" cy="3746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1B33"/>
              </a:buClr>
              <a:buSzPts val="2500"/>
              <a:buFont typeface="Source Serif 4"/>
              <a:buNone/>
            </a:pPr>
            <a:r>
              <a:rPr b="1" i="0" lang="en-US" sz="2500">
                <a:solidFill>
                  <a:srgbClr val="0F1B33"/>
                </a:solidFill>
                <a:latin typeface="Source Serif 4"/>
                <a:ea typeface="Source Serif 4"/>
                <a:cs typeface="Source Serif 4"/>
                <a:sym typeface="Source Serif 4"/>
              </a:rPr>
              <a:t>The most common species are rarely the dangerous ones</a:t>
            </a:r>
            <a:endParaRPr sz="2500"/>
          </a:p>
        </p:txBody>
      </p:sp>
      <p:sp>
        <p:nvSpPr>
          <p:cNvPr id="148" name="Google Shape;148;p12"/>
          <p:cNvSpPr/>
          <p:nvPr/>
        </p:nvSpPr>
        <p:spPr>
          <a:xfrm>
            <a:off x="812800" y="1647180"/>
            <a:ext cx="5073650" cy="3663950"/>
          </a:xfrm>
          <a:prstGeom prst="roundRect">
            <a:avLst>
              <a:gd fmla="val 208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pecies damage rate and frequency" id="149" name="Google Shape;149;p12"/>
          <p:cNvPicPr preferRelativeResize="0"/>
          <p:nvPr/>
        </p:nvPicPr>
        <p:blipFill rotWithShape="1">
          <a:blip r:embed="rId3">
            <a:alphaModFix/>
          </a:blip>
          <a:srcRect b="0" l="-41" r="-41" t="0"/>
          <a:stretch/>
        </p:blipFill>
        <p:spPr>
          <a:xfrm>
            <a:off x="819150" y="1653530"/>
            <a:ext cx="5060950" cy="3651250"/>
          </a:xfrm>
          <a:prstGeom prst="roundRect">
            <a:avLst>
              <a:gd fmla="val 1913" name="adj"/>
            </a:avLst>
          </a:prstGeom>
          <a:noFill/>
          <a:ln>
            <a:noFill/>
          </a:ln>
        </p:spPr>
      </p:pic>
      <p:sp>
        <p:nvSpPr>
          <p:cNvPr id="150" name="Google Shape;150;p12"/>
          <p:cNvSpPr/>
          <p:nvPr/>
        </p:nvSpPr>
        <p:spPr>
          <a:xfrm>
            <a:off x="815975" y="1650355"/>
            <a:ext cx="5067300" cy="3657600"/>
          </a:xfrm>
          <a:prstGeom prst="roundRect">
            <a:avLst>
              <a:gd fmla="val 1997" name="adj"/>
            </a:avLst>
          </a:prstGeom>
          <a:no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2"/>
          <p:cNvSpPr/>
          <p:nvPr/>
        </p:nvSpPr>
        <p:spPr>
          <a:xfrm>
            <a:off x="6140450" y="1647180"/>
            <a:ext cx="5395913" cy="50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892B"/>
              </a:buClr>
              <a:buSzPts val="3800"/>
              <a:buFont typeface="Source Serif 4"/>
              <a:buNone/>
            </a:pPr>
            <a:r>
              <a:rPr b="1" i="0" lang="en-US" sz="3800" u="none" cap="none" strike="noStrike">
                <a:solidFill>
                  <a:srgbClr val="E8892B"/>
                </a:solidFill>
                <a:latin typeface="Source Serif 4"/>
                <a:ea typeface="Source Serif 4"/>
                <a:cs typeface="Source Serif 4"/>
                <a:sym typeface="Source Serif 4"/>
              </a:rPr>
              <a:t>82% deer</a:t>
            </a:r>
            <a:endParaRPr b="0" i="0" sz="3800" u="none" cap="none" strike="noStrike">
              <a:solidFill>
                <a:schemeClr val="dk1"/>
              </a:solidFill>
              <a:latin typeface="Helvetica Neue"/>
              <a:ea typeface="Helvetica Neue"/>
              <a:cs typeface="Helvetica Neue"/>
              <a:sym typeface="Helvetica Neue"/>
            </a:endParaRPr>
          </a:p>
        </p:txBody>
      </p:sp>
      <p:sp>
        <p:nvSpPr>
          <p:cNvPr id="152" name="Google Shape;152;p12"/>
          <p:cNvSpPr/>
          <p:nvPr/>
        </p:nvSpPr>
        <p:spPr>
          <a:xfrm>
            <a:off x="6140450" y="2269480"/>
            <a:ext cx="5395913" cy="488255"/>
          </a:xfrm>
          <a:prstGeom prst="rect">
            <a:avLst/>
          </a:prstGeom>
          <a:noFill/>
          <a:ln>
            <a:noFill/>
          </a:ln>
        </p:spPr>
        <p:txBody>
          <a:bodyPr anchorCtr="0" anchor="t" bIns="0" lIns="0" spcFirstLastPara="1" rIns="0" wrap="square" tIns="0">
            <a:noAutofit/>
          </a:bodyPr>
          <a:lstStyle/>
          <a:p>
            <a:pPr indent="0" lvl="0" marL="0" marR="0" rtl="0" algn="l">
              <a:lnSpc>
                <a:spcPct val="135037"/>
              </a:lnSpc>
              <a:spcBef>
                <a:spcPts val="0"/>
              </a:spcBef>
              <a:spcAft>
                <a:spcPts val="0"/>
              </a:spcAft>
              <a:buClr>
                <a:srgbClr val="0F1B33"/>
              </a:buClr>
              <a:buSzPts val="1350"/>
              <a:buFont typeface="Helvetica Neue"/>
              <a:buNone/>
            </a:pPr>
            <a:r>
              <a:rPr b="0" i="0" lang="en-US" sz="1350" u="none" cap="none" strike="noStrike">
                <a:solidFill>
                  <a:srgbClr val="0F1B33"/>
                </a:solidFill>
                <a:latin typeface="Helvetica Neue"/>
                <a:ea typeface="Helvetica Neue"/>
                <a:cs typeface="Helvetica Neue"/>
                <a:sym typeface="Helvetica Neue"/>
              </a:rPr>
              <a:t>Mourning doves are struck most (18,687) but damage only 1.8%. White-tailed deer damage 82%, geese 52%, turkey vultures 46%.</a:t>
            </a:r>
            <a:endParaRPr b="0" i="0" sz="1350" u="none" cap="none" strike="noStrike">
              <a:solidFill>
                <a:schemeClr val="dk1"/>
              </a:solidFill>
              <a:latin typeface="Helvetica Neue"/>
              <a:ea typeface="Helvetica Neue"/>
              <a:cs typeface="Helvetica Neue"/>
              <a:sym typeface="Helvetica Neue"/>
            </a:endParaRPr>
          </a:p>
        </p:txBody>
      </p:sp>
      <p:sp>
        <p:nvSpPr>
          <p:cNvPr id="153" name="Google Shape;153;p12"/>
          <p:cNvSpPr/>
          <p:nvPr/>
        </p:nvSpPr>
        <p:spPr>
          <a:xfrm>
            <a:off x="6140450" y="2872036"/>
            <a:ext cx="5238750" cy="707330"/>
          </a:xfrm>
          <a:prstGeom prst="roundRect">
            <a:avLst>
              <a:gd fmla="val 10773" name="adj"/>
            </a:avLst>
          </a:prstGeom>
          <a:solidFill>
            <a:srgbClr val="0F1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2"/>
          <p:cNvSpPr/>
          <p:nvPr/>
        </p:nvSpPr>
        <p:spPr>
          <a:xfrm>
            <a:off x="6280150" y="3011736"/>
            <a:ext cx="510813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66B"/>
              </a:buClr>
              <a:buSzPts val="1200"/>
              <a:buFont typeface="Helvetica Neue"/>
              <a:buNone/>
            </a:pPr>
            <a:r>
              <a:rPr b="1" i="0" lang="en-US" sz="1200" u="none" cap="none" strike="noStrike">
                <a:solidFill>
                  <a:srgbClr val="F2A66B"/>
                </a:solidFill>
                <a:latin typeface="Helvetica Neue"/>
                <a:ea typeface="Helvetica Neue"/>
                <a:cs typeface="Helvetica Neue"/>
                <a:sym typeface="Helvetica Neue"/>
              </a:rPr>
              <a:t>EDA DECISION</a:t>
            </a:r>
            <a:endParaRPr b="0" i="0" sz="1200" u="none" cap="none" strike="noStrike">
              <a:solidFill>
                <a:schemeClr val="dk1"/>
              </a:solidFill>
              <a:latin typeface="Helvetica Neue"/>
              <a:ea typeface="Helvetica Neue"/>
              <a:cs typeface="Helvetica Neue"/>
              <a:sym typeface="Helvetica Neue"/>
            </a:endParaRPr>
          </a:p>
        </p:txBody>
      </p:sp>
      <p:sp>
        <p:nvSpPr>
          <p:cNvPr id="155" name="Google Shape;155;p12"/>
          <p:cNvSpPr/>
          <p:nvPr/>
        </p:nvSpPr>
        <p:spPr>
          <a:xfrm>
            <a:off x="6280150" y="3225056"/>
            <a:ext cx="5108131" cy="24001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5F2EA"/>
              </a:buClr>
              <a:buSzPts val="1300"/>
              <a:buFont typeface="Helvetica Neue"/>
              <a:buNone/>
            </a:pPr>
            <a:r>
              <a:rPr b="0" i="0" lang="en-US" sz="1300" u="none" cap="none" strike="noStrike">
                <a:solidFill>
                  <a:srgbClr val="F5F2EA"/>
                </a:solidFill>
                <a:latin typeface="Helvetica Neue"/>
                <a:ea typeface="Helvetica Neue"/>
                <a:cs typeface="Helvetica Neue"/>
                <a:sym typeface="Helvetica Neue"/>
              </a:rPr>
              <a:t>Group species into risk tiers; encode using training data only.</a:t>
            </a:r>
            <a:endParaRPr b="0" i="0" sz="1300" u="none" cap="none" strike="noStrike">
              <a:solidFill>
                <a:schemeClr val="dk1"/>
              </a:solidFill>
              <a:latin typeface="Helvetica Neue"/>
              <a:ea typeface="Helvetica Neue"/>
              <a:cs typeface="Helvetica Neue"/>
              <a:sym typeface="Helvetica Neue"/>
            </a:endParaRPr>
          </a:p>
        </p:txBody>
      </p:sp>
      <p:sp>
        <p:nvSpPr>
          <p:cNvPr id="156" name="Google Shape;156;p12"/>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372"/>
              </a:buClr>
              <a:buSzPts val="1200"/>
              <a:buFont typeface="Helvetica Neue"/>
              <a:buNone/>
            </a:pPr>
            <a:r>
              <a:rPr b="0" i="0" lang="en-US" sz="1200" u="none" cap="none" strike="noStrike">
                <a:solidFill>
                  <a:srgbClr val="5A6372"/>
                </a:solidFill>
                <a:latin typeface="Helvetica Neue"/>
                <a:ea typeface="Helvetica Neue"/>
                <a:cs typeface="Helvetica Neue"/>
                <a:sym typeface="Helvetica Neue"/>
              </a:rPr>
              <a:t>Source: WILDLIFE_EDA notebook</a:t>
            </a:r>
            <a:endParaRPr b="0" i="0" sz="1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2EA"/>
        </a:solidFill>
      </p:bgPr>
    </p:bg>
    <p:spTree>
      <p:nvGrpSpPr>
        <p:cNvPr id="161" name="Shape 161"/>
        <p:cNvGrpSpPr/>
        <p:nvPr/>
      </p:nvGrpSpPr>
      <p:grpSpPr>
        <a:xfrm>
          <a:off x="0" y="0"/>
          <a:ext cx="0" cy="0"/>
          <a:chOff x="0" y="0"/>
          <a:chExt cx="0" cy="0"/>
        </a:xfrm>
      </p:grpSpPr>
      <p:sp>
        <p:nvSpPr>
          <p:cNvPr id="162" name="Google Shape;162;p13"/>
          <p:cNvSpPr/>
          <p:nvPr/>
        </p:nvSpPr>
        <p:spPr>
          <a:xfrm>
            <a:off x="812800" y="6096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892B"/>
              </a:buClr>
              <a:buSzPts val="1300"/>
              <a:buFont typeface="Helvetica Neue"/>
              <a:buNone/>
            </a:pPr>
            <a:r>
              <a:rPr b="1" i="0" lang="en-US" spc="100" sz="1300" u="none" cap="none" strike="noStrike">
                <a:solidFill>
                  <a:srgbClr val="E8892B"/>
                </a:solidFill>
                <a:latin typeface="Helvetica Neue"/>
                <a:ea typeface="Helvetica Neue"/>
                <a:cs typeface="Helvetica Neue"/>
                <a:sym typeface="Helvetica Neue"/>
              </a:rPr>
              <a:t>3 · EDA · 4 OF 6</a:t>
            </a:r>
            <a:endParaRPr b="0" i="0" sz="1300" u="none" cap="none" strike="noStrike">
              <a:solidFill>
                <a:schemeClr val="dk1"/>
              </a:solidFill>
              <a:latin typeface="Helvetica Neue"/>
              <a:ea typeface="Helvetica Neue"/>
              <a:cs typeface="Helvetica Neue"/>
              <a:sym typeface="Helvetica Neue"/>
            </a:endParaRPr>
          </a:p>
        </p:txBody>
      </p:sp>
      <p:sp>
        <p:nvSpPr>
          <p:cNvPr id="163" name="Google Shape;163;p13"/>
          <p:cNvSpPr txBox="1"/>
          <p:nvPr>
            <p:ph type="title"/>
          </p:nvPr>
        </p:nvSpPr>
        <p:spPr>
          <a:xfrm>
            <a:off x="812800" y="1069330"/>
            <a:ext cx="10883392" cy="3746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1B33"/>
              </a:buClr>
              <a:buSzPts val="2500"/>
              <a:buFont typeface="Source Serif 4"/>
              <a:buNone/>
            </a:pPr>
            <a:r>
              <a:rPr b="1" i="0" lang="en-US" sz="2500">
                <a:solidFill>
                  <a:srgbClr val="0F1B33"/>
                </a:solidFill>
                <a:latin typeface="Source Serif 4"/>
                <a:ea typeface="Source Serif 4"/>
                <a:cs typeface="Source Serif 4"/>
                <a:sym typeface="Source Serif 4"/>
              </a:rPr>
              <a:t>Wings and engines take most of the damage</a:t>
            </a:r>
            <a:endParaRPr sz="2500"/>
          </a:p>
        </p:txBody>
      </p:sp>
      <p:sp>
        <p:nvSpPr>
          <p:cNvPr id="164" name="Google Shape;164;p13"/>
          <p:cNvSpPr/>
          <p:nvPr/>
        </p:nvSpPr>
        <p:spPr>
          <a:xfrm>
            <a:off x="812800" y="1647180"/>
            <a:ext cx="6350000" cy="3810000"/>
          </a:xfrm>
          <a:prstGeom prst="roundRect">
            <a:avLst>
              <a:gd fmla="val 2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maged aircraft parts" id="165" name="Google Shape;165;p13"/>
          <p:cNvPicPr preferRelativeResize="0"/>
          <p:nvPr/>
        </p:nvPicPr>
        <p:blipFill rotWithShape="1">
          <a:blip r:embed="rId3">
            <a:alphaModFix/>
          </a:blip>
          <a:srcRect b="0" l="-131" r="-131" t="0"/>
          <a:stretch/>
        </p:blipFill>
        <p:spPr>
          <a:xfrm>
            <a:off x="819150" y="1653530"/>
            <a:ext cx="6337300" cy="3797300"/>
          </a:xfrm>
          <a:prstGeom prst="roundRect">
            <a:avLst>
              <a:gd fmla="val 1839" name="adj"/>
            </a:avLst>
          </a:prstGeom>
          <a:noFill/>
          <a:ln>
            <a:noFill/>
          </a:ln>
        </p:spPr>
      </p:pic>
      <p:sp>
        <p:nvSpPr>
          <p:cNvPr id="166" name="Google Shape;166;p13"/>
          <p:cNvSpPr/>
          <p:nvPr/>
        </p:nvSpPr>
        <p:spPr>
          <a:xfrm>
            <a:off x="815975" y="1650355"/>
            <a:ext cx="6343650" cy="3803650"/>
          </a:xfrm>
          <a:prstGeom prst="roundRect">
            <a:avLst>
              <a:gd fmla="val 1920" name="adj"/>
            </a:avLst>
          </a:prstGeom>
          <a:no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3"/>
          <p:cNvSpPr/>
          <p:nvPr/>
        </p:nvSpPr>
        <p:spPr>
          <a:xfrm>
            <a:off x="7416800" y="1647180"/>
            <a:ext cx="4081272" cy="50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892B"/>
              </a:buClr>
              <a:buSzPts val="3800"/>
              <a:buFont typeface="Source Serif 4"/>
              <a:buNone/>
            </a:pPr>
            <a:r>
              <a:rPr b="1" i="0" lang="en-US" sz="3800" u="none" cap="none" strike="noStrike">
                <a:solidFill>
                  <a:srgbClr val="E8892B"/>
                </a:solidFill>
                <a:latin typeface="Source Serif 4"/>
                <a:ea typeface="Source Serif 4"/>
                <a:cs typeface="Source Serif 4"/>
                <a:sym typeface="Source Serif 4"/>
              </a:rPr>
              <a:t>54%</a:t>
            </a:r>
            <a:endParaRPr b="0" i="0" sz="3800" u="none" cap="none" strike="noStrike">
              <a:solidFill>
                <a:schemeClr val="dk1"/>
              </a:solidFill>
              <a:latin typeface="Helvetica Neue"/>
              <a:ea typeface="Helvetica Neue"/>
              <a:cs typeface="Helvetica Neue"/>
              <a:sym typeface="Helvetica Neue"/>
            </a:endParaRPr>
          </a:p>
        </p:txBody>
      </p:sp>
      <p:sp>
        <p:nvSpPr>
          <p:cNvPr id="168" name="Google Shape;168;p13"/>
          <p:cNvSpPr/>
          <p:nvPr/>
        </p:nvSpPr>
        <p:spPr>
          <a:xfrm>
            <a:off x="7416800" y="2269480"/>
            <a:ext cx="4081272" cy="951111"/>
          </a:xfrm>
          <a:prstGeom prst="rect">
            <a:avLst/>
          </a:prstGeom>
          <a:noFill/>
          <a:ln>
            <a:noFill/>
          </a:ln>
        </p:spPr>
        <p:txBody>
          <a:bodyPr anchorCtr="0" anchor="t" bIns="0" lIns="0" spcFirstLastPara="1" rIns="0" wrap="square" tIns="0">
            <a:noAutofit/>
          </a:bodyPr>
          <a:lstStyle/>
          <a:p>
            <a:pPr indent="0" lvl="0" marL="0" marR="0" rtl="0" algn="l">
              <a:lnSpc>
                <a:spcPct val="135037"/>
              </a:lnSpc>
              <a:spcBef>
                <a:spcPts val="0"/>
              </a:spcBef>
              <a:spcAft>
                <a:spcPts val="0"/>
              </a:spcAft>
              <a:buClr>
                <a:srgbClr val="0F1B33"/>
              </a:buClr>
              <a:buSzPts val="1350"/>
              <a:buFont typeface="Helvetica Neue"/>
              <a:buNone/>
            </a:pPr>
            <a:r>
              <a:rPr b="0" i="0" lang="en-US" sz="1350" u="none" cap="none" strike="noStrike">
                <a:solidFill>
                  <a:srgbClr val="0F1B33"/>
                </a:solidFill>
                <a:latin typeface="Helvetica Neue"/>
                <a:ea typeface="Helvetica Neue"/>
                <a:cs typeface="Helvetica Neue"/>
                <a:sym typeface="Helvetica Neue"/>
              </a:rPr>
              <a:t>Wing/rotor (28%) and engine (26%) make up 54% of all damaged parts. Windshield and nose are hit often (17% of hits each) but damaged only 4% of the time.</a:t>
            </a:r>
            <a:endParaRPr b="0" i="0" sz="1350" u="none" cap="none" strike="noStrike">
              <a:solidFill>
                <a:schemeClr val="dk1"/>
              </a:solidFill>
              <a:latin typeface="Helvetica Neue"/>
              <a:ea typeface="Helvetica Neue"/>
              <a:cs typeface="Helvetica Neue"/>
              <a:sym typeface="Helvetica Neue"/>
            </a:endParaRPr>
          </a:p>
        </p:txBody>
      </p:sp>
      <p:sp>
        <p:nvSpPr>
          <p:cNvPr id="169" name="Google Shape;169;p13"/>
          <p:cNvSpPr/>
          <p:nvPr/>
        </p:nvSpPr>
        <p:spPr>
          <a:xfrm>
            <a:off x="7416800" y="3334891"/>
            <a:ext cx="3962400" cy="921941"/>
          </a:xfrm>
          <a:prstGeom prst="roundRect">
            <a:avLst>
              <a:gd fmla="val 8265" name="adj"/>
            </a:avLst>
          </a:prstGeom>
          <a:solidFill>
            <a:srgbClr val="0F1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3"/>
          <p:cNvSpPr/>
          <p:nvPr/>
        </p:nvSpPr>
        <p:spPr>
          <a:xfrm>
            <a:off x="7556500" y="3474591"/>
            <a:ext cx="379349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66B"/>
              </a:buClr>
              <a:buSzPts val="1200"/>
              <a:buFont typeface="Helvetica Neue"/>
              <a:buNone/>
            </a:pPr>
            <a:r>
              <a:rPr b="1" i="0" lang="en-US" sz="1200" u="none" cap="none" strike="noStrike">
                <a:solidFill>
                  <a:srgbClr val="F2A66B"/>
                </a:solidFill>
                <a:latin typeface="Helvetica Neue"/>
                <a:ea typeface="Helvetica Neue"/>
                <a:cs typeface="Helvetica Neue"/>
                <a:sym typeface="Helvetica Neue"/>
              </a:rPr>
              <a:t>EDA DECISION</a:t>
            </a:r>
            <a:endParaRPr b="0" i="0" sz="1200" u="none" cap="none" strike="noStrike">
              <a:solidFill>
                <a:schemeClr val="dk1"/>
              </a:solidFill>
              <a:latin typeface="Helvetica Neue"/>
              <a:ea typeface="Helvetica Neue"/>
              <a:cs typeface="Helvetica Neue"/>
              <a:sym typeface="Helvetica Neue"/>
            </a:endParaRPr>
          </a:p>
        </p:txBody>
      </p:sp>
      <p:sp>
        <p:nvSpPr>
          <p:cNvPr id="171" name="Google Shape;171;p13"/>
          <p:cNvSpPr/>
          <p:nvPr/>
        </p:nvSpPr>
        <p:spPr>
          <a:xfrm>
            <a:off x="7556500" y="3687911"/>
            <a:ext cx="3793490" cy="4546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5F2EA"/>
              </a:buClr>
              <a:buSzPts val="1300"/>
              <a:buFont typeface="Helvetica Neue"/>
              <a:buNone/>
            </a:pPr>
            <a:r>
              <a:rPr b="0" i="0" lang="en-US" sz="1300" u="none" cap="none" strike="noStrike">
                <a:solidFill>
                  <a:srgbClr val="F5F2EA"/>
                </a:solidFill>
                <a:latin typeface="Helvetica Neue"/>
                <a:ea typeface="Helvetica Neue"/>
                <a:cs typeface="Helvetica Neue"/>
                <a:sym typeface="Helvetica Neue"/>
              </a:rPr>
              <a:t>Keep the struck-part flags: they show where the animal hit.</a:t>
            </a:r>
            <a:endParaRPr b="0" i="0" sz="1300" u="none" cap="none" strike="noStrike">
              <a:solidFill>
                <a:schemeClr val="dk1"/>
              </a:solidFill>
              <a:latin typeface="Helvetica Neue"/>
              <a:ea typeface="Helvetica Neue"/>
              <a:cs typeface="Helvetica Neue"/>
              <a:sym typeface="Helvetica Neue"/>
            </a:endParaRPr>
          </a:p>
        </p:txBody>
      </p:sp>
      <p:sp>
        <p:nvSpPr>
          <p:cNvPr id="172" name="Google Shape;172;p13"/>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372"/>
              </a:buClr>
              <a:buSzPts val="1200"/>
              <a:buFont typeface="Helvetica Neue"/>
              <a:buNone/>
            </a:pPr>
            <a:r>
              <a:rPr b="0" i="0" lang="en-US" sz="1200" u="none" cap="none" strike="noStrike">
                <a:solidFill>
                  <a:srgbClr val="5A6372"/>
                </a:solidFill>
                <a:latin typeface="Helvetica Neue"/>
                <a:ea typeface="Helvetica Neue"/>
                <a:cs typeface="Helvetica Neue"/>
                <a:sym typeface="Helvetica Neue"/>
              </a:rPr>
              <a:t>Source: WILDLIFE_EDA notebook</a:t>
            </a:r>
            <a:endParaRPr b="0" i="0" sz="1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2EA"/>
        </a:solidFill>
      </p:bgPr>
    </p:bg>
    <p:spTree>
      <p:nvGrpSpPr>
        <p:cNvPr id="177" name="Shape 177"/>
        <p:cNvGrpSpPr/>
        <p:nvPr/>
      </p:nvGrpSpPr>
      <p:grpSpPr>
        <a:xfrm>
          <a:off x="0" y="0"/>
          <a:ext cx="0" cy="0"/>
          <a:chOff x="0" y="0"/>
          <a:chExt cx="0" cy="0"/>
        </a:xfrm>
      </p:grpSpPr>
      <p:sp>
        <p:nvSpPr>
          <p:cNvPr id="178" name="Google Shape;178;p14"/>
          <p:cNvSpPr/>
          <p:nvPr/>
        </p:nvSpPr>
        <p:spPr>
          <a:xfrm>
            <a:off x="812800" y="6096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892B"/>
              </a:buClr>
              <a:buSzPts val="1300"/>
              <a:buFont typeface="Helvetica Neue"/>
              <a:buNone/>
            </a:pPr>
            <a:r>
              <a:rPr b="1" i="0" lang="en-US" spc="100" sz="1300" u="none" cap="none" strike="noStrike">
                <a:solidFill>
                  <a:srgbClr val="E8892B"/>
                </a:solidFill>
                <a:latin typeface="Helvetica Neue"/>
                <a:ea typeface="Helvetica Neue"/>
                <a:cs typeface="Helvetica Neue"/>
                <a:sym typeface="Helvetica Neue"/>
              </a:rPr>
              <a:t>3 · EDA · 5 OF 6</a:t>
            </a:r>
            <a:endParaRPr b="0" i="0" sz="1300" u="none" cap="none" strike="noStrike">
              <a:solidFill>
                <a:schemeClr val="dk1"/>
              </a:solidFill>
              <a:latin typeface="Helvetica Neue"/>
              <a:ea typeface="Helvetica Neue"/>
              <a:cs typeface="Helvetica Neue"/>
              <a:sym typeface="Helvetica Neue"/>
            </a:endParaRPr>
          </a:p>
        </p:txBody>
      </p:sp>
      <p:sp>
        <p:nvSpPr>
          <p:cNvPr id="179" name="Google Shape;179;p14"/>
          <p:cNvSpPr txBox="1"/>
          <p:nvPr>
            <p:ph type="title"/>
          </p:nvPr>
        </p:nvSpPr>
        <p:spPr>
          <a:xfrm>
            <a:off x="812800" y="1069330"/>
            <a:ext cx="10883392" cy="3746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1B33"/>
              </a:buClr>
              <a:buSzPts val="2500"/>
              <a:buFont typeface="Source Serif 4"/>
              <a:buNone/>
            </a:pPr>
            <a:r>
              <a:rPr b="1" i="0" lang="en-US" sz="2500">
                <a:solidFill>
                  <a:srgbClr val="0F1B33"/>
                </a:solidFill>
                <a:latin typeface="Source Serif 4"/>
                <a:ea typeface="Source Serif 4"/>
                <a:cs typeface="Source Serif 4"/>
                <a:sym typeface="Source Serif 4"/>
              </a:rPr>
              <a:t>Damage risk doubles above 1,000 feet</a:t>
            </a:r>
            <a:endParaRPr sz="2500"/>
          </a:p>
        </p:txBody>
      </p:sp>
      <p:sp>
        <p:nvSpPr>
          <p:cNvPr id="180" name="Google Shape;180;p14"/>
          <p:cNvSpPr/>
          <p:nvPr/>
        </p:nvSpPr>
        <p:spPr>
          <a:xfrm>
            <a:off x="812800" y="1647180"/>
            <a:ext cx="6343650" cy="3917950"/>
          </a:xfrm>
          <a:prstGeom prst="roundRect">
            <a:avLst>
              <a:gd fmla="val 194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ltitude and damage rate" id="181" name="Google Shape;181;p14"/>
          <p:cNvPicPr preferRelativeResize="0"/>
          <p:nvPr/>
        </p:nvPicPr>
        <p:blipFill rotWithShape="1">
          <a:blip r:embed="rId3">
            <a:alphaModFix/>
          </a:blip>
          <a:srcRect b="0" l="-29" r="-29" t="0"/>
          <a:stretch/>
        </p:blipFill>
        <p:spPr>
          <a:xfrm>
            <a:off x="819150" y="1653530"/>
            <a:ext cx="6330950" cy="3905250"/>
          </a:xfrm>
          <a:prstGeom prst="roundRect">
            <a:avLst>
              <a:gd fmla="val 1789" name="adj"/>
            </a:avLst>
          </a:prstGeom>
          <a:noFill/>
          <a:ln>
            <a:noFill/>
          </a:ln>
        </p:spPr>
      </p:pic>
      <p:sp>
        <p:nvSpPr>
          <p:cNvPr id="182" name="Google Shape;182;p14"/>
          <p:cNvSpPr/>
          <p:nvPr/>
        </p:nvSpPr>
        <p:spPr>
          <a:xfrm>
            <a:off x="815975" y="1650355"/>
            <a:ext cx="6337300" cy="3911600"/>
          </a:xfrm>
          <a:prstGeom prst="roundRect">
            <a:avLst>
              <a:gd fmla="val 1867" name="adj"/>
            </a:avLst>
          </a:prstGeom>
          <a:no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4"/>
          <p:cNvSpPr/>
          <p:nvPr/>
        </p:nvSpPr>
        <p:spPr>
          <a:xfrm>
            <a:off x="7410450" y="1647180"/>
            <a:ext cx="4087812" cy="50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892B"/>
              </a:buClr>
              <a:buSzPts val="3800"/>
              <a:buFont typeface="Source Serif 4"/>
              <a:buNone/>
            </a:pPr>
            <a:r>
              <a:rPr b="1" i="0" lang="en-US" sz="3800" u="none" cap="none" strike="noStrike">
                <a:solidFill>
                  <a:srgbClr val="E8892B"/>
                </a:solidFill>
                <a:latin typeface="Source Serif 4"/>
                <a:ea typeface="Source Serif 4"/>
                <a:cs typeface="Source Serif 4"/>
                <a:sym typeface="Source Serif 4"/>
              </a:rPr>
              <a:t>7.4% to 14.6%</a:t>
            </a:r>
            <a:endParaRPr b="0" i="0" sz="3800" u="none" cap="none" strike="noStrike">
              <a:solidFill>
                <a:schemeClr val="dk1"/>
              </a:solidFill>
              <a:latin typeface="Helvetica Neue"/>
              <a:ea typeface="Helvetica Neue"/>
              <a:cs typeface="Helvetica Neue"/>
              <a:sym typeface="Helvetica Neue"/>
            </a:endParaRPr>
          </a:p>
        </p:txBody>
      </p:sp>
      <p:sp>
        <p:nvSpPr>
          <p:cNvPr id="184" name="Google Shape;184;p14"/>
          <p:cNvSpPr/>
          <p:nvPr/>
        </p:nvSpPr>
        <p:spPr>
          <a:xfrm>
            <a:off x="7410450" y="2269480"/>
            <a:ext cx="4087812" cy="951111"/>
          </a:xfrm>
          <a:prstGeom prst="rect">
            <a:avLst/>
          </a:prstGeom>
          <a:noFill/>
          <a:ln>
            <a:noFill/>
          </a:ln>
        </p:spPr>
        <p:txBody>
          <a:bodyPr anchorCtr="0" anchor="t" bIns="0" lIns="0" spcFirstLastPara="1" rIns="0" wrap="square" tIns="0">
            <a:noAutofit/>
          </a:bodyPr>
          <a:lstStyle/>
          <a:p>
            <a:pPr indent="0" lvl="0" marL="0" marR="0" rtl="0" algn="l">
              <a:lnSpc>
                <a:spcPct val="135037"/>
              </a:lnSpc>
              <a:spcBef>
                <a:spcPts val="0"/>
              </a:spcBef>
              <a:spcAft>
                <a:spcPts val="0"/>
              </a:spcAft>
              <a:buClr>
                <a:srgbClr val="0F1B33"/>
              </a:buClr>
              <a:buSzPts val="1350"/>
              <a:buFont typeface="Helvetica Neue"/>
              <a:buNone/>
            </a:pPr>
            <a:r>
              <a:rPr b="0" i="0" lang="en-US" sz="1350" u="none" cap="none" strike="noStrike">
                <a:solidFill>
                  <a:srgbClr val="0F1B33"/>
                </a:solidFill>
                <a:latin typeface="Helvetica Neue"/>
                <a:ea typeface="Helvetica Neue"/>
                <a:cs typeface="Helvetica Neue"/>
                <a:sym typeface="Helvetica Neue"/>
              </a:rPr>
              <a:t>71% of strikes with a known height are at or below 500 ft, but above 1,000 ft the damage rate is 2.0x higher. That altitude holds 22% of strikes and 33% of damaging ones.</a:t>
            </a:r>
            <a:endParaRPr b="0" i="0" sz="1350" u="none" cap="none" strike="noStrike">
              <a:solidFill>
                <a:schemeClr val="dk1"/>
              </a:solidFill>
              <a:latin typeface="Helvetica Neue"/>
              <a:ea typeface="Helvetica Neue"/>
              <a:cs typeface="Helvetica Neue"/>
              <a:sym typeface="Helvetica Neue"/>
            </a:endParaRPr>
          </a:p>
        </p:txBody>
      </p:sp>
      <p:sp>
        <p:nvSpPr>
          <p:cNvPr id="185" name="Google Shape;185;p14"/>
          <p:cNvSpPr/>
          <p:nvPr/>
        </p:nvSpPr>
        <p:spPr>
          <a:xfrm>
            <a:off x="7410450" y="3334891"/>
            <a:ext cx="3968750" cy="921941"/>
          </a:xfrm>
          <a:prstGeom prst="roundRect">
            <a:avLst>
              <a:gd fmla="val 8265" name="adj"/>
            </a:avLst>
          </a:prstGeom>
          <a:solidFill>
            <a:srgbClr val="0F1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
          <p:cNvSpPr/>
          <p:nvPr/>
        </p:nvSpPr>
        <p:spPr>
          <a:xfrm>
            <a:off x="7550150" y="3474591"/>
            <a:ext cx="380003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66B"/>
              </a:buClr>
              <a:buSzPts val="1200"/>
              <a:buFont typeface="Helvetica Neue"/>
              <a:buNone/>
            </a:pPr>
            <a:r>
              <a:rPr b="1" i="0" lang="en-US" sz="1200" u="none" cap="none" strike="noStrike">
                <a:solidFill>
                  <a:srgbClr val="F2A66B"/>
                </a:solidFill>
                <a:latin typeface="Helvetica Neue"/>
                <a:ea typeface="Helvetica Neue"/>
                <a:cs typeface="Helvetica Neue"/>
                <a:sym typeface="Helvetica Neue"/>
              </a:rPr>
              <a:t>EDA DECISION</a:t>
            </a:r>
            <a:endParaRPr b="0" i="0" sz="1200" u="none" cap="none" strike="noStrike">
              <a:solidFill>
                <a:schemeClr val="dk1"/>
              </a:solidFill>
              <a:latin typeface="Helvetica Neue"/>
              <a:ea typeface="Helvetica Neue"/>
              <a:cs typeface="Helvetica Neue"/>
              <a:sym typeface="Helvetica Neue"/>
            </a:endParaRPr>
          </a:p>
        </p:txBody>
      </p:sp>
      <p:sp>
        <p:nvSpPr>
          <p:cNvPr id="187" name="Google Shape;187;p14"/>
          <p:cNvSpPr/>
          <p:nvPr/>
        </p:nvSpPr>
        <p:spPr>
          <a:xfrm>
            <a:off x="7550150" y="3687911"/>
            <a:ext cx="3800030" cy="4546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5F2EA"/>
              </a:buClr>
              <a:buSzPts val="1300"/>
              <a:buFont typeface="Helvetica Neue"/>
              <a:buNone/>
            </a:pPr>
            <a:r>
              <a:rPr b="0" i="0" lang="en-US" sz="1300" u="none" cap="none" strike="noStrike">
                <a:solidFill>
                  <a:srgbClr val="F5F2EA"/>
                </a:solidFill>
                <a:latin typeface="Helvetica Neue"/>
                <a:ea typeface="Helvetica Neue"/>
                <a:cs typeface="Helvetica Neue"/>
                <a:sym typeface="Helvetica Neue"/>
              </a:rPr>
              <a:t>Height bands plus a missing-height flag; cap at the 99th percentile.</a:t>
            </a:r>
            <a:endParaRPr b="0" i="0" sz="1300" u="none" cap="none" strike="noStrike">
              <a:solidFill>
                <a:schemeClr val="dk1"/>
              </a:solidFill>
              <a:latin typeface="Helvetica Neue"/>
              <a:ea typeface="Helvetica Neue"/>
              <a:cs typeface="Helvetica Neue"/>
              <a:sym typeface="Helvetica Neue"/>
            </a:endParaRPr>
          </a:p>
        </p:txBody>
      </p:sp>
      <p:sp>
        <p:nvSpPr>
          <p:cNvPr id="188" name="Google Shape;188;p14"/>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372"/>
              </a:buClr>
              <a:buSzPts val="1200"/>
              <a:buFont typeface="Helvetica Neue"/>
              <a:buNone/>
            </a:pPr>
            <a:r>
              <a:rPr b="0" i="0" lang="en-US" sz="1200" u="none" cap="none" strike="noStrike">
                <a:solidFill>
                  <a:srgbClr val="5A6372"/>
                </a:solidFill>
                <a:latin typeface="Helvetica Neue"/>
                <a:ea typeface="Helvetica Neue"/>
                <a:cs typeface="Helvetica Neue"/>
                <a:sym typeface="Helvetica Neue"/>
              </a:rPr>
              <a:t>Source: WILDLIFE_EDA notebook</a:t>
            </a:r>
            <a:endParaRPr b="0" i="0" sz="1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2EA"/>
        </a:solidFill>
      </p:bgPr>
    </p:bg>
    <p:spTree>
      <p:nvGrpSpPr>
        <p:cNvPr id="193" name="Shape 193"/>
        <p:cNvGrpSpPr/>
        <p:nvPr/>
      </p:nvGrpSpPr>
      <p:grpSpPr>
        <a:xfrm>
          <a:off x="0" y="0"/>
          <a:ext cx="0" cy="0"/>
          <a:chOff x="0" y="0"/>
          <a:chExt cx="0" cy="0"/>
        </a:xfrm>
      </p:grpSpPr>
      <p:sp>
        <p:nvSpPr>
          <p:cNvPr id="194" name="Google Shape;194;p15"/>
          <p:cNvSpPr/>
          <p:nvPr/>
        </p:nvSpPr>
        <p:spPr>
          <a:xfrm>
            <a:off x="812800" y="6096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892B"/>
              </a:buClr>
              <a:buSzPts val="1300"/>
              <a:buFont typeface="Helvetica Neue"/>
              <a:buNone/>
            </a:pPr>
            <a:r>
              <a:rPr b="1" i="0" lang="en-US" spc="100" sz="1300" u="none" cap="none" strike="noStrike">
                <a:solidFill>
                  <a:srgbClr val="E8892B"/>
                </a:solidFill>
                <a:latin typeface="Helvetica Neue"/>
                <a:ea typeface="Helvetica Neue"/>
                <a:cs typeface="Helvetica Neue"/>
                <a:sym typeface="Helvetica Neue"/>
              </a:rPr>
              <a:t>3 · EDA · 6 OF 6</a:t>
            </a:r>
            <a:endParaRPr b="0" i="0" sz="1300" u="none" cap="none" strike="noStrike">
              <a:solidFill>
                <a:schemeClr val="dk1"/>
              </a:solidFill>
              <a:latin typeface="Helvetica Neue"/>
              <a:ea typeface="Helvetica Neue"/>
              <a:cs typeface="Helvetica Neue"/>
              <a:sym typeface="Helvetica Neue"/>
            </a:endParaRPr>
          </a:p>
        </p:txBody>
      </p:sp>
      <p:sp>
        <p:nvSpPr>
          <p:cNvPr id="195" name="Google Shape;195;p15"/>
          <p:cNvSpPr txBox="1"/>
          <p:nvPr>
            <p:ph type="title"/>
          </p:nvPr>
        </p:nvSpPr>
        <p:spPr>
          <a:xfrm>
            <a:off x="812800" y="1069330"/>
            <a:ext cx="10883392" cy="3746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1B33"/>
              </a:buClr>
              <a:buSzPts val="2500"/>
              <a:buFont typeface="Source Serif 4"/>
              <a:buNone/>
            </a:pPr>
            <a:r>
              <a:rPr b="1" i="0" lang="en-US" sz="2500">
                <a:solidFill>
                  <a:srgbClr val="0F1B33"/>
                </a:solidFill>
                <a:latin typeface="Source Serif 4"/>
                <a:ea typeface="Source Serif 4"/>
                <a:cs typeface="Source Serif 4"/>
                <a:sym typeface="Source Serif 4"/>
              </a:rPr>
              <a:t>Large animals are far more damaging, and effects compound</a:t>
            </a:r>
            <a:endParaRPr sz="2500"/>
          </a:p>
        </p:txBody>
      </p:sp>
      <p:sp>
        <p:nvSpPr>
          <p:cNvPr id="196" name="Google Shape;196;p15"/>
          <p:cNvSpPr/>
          <p:nvPr/>
        </p:nvSpPr>
        <p:spPr>
          <a:xfrm>
            <a:off x="812800" y="1647180"/>
            <a:ext cx="6350000" cy="3289300"/>
          </a:xfrm>
          <a:prstGeom prst="roundRect">
            <a:avLst>
              <a:gd fmla="val 231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nimal size and flock size" id="197" name="Google Shape;197;p15"/>
          <p:cNvPicPr preferRelativeResize="0"/>
          <p:nvPr/>
        </p:nvPicPr>
        <p:blipFill rotWithShape="1">
          <a:blip r:embed="rId3">
            <a:alphaModFix/>
          </a:blip>
          <a:srcRect b="0" l="-182" r="-182" t="0"/>
          <a:stretch/>
        </p:blipFill>
        <p:spPr>
          <a:xfrm>
            <a:off x="819150" y="1653530"/>
            <a:ext cx="6337300" cy="3276600"/>
          </a:xfrm>
          <a:prstGeom prst="roundRect">
            <a:avLst>
              <a:gd fmla="val 2132" name="adj"/>
            </a:avLst>
          </a:prstGeom>
          <a:noFill/>
          <a:ln>
            <a:noFill/>
          </a:ln>
        </p:spPr>
      </p:pic>
      <p:sp>
        <p:nvSpPr>
          <p:cNvPr id="198" name="Google Shape;198;p15"/>
          <p:cNvSpPr/>
          <p:nvPr/>
        </p:nvSpPr>
        <p:spPr>
          <a:xfrm>
            <a:off x="815975" y="1650355"/>
            <a:ext cx="6343650" cy="3282950"/>
          </a:xfrm>
          <a:prstGeom prst="roundRect">
            <a:avLst>
              <a:gd fmla="val 2224" name="adj"/>
            </a:avLst>
          </a:prstGeom>
          <a:no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5"/>
          <p:cNvSpPr/>
          <p:nvPr/>
        </p:nvSpPr>
        <p:spPr>
          <a:xfrm>
            <a:off x="7416800" y="1647180"/>
            <a:ext cx="4081272" cy="50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892B"/>
              </a:buClr>
              <a:buSzPts val="3800"/>
              <a:buFont typeface="Source Serif 4"/>
              <a:buNone/>
            </a:pPr>
            <a:r>
              <a:rPr b="1" i="0" lang="en-US" sz="3800" u="none" cap="none" strike="noStrike">
                <a:solidFill>
                  <a:srgbClr val="E8892B"/>
                </a:solidFill>
                <a:latin typeface="Source Serif 4"/>
                <a:ea typeface="Source Serif 4"/>
                <a:cs typeface="Source Serif 4"/>
                <a:sym typeface="Source Serif 4"/>
              </a:rPr>
              <a:t>1.6% vs 29.3%</a:t>
            </a:r>
            <a:endParaRPr b="0" i="0" sz="3800" u="none" cap="none" strike="noStrike">
              <a:solidFill>
                <a:schemeClr val="dk1"/>
              </a:solidFill>
              <a:latin typeface="Helvetica Neue"/>
              <a:ea typeface="Helvetica Neue"/>
              <a:cs typeface="Helvetica Neue"/>
              <a:sym typeface="Helvetica Neue"/>
            </a:endParaRPr>
          </a:p>
        </p:txBody>
      </p:sp>
      <p:sp>
        <p:nvSpPr>
          <p:cNvPr id="200" name="Google Shape;200;p15"/>
          <p:cNvSpPr/>
          <p:nvPr/>
        </p:nvSpPr>
        <p:spPr>
          <a:xfrm>
            <a:off x="7416800" y="2269480"/>
            <a:ext cx="4081272" cy="719683"/>
          </a:xfrm>
          <a:prstGeom prst="rect">
            <a:avLst/>
          </a:prstGeom>
          <a:noFill/>
          <a:ln>
            <a:noFill/>
          </a:ln>
        </p:spPr>
        <p:txBody>
          <a:bodyPr anchorCtr="0" anchor="t" bIns="0" lIns="0" spcFirstLastPara="1" rIns="0" wrap="square" tIns="0">
            <a:noAutofit/>
          </a:bodyPr>
          <a:lstStyle/>
          <a:p>
            <a:pPr indent="0" lvl="0" marL="0" marR="0" rtl="0" algn="l">
              <a:lnSpc>
                <a:spcPct val="135037"/>
              </a:lnSpc>
              <a:spcBef>
                <a:spcPts val="0"/>
              </a:spcBef>
              <a:spcAft>
                <a:spcPts val="0"/>
              </a:spcAft>
              <a:buClr>
                <a:srgbClr val="0F1B33"/>
              </a:buClr>
              <a:buSzPts val="1350"/>
              <a:buFont typeface="Helvetica Neue"/>
              <a:buNone/>
            </a:pPr>
            <a:r>
              <a:rPr b="0" i="0" lang="en-US" sz="1350" u="none" cap="none" strike="noStrike">
                <a:solidFill>
                  <a:srgbClr val="0F1B33"/>
                </a:solidFill>
                <a:latin typeface="Helvetica Neue"/>
                <a:ea typeface="Helvetica Neue"/>
                <a:cs typeface="Helvetica Neue"/>
                <a:sym typeface="Helvetica Neue"/>
              </a:rPr>
              <a:t>A single small animal damages 1.6% of the time; any large animal 29.3% (about 18x). Bigger animals and bigger flocks together are worst.</a:t>
            </a:r>
            <a:endParaRPr b="0" i="0" sz="1350" u="none" cap="none" strike="noStrike">
              <a:solidFill>
                <a:schemeClr val="dk1"/>
              </a:solidFill>
              <a:latin typeface="Helvetica Neue"/>
              <a:ea typeface="Helvetica Neue"/>
              <a:cs typeface="Helvetica Neue"/>
              <a:sym typeface="Helvetica Neue"/>
            </a:endParaRPr>
          </a:p>
        </p:txBody>
      </p:sp>
      <p:sp>
        <p:nvSpPr>
          <p:cNvPr id="201" name="Google Shape;201;p15"/>
          <p:cNvSpPr/>
          <p:nvPr/>
        </p:nvSpPr>
        <p:spPr>
          <a:xfrm>
            <a:off x="7416800" y="3103463"/>
            <a:ext cx="3962400" cy="921941"/>
          </a:xfrm>
          <a:prstGeom prst="roundRect">
            <a:avLst>
              <a:gd fmla="val 8265" name="adj"/>
            </a:avLst>
          </a:prstGeom>
          <a:solidFill>
            <a:srgbClr val="0F1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5"/>
          <p:cNvSpPr/>
          <p:nvPr/>
        </p:nvSpPr>
        <p:spPr>
          <a:xfrm>
            <a:off x="7556500" y="3243163"/>
            <a:ext cx="379349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66B"/>
              </a:buClr>
              <a:buSzPts val="1200"/>
              <a:buFont typeface="Helvetica Neue"/>
              <a:buNone/>
            </a:pPr>
            <a:r>
              <a:rPr b="1" i="0" lang="en-US" sz="1200" u="none" cap="none" strike="noStrike">
                <a:solidFill>
                  <a:srgbClr val="F2A66B"/>
                </a:solidFill>
                <a:latin typeface="Helvetica Neue"/>
                <a:ea typeface="Helvetica Neue"/>
                <a:cs typeface="Helvetica Neue"/>
                <a:sym typeface="Helvetica Neue"/>
              </a:rPr>
              <a:t>EDA DECISION</a:t>
            </a:r>
            <a:endParaRPr b="0" i="0" sz="1200" u="none" cap="none" strike="noStrike">
              <a:solidFill>
                <a:schemeClr val="dk1"/>
              </a:solidFill>
              <a:latin typeface="Helvetica Neue"/>
              <a:ea typeface="Helvetica Neue"/>
              <a:cs typeface="Helvetica Neue"/>
              <a:sym typeface="Helvetica Neue"/>
            </a:endParaRPr>
          </a:p>
        </p:txBody>
      </p:sp>
      <p:sp>
        <p:nvSpPr>
          <p:cNvPr id="203" name="Google Shape;203;p15"/>
          <p:cNvSpPr/>
          <p:nvPr/>
        </p:nvSpPr>
        <p:spPr>
          <a:xfrm>
            <a:off x="7556500" y="3456484"/>
            <a:ext cx="3793490" cy="4546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5F2EA"/>
              </a:buClr>
              <a:buSzPts val="1300"/>
              <a:buFont typeface="Helvetica Neue"/>
              <a:buNone/>
            </a:pPr>
            <a:r>
              <a:rPr b="0" i="0" lang="en-US" sz="1300" u="none" cap="none" strike="noStrike">
                <a:solidFill>
                  <a:srgbClr val="F5F2EA"/>
                </a:solidFill>
                <a:latin typeface="Helvetica Neue"/>
                <a:ea typeface="Helvetica Neue"/>
                <a:cs typeface="Helvetica Neue"/>
                <a:sym typeface="Helvetica Neue"/>
              </a:rPr>
              <a:t>Core features. Test a size x number-struck interaction.</a:t>
            </a:r>
            <a:endParaRPr b="0" i="0" sz="1300" u="none" cap="none" strike="noStrike">
              <a:solidFill>
                <a:schemeClr val="dk1"/>
              </a:solidFill>
              <a:latin typeface="Helvetica Neue"/>
              <a:ea typeface="Helvetica Neue"/>
              <a:cs typeface="Helvetica Neue"/>
              <a:sym typeface="Helvetica Neue"/>
            </a:endParaRPr>
          </a:p>
        </p:txBody>
      </p:sp>
      <p:sp>
        <p:nvSpPr>
          <p:cNvPr id="204" name="Google Shape;204;p15"/>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372"/>
              </a:buClr>
              <a:buSzPts val="1200"/>
              <a:buFont typeface="Helvetica Neue"/>
              <a:buNone/>
            </a:pPr>
            <a:r>
              <a:rPr b="0" i="0" lang="en-US" sz="1200" u="none" cap="none" strike="noStrike">
                <a:solidFill>
                  <a:srgbClr val="5A6372"/>
                </a:solidFill>
                <a:latin typeface="Helvetica Neue"/>
                <a:ea typeface="Helvetica Neue"/>
                <a:cs typeface="Helvetica Neue"/>
                <a:sym typeface="Helvetica Neue"/>
              </a:rPr>
              <a:t>Source: WILDLIFE_EDA notebook</a:t>
            </a:r>
            <a:endParaRPr b="0" i="0" sz="1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2EA"/>
        </a:solidFill>
      </p:bgPr>
    </p:bg>
    <p:spTree>
      <p:nvGrpSpPr>
        <p:cNvPr id="209" name="Shape 209"/>
        <p:cNvGrpSpPr/>
        <p:nvPr/>
      </p:nvGrpSpPr>
      <p:grpSpPr>
        <a:xfrm>
          <a:off x="0" y="0"/>
          <a:ext cx="0" cy="0"/>
          <a:chOff x="0" y="0"/>
          <a:chExt cx="0" cy="0"/>
        </a:xfrm>
      </p:grpSpPr>
      <p:sp>
        <p:nvSpPr>
          <p:cNvPr id="210" name="Google Shape;210;p16"/>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892B"/>
              </a:buClr>
              <a:buSzPts val="1300"/>
              <a:buFont typeface="Helvetica Neue"/>
              <a:buNone/>
            </a:pPr>
            <a:r>
              <a:rPr b="1" i="0" lang="en-US" spc="100" sz="1300" u="none" cap="none" strike="noStrike">
                <a:solidFill>
                  <a:srgbClr val="E8892B"/>
                </a:solidFill>
                <a:latin typeface="Helvetica Neue"/>
                <a:ea typeface="Helvetica Neue"/>
                <a:cs typeface="Helvetica Neue"/>
                <a:sym typeface="Helvetica Neue"/>
              </a:rPr>
              <a:t>3 · EDA CONCLUSIONS</a:t>
            </a:r>
            <a:endParaRPr b="0" i="0" sz="1300" u="none" cap="none" strike="noStrike">
              <a:solidFill>
                <a:schemeClr val="dk1"/>
              </a:solidFill>
              <a:latin typeface="Helvetica Neue"/>
              <a:ea typeface="Helvetica Neue"/>
              <a:cs typeface="Helvetica Neue"/>
              <a:sym typeface="Helvetica Neue"/>
            </a:endParaRPr>
          </a:p>
        </p:txBody>
      </p:sp>
      <p:sp>
        <p:nvSpPr>
          <p:cNvPr id="211" name="Google Shape;211;p16"/>
          <p:cNvSpPr txBox="1"/>
          <p:nvPr>
            <p:ph type="title"/>
          </p:nvPr>
        </p:nvSpPr>
        <p:spPr>
          <a:xfrm>
            <a:off x="812800" y="1297930"/>
            <a:ext cx="10883392" cy="91946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1B33"/>
              </a:buClr>
              <a:buSzPts val="3200"/>
              <a:buFont typeface="Source Serif 4"/>
              <a:buNone/>
            </a:pPr>
            <a:r>
              <a:rPr b="1" i="0" lang="en-US" sz="3200">
                <a:solidFill>
                  <a:srgbClr val="0F1B33"/>
                </a:solidFill>
                <a:latin typeface="Source Serif 4"/>
                <a:ea typeface="Source Serif 4"/>
                <a:cs typeface="Source Serif 4"/>
                <a:sym typeface="Source Serif 4"/>
              </a:rPr>
              <a:t>Risk depends on what we hit, how high, and which phase of flight</a:t>
            </a:r>
            <a:endParaRPr sz="3200"/>
          </a:p>
        </p:txBody>
      </p:sp>
      <p:sp>
        <p:nvSpPr>
          <p:cNvPr id="212" name="Google Shape;212;p16"/>
          <p:cNvSpPr/>
          <p:nvPr/>
        </p:nvSpPr>
        <p:spPr>
          <a:xfrm>
            <a:off x="812800" y="2445990"/>
            <a:ext cx="9810750" cy="137656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33"/>
              </a:buClr>
              <a:buSzPts val="1900"/>
              <a:buFont typeface="Helvetica Neue"/>
              <a:buNone/>
            </a:pPr>
            <a:r>
              <a:rPr b="0" i="0" lang="en-US" sz="1900" u="none" cap="none" strike="noStrike">
                <a:solidFill>
                  <a:srgbClr val="0F1B33"/>
                </a:solidFill>
                <a:latin typeface="Helvetica Neue"/>
                <a:ea typeface="Helvetica Neue"/>
                <a:cs typeface="Helvetica Neue"/>
                <a:sym typeface="Helvetica Neue"/>
              </a:rPr>
              <a:t>Damage is rare (about 6% of strikes), and reporting grew while the damage rate fell, so we compare rates and split train and test by time. Risk is highest for large animals and big flocks, above 1,000 ft, and away from the runway. Deer, geese and vultures are the most damaging species, and wings and engines take most of the damage.</a:t>
            </a:r>
            <a:endParaRPr b="0" i="0" sz="1900" u="none" cap="none" strike="noStrike">
              <a:solidFill>
                <a:schemeClr val="dk1"/>
              </a:solidFill>
              <a:latin typeface="Helvetica Neue"/>
              <a:ea typeface="Helvetica Neue"/>
              <a:cs typeface="Helvetica Neue"/>
              <a:sym typeface="Helvetica Neue"/>
            </a:endParaRPr>
          </a:p>
        </p:txBody>
      </p:sp>
      <p:sp>
        <p:nvSpPr>
          <p:cNvPr id="213" name="Google Shape;213;p16"/>
          <p:cNvSpPr/>
          <p:nvPr/>
        </p:nvSpPr>
        <p:spPr>
          <a:xfrm>
            <a:off x="812800" y="4051151"/>
            <a:ext cx="10566400" cy="907355"/>
          </a:xfrm>
          <a:prstGeom prst="roundRect">
            <a:avLst>
              <a:gd fmla="val 11197" name="adj"/>
            </a:avLst>
          </a:prstGeom>
          <a:solidFill>
            <a:srgbClr val="0F1B33"/>
          </a:solidFill>
          <a:ln>
            <a:noFill/>
          </a:ln>
        </p:spPr>
        <p:txBody>
          <a:bodyPr anchorCtr="0" anchor="t" bIns="122625" lIns="198825" spcFirstLastPara="1" rIns="0" wrap="square" tIns="148025">
            <a:noAutofit/>
          </a:bodyPr>
          <a:lstStyle/>
          <a:p>
            <a:pPr indent="0" lvl="0" marL="0" marR="0" rtl="0" algn="l">
              <a:lnSpc>
                <a:spcPct val="135000"/>
              </a:lnSpc>
              <a:spcBef>
                <a:spcPts val="0"/>
              </a:spcBef>
              <a:spcAft>
                <a:spcPts val="0"/>
              </a:spcAft>
              <a:buClr>
                <a:srgbClr val="F2A66B"/>
              </a:buClr>
              <a:buSzPts val="1600"/>
              <a:buFont typeface="Helvetica Neue"/>
              <a:buNone/>
            </a:pPr>
            <a:r>
              <a:rPr b="1" i="0" lang="en-US" sz="1600" u="none" cap="none" strike="noStrike">
                <a:solidFill>
                  <a:srgbClr val="F2A66B"/>
                </a:solidFill>
                <a:latin typeface="Helvetica Neue"/>
                <a:ea typeface="Helvetica Neue"/>
                <a:cs typeface="Helvetica Neue"/>
                <a:sym typeface="Helvetica Neue"/>
              </a:rPr>
              <a:t>So what:</a:t>
            </a:r>
            <a:r>
              <a:rPr b="0" i="0" lang="en-US" sz="1600" u="none" cap="none" strike="noStrike">
                <a:solidFill>
                  <a:srgbClr val="F5F2EA"/>
                </a:solidFill>
                <a:latin typeface="Helvetica Neue"/>
                <a:ea typeface="Helvetica Neue"/>
                <a:cs typeface="Helvetica Neue"/>
                <a:sym typeface="Helvetica Neue"/>
              </a:rPr>
              <a:t> these findings choose our features and point to classification with imbalance handling. We used GPU-accelerated RAPIDS for repeated calculations on 357k rows.</a:t>
            </a:r>
            <a:endParaRPr b="0" i="0" sz="1600" u="none" cap="none" strike="noStrike">
              <a:solidFill>
                <a:schemeClr val="dk1"/>
              </a:solidFill>
              <a:latin typeface="Helvetica Neue"/>
              <a:ea typeface="Helvetica Neue"/>
              <a:cs typeface="Helvetica Neue"/>
              <a:sym typeface="Helvetica Neue"/>
            </a:endParaRPr>
          </a:p>
        </p:txBody>
      </p:sp>
      <p:sp>
        <p:nvSpPr>
          <p:cNvPr id="214" name="Google Shape;214;p16"/>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372"/>
              </a:buClr>
              <a:buSzPts val="1200"/>
              <a:buFont typeface="Helvetica Neue"/>
              <a:buNone/>
            </a:pPr>
            <a:r>
              <a:rPr b="0" i="0" lang="en-US" sz="1200" u="none" cap="none" strike="noStrike">
                <a:solidFill>
                  <a:srgbClr val="5A6372"/>
                </a:solidFill>
                <a:latin typeface="Helvetica Neue"/>
                <a:ea typeface="Helvetica Neue"/>
                <a:cs typeface="Helvetica Neue"/>
                <a:sym typeface="Helvetica Neue"/>
              </a:rPr>
              <a:t>EDA conclusions</a:t>
            </a:r>
            <a:endParaRPr b="0" i="0" sz="1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2EA"/>
        </a:solidFill>
      </p:bgPr>
    </p:bg>
    <p:spTree>
      <p:nvGrpSpPr>
        <p:cNvPr id="219" name="Shape 219"/>
        <p:cNvGrpSpPr/>
        <p:nvPr/>
      </p:nvGrpSpPr>
      <p:grpSpPr>
        <a:xfrm>
          <a:off x="0" y="0"/>
          <a:ext cx="0" cy="0"/>
          <a:chOff x="0" y="0"/>
          <a:chExt cx="0" cy="0"/>
        </a:xfrm>
      </p:grpSpPr>
      <p:sp>
        <p:nvSpPr>
          <p:cNvPr id="220" name="Google Shape;220;p17"/>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892B"/>
              </a:buClr>
              <a:buSzPts val="1300"/>
              <a:buFont typeface="Helvetica Neue"/>
              <a:buNone/>
            </a:pPr>
            <a:r>
              <a:rPr b="1" i="0" lang="en-US" spc="100" sz="1300" u="none" cap="none" strike="noStrike">
                <a:solidFill>
                  <a:srgbClr val="E8892B"/>
                </a:solidFill>
                <a:latin typeface="Helvetica Neue"/>
                <a:ea typeface="Helvetica Neue"/>
                <a:cs typeface="Helvetica Neue"/>
                <a:sym typeface="Helvetica Neue"/>
              </a:rPr>
              <a:t>4 · PRELIMINARY ML DIRECTION</a:t>
            </a:r>
            <a:endParaRPr b="0" i="0" sz="1300" u="none" cap="none" strike="noStrike">
              <a:solidFill>
                <a:schemeClr val="dk1"/>
              </a:solidFill>
              <a:latin typeface="Helvetica Neue"/>
              <a:ea typeface="Helvetica Neue"/>
              <a:cs typeface="Helvetica Neue"/>
              <a:sym typeface="Helvetica Neue"/>
            </a:endParaRPr>
          </a:p>
        </p:txBody>
      </p:sp>
      <p:sp>
        <p:nvSpPr>
          <p:cNvPr id="221" name="Google Shape;221;p17"/>
          <p:cNvSpPr txBox="1"/>
          <p:nvPr>
            <p:ph type="title"/>
          </p:nvPr>
        </p:nvSpPr>
        <p:spPr>
          <a:xfrm>
            <a:off x="812800" y="1272530"/>
            <a:ext cx="11379200"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1B33"/>
              </a:buClr>
              <a:buSzPts val="3000"/>
              <a:buFont typeface="Source Serif 4"/>
              <a:buNone/>
            </a:pPr>
            <a:r>
              <a:rPr b="1" i="0" lang="en-US" sz="3000">
                <a:solidFill>
                  <a:srgbClr val="0F1B33"/>
                </a:solidFill>
                <a:latin typeface="Source Serif 4"/>
                <a:ea typeface="Source Serif 4"/>
                <a:cs typeface="Source Serif 4"/>
                <a:sym typeface="Source Serif 4"/>
              </a:rPr>
              <a:t>Binary classification: will this strike damage the aircraft?</a:t>
            </a:r>
            <a:endParaRPr sz="3000"/>
          </a:p>
        </p:txBody>
      </p:sp>
      <p:sp>
        <p:nvSpPr>
          <p:cNvPr id="222" name="Google Shape;222;p17"/>
          <p:cNvSpPr/>
          <p:nvPr/>
        </p:nvSpPr>
        <p:spPr>
          <a:xfrm>
            <a:off x="815975" y="1923405"/>
            <a:ext cx="2520950" cy="1998861"/>
          </a:xfrm>
          <a:prstGeom prst="roundRect">
            <a:avLst>
              <a:gd fmla="val 4924" name="adj"/>
            </a:avLst>
          </a:prstGeom>
          <a:solidFill>
            <a:srgbClr val="FFFFFF"/>
          </a:solid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7"/>
          <p:cNvSpPr/>
          <p:nvPr/>
        </p:nvSpPr>
        <p:spPr>
          <a:xfrm>
            <a:off x="1047750" y="2155180"/>
            <a:ext cx="2119122"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7A8C"/>
              </a:buClr>
              <a:buSzPts val="1700"/>
              <a:buFont typeface="Helvetica Neue"/>
              <a:buNone/>
            </a:pPr>
            <a:r>
              <a:rPr b="1" i="0" lang="en-US" sz="1700" u="none" cap="none" strike="noStrike">
                <a:solidFill>
                  <a:srgbClr val="1F7A8C"/>
                </a:solidFill>
                <a:latin typeface="Helvetica Neue"/>
                <a:ea typeface="Helvetica Neue"/>
                <a:cs typeface="Helvetica Neue"/>
                <a:sym typeface="Helvetica Neue"/>
              </a:rPr>
              <a:t>Task</a:t>
            </a:r>
            <a:endParaRPr b="0" i="0" sz="1700" u="none" cap="none" strike="noStrike">
              <a:solidFill>
                <a:schemeClr val="dk1"/>
              </a:solidFill>
              <a:latin typeface="Helvetica Neue"/>
              <a:ea typeface="Helvetica Neue"/>
              <a:cs typeface="Helvetica Neue"/>
              <a:sym typeface="Helvetica Neue"/>
            </a:endParaRPr>
          </a:p>
        </p:txBody>
      </p:sp>
      <p:sp>
        <p:nvSpPr>
          <p:cNvPr id="224" name="Google Shape;224;p17"/>
          <p:cNvSpPr/>
          <p:nvPr/>
        </p:nvSpPr>
        <p:spPr>
          <a:xfrm>
            <a:off x="1047750" y="2490440"/>
            <a:ext cx="2119122" cy="985441"/>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F1B33"/>
              </a:buClr>
              <a:buSzPts val="1400"/>
              <a:buFont typeface="Helvetica Neue"/>
              <a:buNone/>
            </a:pPr>
            <a:r>
              <a:rPr b="0" i="0" lang="en-US" sz="1400" u="none" cap="none" strike="noStrike">
                <a:solidFill>
                  <a:srgbClr val="0F1B33"/>
                </a:solidFill>
                <a:latin typeface="Helvetica Neue"/>
                <a:ea typeface="Helvetica Neue"/>
                <a:cs typeface="Helvetica Neue"/>
                <a:sym typeface="Helvetica Neue"/>
              </a:rPr>
              <a:t>Predict damaging vs non-damaging using only information known at strike time.</a:t>
            </a:r>
            <a:endParaRPr b="0" i="0" sz="1400" u="none" cap="none" strike="noStrike">
              <a:solidFill>
                <a:schemeClr val="dk1"/>
              </a:solidFill>
              <a:latin typeface="Helvetica Neue"/>
              <a:ea typeface="Helvetica Neue"/>
              <a:cs typeface="Helvetica Neue"/>
              <a:sym typeface="Helvetica Neue"/>
            </a:endParaRPr>
          </a:p>
        </p:txBody>
      </p:sp>
      <p:sp>
        <p:nvSpPr>
          <p:cNvPr id="225" name="Google Shape;225;p17"/>
          <p:cNvSpPr/>
          <p:nvPr/>
        </p:nvSpPr>
        <p:spPr>
          <a:xfrm>
            <a:off x="3495675" y="1923405"/>
            <a:ext cx="2520950" cy="1998861"/>
          </a:xfrm>
          <a:prstGeom prst="roundRect">
            <a:avLst>
              <a:gd fmla="val 4924" name="adj"/>
            </a:avLst>
          </a:prstGeom>
          <a:solidFill>
            <a:srgbClr val="FFFFFF"/>
          </a:solid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7"/>
          <p:cNvSpPr/>
          <p:nvPr/>
        </p:nvSpPr>
        <p:spPr>
          <a:xfrm>
            <a:off x="3727450" y="2155180"/>
            <a:ext cx="2119122"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7A8C"/>
              </a:buClr>
              <a:buSzPts val="1700"/>
              <a:buFont typeface="Helvetica Neue"/>
              <a:buNone/>
            </a:pPr>
            <a:r>
              <a:rPr b="1" i="0" lang="en-US" sz="1700" u="none" cap="none" strike="noStrike">
                <a:solidFill>
                  <a:srgbClr val="1F7A8C"/>
                </a:solidFill>
                <a:latin typeface="Helvetica Neue"/>
                <a:ea typeface="Helvetica Neue"/>
                <a:cs typeface="Helvetica Neue"/>
                <a:sym typeface="Helvetica Neue"/>
              </a:rPr>
              <a:t>Because of EDA</a:t>
            </a:r>
            <a:endParaRPr b="0" i="0" sz="1700" u="none" cap="none" strike="noStrike">
              <a:solidFill>
                <a:schemeClr val="dk1"/>
              </a:solidFill>
              <a:latin typeface="Helvetica Neue"/>
              <a:ea typeface="Helvetica Neue"/>
              <a:cs typeface="Helvetica Neue"/>
              <a:sym typeface="Helvetica Neue"/>
            </a:endParaRPr>
          </a:p>
        </p:txBody>
      </p:sp>
      <p:sp>
        <p:nvSpPr>
          <p:cNvPr id="227" name="Google Shape;227;p17"/>
          <p:cNvSpPr/>
          <p:nvPr/>
        </p:nvSpPr>
        <p:spPr>
          <a:xfrm>
            <a:off x="3727450" y="2490440"/>
            <a:ext cx="2119122" cy="1225451"/>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F1B33"/>
              </a:buClr>
              <a:buSzPts val="1400"/>
              <a:buFont typeface="Helvetica Neue"/>
              <a:buNone/>
            </a:pPr>
            <a:r>
              <a:rPr b="0" i="0" lang="en-US" sz="1400" u="none" cap="none" strike="noStrike">
                <a:solidFill>
                  <a:srgbClr val="0F1B33"/>
                </a:solidFill>
                <a:latin typeface="Helvetica Neue"/>
                <a:ea typeface="Helvetica Neue"/>
                <a:cs typeface="Helvetica Neue"/>
                <a:sym typeface="Helvetica Neue"/>
              </a:rPr>
              <a:t>Rare outcome (6.2%), strong effects of animal size, species, phase, altitude and damaged part, and drift over time.</a:t>
            </a:r>
            <a:endParaRPr b="0" i="0" sz="1400" u="none" cap="none" strike="noStrike">
              <a:solidFill>
                <a:schemeClr val="dk1"/>
              </a:solidFill>
              <a:latin typeface="Helvetica Neue"/>
              <a:ea typeface="Helvetica Neue"/>
              <a:cs typeface="Helvetica Neue"/>
              <a:sym typeface="Helvetica Neue"/>
            </a:endParaRPr>
          </a:p>
        </p:txBody>
      </p:sp>
      <p:sp>
        <p:nvSpPr>
          <p:cNvPr id="228" name="Google Shape;228;p17"/>
          <p:cNvSpPr/>
          <p:nvPr/>
        </p:nvSpPr>
        <p:spPr>
          <a:xfrm>
            <a:off x="6175375" y="1923405"/>
            <a:ext cx="2520950" cy="1998861"/>
          </a:xfrm>
          <a:prstGeom prst="roundRect">
            <a:avLst>
              <a:gd fmla="val 4924" name="adj"/>
            </a:avLst>
          </a:prstGeom>
          <a:solidFill>
            <a:srgbClr val="FFFFFF"/>
          </a:solid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7"/>
          <p:cNvSpPr/>
          <p:nvPr/>
        </p:nvSpPr>
        <p:spPr>
          <a:xfrm>
            <a:off x="6407150" y="2155180"/>
            <a:ext cx="2119122"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7A8C"/>
              </a:buClr>
              <a:buSzPts val="1700"/>
              <a:buFont typeface="Helvetica Neue"/>
              <a:buNone/>
            </a:pPr>
            <a:r>
              <a:rPr b="1" i="0" lang="en-US" sz="1700" u="none" cap="none" strike="noStrike">
                <a:solidFill>
                  <a:srgbClr val="1F7A8C"/>
                </a:solidFill>
                <a:latin typeface="Helvetica Neue"/>
                <a:ea typeface="Helvetica Neue"/>
                <a:cs typeface="Helvetica Neue"/>
                <a:sym typeface="Helvetica Neue"/>
              </a:rPr>
              <a:t>Imbalance plan</a:t>
            </a:r>
            <a:endParaRPr b="0" i="0" sz="1700" u="none" cap="none" strike="noStrike">
              <a:solidFill>
                <a:schemeClr val="dk1"/>
              </a:solidFill>
              <a:latin typeface="Helvetica Neue"/>
              <a:ea typeface="Helvetica Neue"/>
              <a:cs typeface="Helvetica Neue"/>
              <a:sym typeface="Helvetica Neue"/>
            </a:endParaRPr>
          </a:p>
        </p:txBody>
      </p:sp>
      <p:sp>
        <p:nvSpPr>
          <p:cNvPr id="230" name="Google Shape;230;p17"/>
          <p:cNvSpPr/>
          <p:nvPr/>
        </p:nvSpPr>
        <p:spPr>
          <a:xfrm>
            <a:off x="6407150" y="2490440"/>
            <a:ext cx="2119122" cy="985441"/>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F1B33"/>
              </a:buClr>
              <a:buSzPts val="1400"/>
              <a:buFont typeface="Helvetica Neue"/>
              <a:buNone/>
            </a:pPr>
            <a:r>
              <a:rPr b="0" i="0" lang="en-US" sz="1400" u="none" cap="none" strike="noStrike">
                <a:solidFill>
                  <a:srgbClr val="0F1B33"/>
                </a:solidFill>
                <a:latin typeface="Helvetica Neue"/>
                <a:ea typeface="Helvetica Neue"/>
                <a:cs typeface="Helvetica Neue"/>
                <a:sym typeface="Helvetica Neue"/>
              </a:rPr>
              <a:t>Class weights or SMOTE on training data only. Metrics: PR-AUC, recall, F1.</a:t>
            </a:r>
            <a:endParaRPr b="0" i="0" sz="1400" u="none" cap="none" strike="noStrike">
              <a:solidFill>
                <a:schemeClr val="dk1"/>
              </a:solidFill>
              <a:latin typeface="Helvetica Neue"/>
              <a:ea typeface="Helvetica Neue"/>
              <a:cs typeface="Helvetica Neue"/>
              <a:sym typeface="Helvetica Neue"/>
            </a:endParaRPr>
          </a:p>
        </p:txBody>
      </p:sp>
      <p:sp>
        <p:nvSpPr>
          <p:cNvPr id="231" name="Google Shape;231;p17"/>
          <p:cNvSpPr/>
          <p:nvPr/>
        </p:nvSpPr>
        <p:spPr>
          <a:xfrm>
            <a:off x="8855075" y="1923405"/>
            <a:ext cx="2520950" cy="1998861"/>
          </a:xfrm>
          <a:prstGeom prst="roundRect">
            <a:avLst>
              <a:gd fmla="val 4924" name="adj"/>
            </a:avLst>
          </a:prstGeom>
          <a:solidFill>
            <a:srgbClr val="FFFFFF"/>
          </a:solid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7"/>
          <p:cNvSpPr/>
          <p:nvPr/>
        </p:nvSpPr>
        <p:spPr>
          <a:xfrm>
            <a:off x="9086850" y="2155180"/>
            <a:ext cx="2119122"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7A8C"/>
              </a:buClr>
              <a:buSzPts val="1700"/>
              <a:buFont typeface="Helvetica Neue"/>
              <a:buNone/>
            </a:pPr>
            <a:r>
              <a:rPr b="1" i="0" lang="en-US" sz="1700" u="none" cap="none" strike="noStrike">
                <a:solidFill>
                  <a:srgbClr val="1F7A8C"/>
                </a:solidFill>
                <a:latin typeface="Helvetica Neue"/>
                <a:ea typeface="Helvetica Neue"/>
                <a:cs typeface="Helvetica Neue"/>
                <a:sym typeface="Helvetica Neue"/>
              </a:rPr>
              <a:t>Models</a:t>
            </a:r>
            <a:endParaRPr b="0" i="0" sz="1700" u="none" cap="none" strike="noStrike">
              <a:solidFill>
                <a:schemeClr val="dk1"/>
              </a:solidFill>
              <a:latin typeface="Helvetica Neue"/>
              <a:ea typeface="Helvetica Neue"/>
              <a:cs typeface="Helvetica Neue"/>
              <a:sym typeface="Helvetica Neue"/>
            </a:endParaRPr>
          </a:p>
        </p:txBody>
      </p:sp>
      <p:sp>
        <p:nvSpPr>
          <p:cNvPr id="233" name="Google Shape;233;p17"/>
          <p:cNvSpPr/>
          <p:nvPr/>
        </p:nvSpPr>
        <p:spPr>
          <a:xfrm>
            <a:off x="9086850" y="2490440"/>
            <a:ext cx="2119122" cy="985441"/>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F1B33"/>
              </a:buClr>
              <a:buSzPts val="1400"/>
              <a:buFont typeface="Helvetica Neue"/>
              <a:buNone/>
            </a:pPr>
            <a:r>
              <a:rPr b="0" i="0" lang="en-US" sz="1400" u="none" cap="none" strike="noStrike">
                <a:solidFill>
                  <a:srgbClr val="0F1B33"/>
                </a:solidFill>
                <a:latin typeface="Helvetica Neue"/>
                <a:ea typeface="Helvetica Neue"/>
                <a:cs typeface="Helvetica Neue"/>
                <a:sym typeface="Helvetica Neue"/>
              </a:rPr>
              <a:t>Logistic regression baseline, then random forest and gradient boosting.</a:t>
            </a:r>
            <a:endParaRPr b="0" i="0" sz="1400" u="none" cap="none" strike="noStrike">
              <a:solidFill>
                <a:schemeClr val="dk1"/>
              </a:solidFill>
              <a:latin typeface="Helvetica Neue"/>
              <a:ea typeface="Helvetica Neue"/>
              <a:cs typeface="Helvetica Neue"/>
              <a:sym typeface="Helvetica Neue"/>
            </a:endParaRPr>
          </a:p>
        </p:txBody>
      </p:sp>
      <p:sp>
        <p:nvSpPr>
          <p:cNvPr id="234" name="Google Shape;234;p17"/>
          <p:cNvSpPr/>
          <p:nvPr/>
        </p:nvSpPr>
        <p:spPr>
          <a:xfrm>
            <a:off x="812800" y="4154041"/>
            <a:ext cx="10883392"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33"/>
              </a:buClr>
              <a:buSzPts val="1500"/>
              <a:buFont typeface="Helvetica Neue"/>
              <a:buNone/>
            </a:pPr>
            <a:r>
              <a:rPr b="0" i="0" lang="en-US" sz="1500" u="none" cap="none" strike="noStrike">
                <a:solidFill>
                  <a:srgbClr val="0F1B33"/>
                </a:solidFill>
                <a:latin typeface="Helvetica Neue"/>
                <a:ea typeface="Helvetica Neue"/>
                <a:cs typeface="Helvetica Neue"/>
                <a:sym typeface="Helvetica Neue"/>
              </a:rPr>
              <a:t>Time-based validation: train before 2022, test 2022 onward.</a:t>
            </a:r>
            <a:endParaRPr b="0" i="0" sz="1500" u="none" cap="none" strike="noStrike">
              <a:solidFill>
                <a:schemeClr val="dk1"/>
              </a:solidFill>
              <a:latin typeface="Helvetica Neue"/>
              <a:ea typeface="Helvetica Neue"/>
              <a:cs typeface="Helvetica Neue"/>
              <a:sym typeface="Helvetica Neue"/>
            </a:endParaRPr>
          </a:p>
        </p:txBody>
      </p:sp>
      <p:sp>
        <p:nvSpPr>
          <p:cNvPr id="235" name="Google Shape;235;p17"/>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372"/>
              </a:buClr>
              <a:buSzPts val="1200"/>
              <a:buFont typeface="Helvetica Neue"/>
              <a:buNone/>
            </a:pPr>
            <a:r>
              <a:rPr b="0" i="0" lang="en-US" sz="1200" u="none" cap="none" strike="noStrike">
                <a:solidFill>
                  <a:srgbClr val="5A6372"/>
                </a:solidFill>
                <a:latin typeface="Helvetica Neue"/>
                <a:ea typeface="Helvetica Neue"/>
                <a:cs typeface="Helvetica Neue"/>
                <a:sym typeface="Helvetica Neue"/>
              </a:rPr>
              <a:t>ML direction</a:t>
            </a:r>
            <a:endParaRPr b="0" i="0" sz="1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33"/>
        </a:solidFill>
      </p:bgPr>
    </p:bg>
    <p:spTree>
      <p:nvGrpSpPr>
        <p:cNvPr id="240" name="Shape 240"/>
        <p:cNvGrpSpPr/>
        <p:nvPr/>
      </p:nvGrpSpPr>
      <p:grpSpPr>
        <a:xfrm>
          <a:off x="0" y="0"/>
          <a:ext cx="0" cy="0"/>
          <a:chOff x="0" y="0"/>
          <a:chExt cx="0" cy="0"/>
        </a:xfrm>
      </p:grpSpPr>
      <p:sp>
        <p:nvSpPr>
          <p:cNvPr id="241" name="Google Shape;241;p18"/>
          <p:cNvSpPr/>
          <p:nvPr/>
        </p:nvSpPr>
        <p:spPr>
          <a:xfrm>
            <a:off x="812800" y="277242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892B"/>
              </a:buClr>
              <a:buSzPts val="1300"/>
              <a:buFont typeface="Helvetica Neue"/>
              <a:buNone/>
            </a:pPr>
            <a:r>
              <a:rPr b="1" i="0" lang="en-US" spc="100" sz="1300" u="none" cap="none" strike="noStrike">
                <a:solidFill>
                  <a:srgbClr val="E8892B"/>
                </a:solidFill>
                <a:latin typeface="Helvetica Neue"/>
                <a:ea typeface="Helvetica Neue"/>
                <a:cs typeface="Helvetica Neue"/>
                <a:sym typeface="Helvetica Neue"/>
              </a:rPr>
              <a:t>4 · DASHBOARD</a:t>
            </a:r>
            <a:endParaRPr b="0" i="0" sz="1300" u="none" cap="none" strike="noStrike">
              <a:solidFill>
                <a:schemeClr val="dk1"/>
              </a:solidFill>
              <a:latin typeface="Helvetica Neue"/>
              <a:ea typeface="Helvetica Neue"/>
              <a:cs typeface="Helvetica Neue"/>
              <a:sym typeface="Helvetica Neue"/>
            </a:endParaRPr>
          </a:p>
        </p:txBody>
      </p:sp>
      <p:sp>
        <p:nvSpPr>
          <p:cNvPr id="242" name="Google Shape;242;p18"/>
          <p:cNvSpPr txBox="1"/>
          <p:nvPr>
            <p:ph type="title"/>
          </p:nvPr>
        </p:nvSpPr>
        <p:spPr>
          <a:xfrm>
            <a:off x="812800" y="3232150"/>
            <a:ext cx="10883392" cy="87883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5F2EA"/>
              </a:buClr>
              <a:buSzPts val="6400"/>
              <a:buFont typeface="Source Serif 4"/>
              <a:buNone/>
            </a:pPr>
            <a:r>
              <a:rPr b="1" i="0" lang="en-US" sz="6400">
                <a:solidFill>
                  <a:srgbClr val="F5F2EA"/>
                </a:solidFill>
                <a:latin typeface="Source Serif 4"/>
                <a:ea typeface="Source Serif 4"/>
                <a:cs typeface="Source Serif 4"/>
                <a:sym typeface="Source Serif 4"/>
              </a:rPr>
              <a:t>Interactive Dashboard</a:t>
            </a:r>
            <a:endParaRPr sz="6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9"/>
          <p:cNvSpPr/>
          <p:nvPr/>
        </p:nvSpPr>
        <p:spPr>
          <a:xfrm>
            <a:off x="812800" y="6096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892B"/>
              </a:buClr>
              <a:buSzPts val="1300"/>
              <a:buFont typeface="Helvetica Neue"/>
              <a:buNone/>
            </a:pPr>
            <a:r>
              <a:rPr b="1" i="0" lang="en-US" spc="100" sz="1300" u="none" cap="none" strike="noStrike">
                <a:solidFill>
                  <a:srgbClr val="E8892B"/>
                </a:solidFill>
                <a:latin typeface="Helvetica Neue"/>
                <a:ea typeface="Helvetica Neue"/>
                <a:cs typeface="Helvetica Neue"/>
                <a:sym typeface="Helvetica Neue"/>
              </a:rPr>
              <a:t>5 · EVIDENCE OF WORK</a:t>
            </a:r>
            <a:endParaRPr b="0" i="0" sz="1300" u="none" cap="none" strike="noStrike">
              <a:solidFill>
                <a:schemeClr val="dk1"/>
              </a:solidFill>
              <a:latin typeface="Helvetica Neue"/>
              <a:ea typeface="Helvetica Neue"/>
              <a:cs typeface="Helvetica Neue"/>
              <a:sym typeface="Helvetica Neue"/>
            </a:endParaRPr>
          </a:p>
        </p:txBody>
      </p:sp>
      <p:sp>
        <p:nvSpPr>
          <p:cNvPr id="248" name="Google Shape;248;p19"/>
          <p:cNvSpPr txBox="1"/>
          <p:nvPr>
            <p:ph type="title"/>
          </p:nvPr>
        </p:nvSpPr>
        <p:spPr>
          <a:xfrm>
            <a:off x="812800" y="1069330"/>
            <a:ext cx="10883392" cy="37465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1B33"/>
              </a:buClr>
              <a:buSzPts val="2500"/>
              <a:buFont typeface="Source Serif 4"/>
              <a:buNone/>
            </a:pPr>
            <a:r>
              <a:rPr b="1" i="0" lang="en-US" sz="2500">
                <a:solidFill>
                  <a:srgbClr val="0F1B33"/>
                </a:solidFill>
                <a:latin typeface="Source Serif 4"/>
                <a:ea typeface="Source Serif 4"/>
                <a:cs typeface="Source Serif 4"/>
                <a:sym typeface="Source Serif 4"/>
              </a:rPr>
              <a:t>Evidence of work: all four of us contributed on GitHub</a:t>
            </a:r>
            <a:endParaRPr sz="2500"/>
          </a:p>
        </p:txBody>
      </p:sp>
      <p:sp>
        <p:nvSpPr>
          <p:cNvPr id="249" name="Google Shape;249;p19"/>
          <p:cNvSpPr/>
          <p:nvPr/>
        </p:nvSpPr>
        <p:spPr>
          <a:xfrm>
            <a:off x="812800" y="1647180"/>
            <a:ext cx="4829526" cy="4312700"/>
          </a:xfrm>
          <a:prstGeom prst="roundRect">
            <a:avLst>
              <a:gd fmla="val 231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creenshot_2026-10-07_at_6_02_37_PM.png" id="250" name="Google Shape;250;p19"/>
          <p:cNvPicPr preferRelativeResize="0"/>
          <p:nvPr/>
        </p:nvPicPr>
        <p:blipFill rotWithShape="1">
          <a:blip r:embed="rId3">
            <a:alphaModFix/>
          </a:blip>
          <a:srcRect b="0" l="0" r="0" t="0"/>
          <a:stretch/>
        </p:blipFill>
        <p:spPr>
          <a:xfrm>
            <a:off x="819150" y="1653530"/>
            <a:ext cx="4816826" cy="4300000"/>
          </a:xfrm>
          <a:prstGeom prst="rect">
            <a:avLst/>
          </a:prstGeom>
          <a:noFill/>
          <a:ln>
            <a:noFill/>
          </a:ln>
        </p:spPr>
      </p:pic>
      <p:sp>
        <p:nvSpPr>
          <p:cNvPr id="251" name="Google Shape;251;p19"/>
          <p:cNvSpPr/>
          <p:nvPr/>
        </p:nvSpPr>
        <p:spPr>
          <a:xfrm>
            <a:off x="815975" y="1650355"/>
            <a:ext cx="4823176" cy="4306350"/>
          </a:xfrm>
          <a:prstGeom prst="roundRect">
            <a:avLst>
              <a:gd fmla="val 2224" name="adj"/>
            </a:avLst>
          </a:prstGeom>
          <a:noFill/>
          <a:ln cap="flat" cmpd="sng" w="9525">
            <a:solidFill>
              <a:srgbClr val="DCD6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9"/>
          <p:cNvSpPr/>
          <p:nvPr/>
        </p:nvSpPr>
        <p:spPr>
          <a:xfrm>
            <a:off x="6129626" y="1647180"/>
            <a:ext cx="5566566" cy="50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892B"/>
              </a:buClr>
              <a:buSzPts val="3800"/>
              <a:buFont typeface="Source Serif 4"/>
              <a:buNone/>
            </a:pPr>
            <a:r>
              <a:rPr b="1" i="0" lang="en-US" sz="3800" u="none" cap="none" strike="noStrike">
                <a:solidFill>
                  <a:srgbClr val="E8892B"/>
                </a:solidFill>
                <a:latin typeface="Source Serif 4"/>
                <a:ea typeface="Source Serif 4"/>
                <a:cs typeface="Source Serif 4"/>
                <a:sym typeface="Source Serif 4"/>
              </a:rPr>
              <a:t>4 of 4</a:t>
            </a:r>
            <a:endParaRPr b="0" i="0" sz="3800" u="none" cap="none" strike="noStrike">
              <a:solidFill>
                <a:schemeClr val="dk1"/>
              </a:solidFill>
              <a:latin typeface="Helvetica Neue"/>
              <a:ea typeface="Helvetica Neue"/>
              <a:cs typeface="Helvetica Neue"/>
              <a:sym typeface="Helvetica Neue"/>
            </a:endParaRPr>
          </a:p>
        </p:txBody>
      </p:sp>
      <p:sp>
        <p:nvSpPr>
          <p:cNvPr id="253" name="Google Shape;253;p19"/>
          <p:cNvSpPr/>
          <p:nvPr/>
        </p:nvSpPr>
        <p:spPr>
          <a:xfrm>
            <a:off x="6129626" y="2269480"/>
            <a:ext cx="5566566" cy="900000"/>
          </a:xfrm>
          <a:prstGeom prst="rect">
            <a:avLst/>
          </a:prstGeom>
          <a:noFill/>
          <a:ln>
            <a:noFill/>
          </a:ln>
        </p:spPr>
        <p:txBody>
          <a:bodyPr anchorCtr="0" anchor="t" bIns="0" lIns="0" spcFirstLastPara="1" rIns="0" wrap="square" tIns="0">
            <a:noAutofit/>
          </a:bodyPr>
          <a:lstStyle/>
          <a:p>
            <a:pPr indent="0" lvl="0" marL="0" marR="0" rtl="0" algn="l">
              <a:lnSpc>
                <a:spcPct val="135037"/>
              </a:lnSpc>
              <a:spcBef>
                <a:spcPts val="0"/>
              </a:spcBef>
              <a:spcAft>
                <a:spcPts val="0"/>
              </a:spcAft>
              <a:buClr>
                <a:srgbClr val="0F1B33"/>
              </a:buClr>
              <a:buSzPts val="1350"/>
              <a:buFont typeface="Helvetica Neue"/>
              <a:buNone/>
            </a:pPr>
            <a:r>
              <a:rPr b="0" i="0" lang="en-US" sz="1350" u="none" cap="none" strike="noStrike">
                <a:solidFill>
                  <a:srgbClr val="0F1B33"/>
                </a:solidFill>
                <a:latin typeface="Helvetica Neue"/>
                <a:ea typeface="Helvetica Neue"/>
                <a:cs typeface="Helvetica Neue"/>
                <a:sym typeface="Helvetica Neue"/>
              </a:rPr>
              <a:t>Every team member has commits in our shared project repository</a:t>
            </a:r>
            <a:r>
              <a:rPr lang="en-US" sz="1350">
                <a:solidFill>
                  <a:srgbClr val="0F1B33"/>
                </a:solidFill>
                <a:latin typeface="Helvetica Neue"/>
                <a:ea typeface="Helvetica Neue"/>
                <a:cs typeface="Helvetica Neue"/>
                <a:sym typeface="Helvetica Neue"/>
              </a:rPr>
              <a:t>.</a:t>
            </a:r>
            <a:endParaRPr b="0" i="0" sz="1350" u="none" cap="none" strike="noStrike">
              <a:solidFill>
                <a:schemeClr val="dk1"/>
              </a:solidFill>
              <a:latin typeface="Helvetica Neue"/>
              <a:ea typeface="Helvetica Neue"/>
              <a:cs typeface="Helvetica Neue"/>
              <a:sym typeface="Helvetica Neue"/>
            </a:endParaRPr>
          </a:p>
        </p:txBody>
      </p:sp>
      <p:sp>
        <p:nvSpPr>
          <p:cNvPr id="254" name="Google Shape;254;p19"/>
          <p:cNvSpPr/>
          <p:nvPr/>
        </p:nvSpPr>
        <p:spPr>
          <a:xfrm>
            <a:off x="6129626" y="3350000"/>
            <a:ext cx="5566566" cy="921941"/>
          </a:xfrm>
          <a:prstGeom prst="roundRect">
            <a:avLst>
              <a:gd fmla="val 8265" name="adj"/>
            </a:avLst>
          </a:prstGeom>
          <a:solidFill>
            <a:srgbClr val="0F1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9"/>
          <p:cNvSpPr/>
          <p:nvPr/>
        </p:nvSpPr>
        <p:spPr>
          <a:xfrm>
            <a:off x="6269326" y="3489700"/>
            <a:ext cx="528716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66B"/>
              </a:buClr>
              <a:buSzPts val="1200"/>
              <a:buFont typeface="Helvetica Neue"/>
              <a:buNone/>
            </a:pPr>
            <a:r>
              <a:rPr b="1" i="0" lang="en-US" sz="1200" u="none" cap="none" strike="noStrike">
                <a:solidFill>
                  <a:srgbClr val="F2A66B"/>
                </a:solidFill>
                <a:latin typeface="Helvetica Neue"/>
                <a:ea typeface="Helvetica Neue"/>
                <a:cs typeface="Helvetica Neue"/>
                <a:sym typeface="Helvetica Neue"/>
              </a:rPr>
              <a:t>TEAMWORK</a:t>
            </a:r>
            <a:endParaRPr b="0" i="0" sz="1200" u="none" cap="none" strike="noStrike">
              <a:solidFill>
                <a:schemeClr val="dk1"/>
              </a:solidFill>
              <a:latin typeface="Helvetica Neue"/>
              <a:ea typeface="Helvetica Neue"/>
              <a:cs typeface="Helvetica Neue"/>
              <a:sym typeface="Helvetica Neue"/>
            </a:endParaRPr>
          </a:p>
        </p:txBody>
      </p:sp>
      <p:sp>
        <p:nvSpPr>
          <p:cNvPr id="256" name="Google Shape;256;p19"/>
          <p:cNvSpPr/>
          <p:nvPr/>
        </p:nvSpPr>
        <p:spPr>
          <a:xfrm>
            <a:off x="6269326" y="3702000"/>
            <a:ext cx="5287166" cy="4546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5F2EA"/>
              </a:buClr>
              <a:buSzPts val="1300"/>
              <a:buFont typeface="Helvetica Neue"/>
              <a:buNone/>
            </a:pPr>
            <a:r>
              <a:rPr b="0" i="0" lang="en-US" sz="1300" u="none" cap="none" strike="noStrike">
                <a:solidFill>
                  <a:srgbClr val="F5F2EA"/>
                </a:solidFill>
                <a:latin typeface="Helvetica Neue"/>
                <a:ea typeface="Helvetica Neue"/>
                <a:cs typeface="Helvetica Neue"/>
                <a:sym typeface="Helvetica Neue"/>
              </a:rPr>
              <a:t>Shubhi 2 commits; Sneha, Shaili and Sanjana 1 each.</a:t>
            </a:r>
            <a:endParaRPr b="0" i="0" sz="1300" u="none" cap="none" strike="noStrike">
              <a:solidFill>
                <a:schemeClr val="dk1"/>
              </a:solidFill>
              <a:latin typeface="Helvetica Neue"/>
              <a:ea typeface="Helvetica Neue"/>
              <a:cs typeface="Helvetica Neue"/>
              <a:sym typeface="Helvetica Neue"/>
            </a:endParaRPr>
          </a:p>
        </p:txBody>
      </p:sp>
      <p:sp>
        <p:nvSpPr>
          <p:cNvPr id="257" name="Google Shape;257;p19"/>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372"/>
              </a:buClr>
              <a:buSzPts val="1200"/>
              <a:buFont typeface="Helvetica Neue"/>
              <a:buNone/>
            </a:pPr>
            <a:r>
              <a:rPr b="0" i="0" lang="en-US" sz="1200" u="none" cap="none" strike="noStrike">
                <a:solidFill>
                  <a:srgbClr val="5A6372"/>
                </a:solidFill>
                <a:latin typeface="Helvetica Neue"/>
                <a:ea typeface="Helvetica Neue"/>
                <a:cs typeface="Helvetica Neue"/>
                <a:sym typeface="Helvetica Neue"/>
              </a:rPr>
              <a:t>Source: GitHub repository contributors graph</a:t>
            </a:r>
            <a:endParaRPr b="0" i="0" sz="1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33"/>
        </a:solidFill>
      </p:bgPr>
    </p:bg>
    <p:spTree>
      <p:nvGrpSpPr>
        <p:cNvPr id="262" name="Shape 262"/>
        <p:cNvGrpSpPr/>
        <p:nvPr/>
      </p:nvGrpSpPr>
      <p:grpSpPr>
        <a:xfrm>
          <a:off x="0" y="0"/>
          <a:ext cx="0" cy="0"/>
          <a:chOff x="0" y="0"/>
          <a:chExt cx="0" cy="0"/>
        </a:xfrm>
      </p:grpSpPr>
      <p:sp>
        <p:nvSpPr>
          <p:cNvPr id="263" name="Google Shape;263;p20"/>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892B"/>
              </a:buClr>
              <a:buSzPts val="1300"/>
              <a:buFont typeface="Helvetica Neue"/>
              <a:buNone/>
            </a:pPr>
            <a:r>
              <a:rPr b="1" i="0" lang="en-US" spc="100" sz="1300" u="none" cap="none" strike="noStrike">
                <a:solidFill>
                  <a:srgbClr val="E8892B"/>
                </a:solidFill>
                <a:latin typeface="Helvetica Neue"/>
                <a:ea typeface="Helvetica Neue"/>
                <a:cs typeface="Helvetica Neue"/>
                <a:sym typeface="Helvetica Neue"/>
              </a:rPr>
              <a:t>DATA 230 · MID-PRESENTATION</a:t>
            </a:r>
            <a:endParaRPr b="0" i="0" sz="1300" u="none" cap="none" strike="noStrike">
              <a:solidFill>
                <a:schemeClr val="dk1"/>
              </a:solidFill>
              <a:latin typeface="Helvetica Neue"/>
              <a:ea typeface="Helvetica Neue"/>
              <a:cs typeface="Helvetica Neue"/>
              <a:sym typeface="Helvetica Neue"/>
            </a:endParaRPr>
          </a:p>
        </p:txBody>
      </p:sp>
      <p:sp>
        <p:nvSpPr>
          <p:cNvPr id="264" name="Google Shape;264;p20"/>
          <p:cNvSpPr txBox="1"/>
          <p:nvPr>
            <p:ph type="title"/>
          </p:nvPr>
        </p:nvSpPr>
        <p:spPr>
          <a:xfrm>
            <a:off x="812800" y="1272530"/>
            <a:ext cx="10883392" cy="95885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5F2EA"/>
              </a:buClr>
              <a:buSzPts val="7000"/>
              <a:buFont typeface="Source Serif 4"/>
              <a:buNone/>
            </a:pPr>
            <a:r>
              <a:rPr b="1" i="0" lang="en-US" sz="7000">
                <a:solidFill>
                  <a:srgbClr val="F5F2EA"/>
                </a:solidFill>
                <a:latin typeface="Source Serif 4"/>
                <a:ea typeface="Source Serif 4"/>
                <a:cs typeface="Source Serif 4"/>
                <a:sym typeface="Source Serif 4"/>
              </a:rPr>
              <a:t>Thank you</a:t>
            </a:r>
            <a:endParaRPr sz="7000"/>
          </a:p>
        </p:txBody>
      </p:sp>
      <p:sp>
        <p:nvSpPr>
          <p:cNvPr id="265" name="Google Shape;265;p20"/>
          <p:cNvSpPr/>
          <p:nvPr/>
        </p:nvSpPr>
        <p:spPr>
          <a:xfrm>
            <a:off x="812800" y="2663180"/>
            <a:ext cx="10883392"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66B"/>
              </a:buClr>
              <a:buSzPts val="1500"/>
              <a:buFont typeface="Helvetica Neue"/>
              <a:buNone/>
            </a:pPr>
            <a:r>
              <a:rPr b="1" i="0" lang="en-US" sz="1500" u="none" cap="none" strike="noStrike">
                <a:solidFill>
                  <a:srgbClr val="F2A66B"/>
                </a:solidFill>
                <a:latin typeface="Helvetica Neue"/>
                <a:ea typeface="Helvetica Neue"/>
                <a:cs typeface="Helvetica Neue"/>
                <a:sym typeface="Helvetica Neue"/>
              </a:rPr>
              <a:t>Sneha · Shaili · Sanjana · Shubhi</a:t>
            </a:r>
            <a:endParaRPr b="0" i="0" sz="15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xmlns:r="http://schemas.openxmlformats.org/officeDocument/2006/relationships" name="FAA Wildlife Strikes: DATA 230 Mid-Presentation">
  <a:themeElements>
    <a:clrScheme name="FAA Wildlife Strikes: DATA 230 Mid-Presentation">
      <a:dk1>
        <a:srgbClr val="0F1B33"/>
      </a:dk1>
      <a:lt1>
        <a:srgbClr val="F5F2EA"/>
      </a:lt1>
      <a:dk2>
        <a:srgbClr val="495161"/>
      </a:dk2>
      <a:lt2>
        <a:srgbClr val="DEDDD8"/>
      </a:lt2>
      <a:accent1>
        <a:srgbClr val="E8892B"/>
      </a:accent1>
      <a:accent2>
        <a:srgbClr val="1F7A8C"/>
      </a:accent2>
      <a:accent3>
        <a:srgbClr val="F2A66B"/>
      </a:accent3>
      <a:accent4>
        <a:srgbClr val="9FB0C8"/>
      </a:accent4>
      <a:accent5>
        <a:srgbClr val="5A6372"/>
      </a:accent5>
      <a:accent6>
        <a:srgbClr val="C3CDE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A Wildlife Strikes: DATA 230 Mid-Presentation">
  <a:themeElements>
    <a:clrScheme name="FAA Wildlife Strikes: DATA 230 Mid-Presentation">
      <a:dk1>
        <a:srgbClr val="0F1B33"/>
      </a:dk1>
      <a:lt1>
        <a:srgbClr val="F5F2EA"/>
      </a:lt1>
      <a:dk2>
        <a:srgbClr val="495161"/>
      </a:dk2>
      <a:lt2>
        <a:srgbClr val="DEDDD8"/>
      </a:lt2>
      <a:accent1>
        <a:srgbClr val="E8892B"/>
      </a:accent1>
      <a:accent2>
        <a:srgbClr val="1F7A8C"/>
      </a:accent2>
      <a:accent3>
        <a:srgbClr val="F2A66B"/>
      </a:accent3>
      <a:accent4>
        <a:srgbClr val="9FB0C8"/>
      </a:accent4>
      <a:accent5>
        <a:srgbClr val="5A6372"/>
      </a:accent5>
      <a:accent6>
        <a:srgbClr val="C3CDE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